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0059914314ef7" /><Relationship Type="http://schemas.openxmlformats.org/officeDocument/2006/relationships/extended-properties" Target="/docProps/app.xml" Id="R196c69f70c4a40eb" /><Relationship Type="http://schemas.openxmlformats.org/officeDocument/2006/relationships/officeDocument" Target="/ppt/presentation.xml" Id="Ree984553ebc44f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a26b44f8dd4db0"/>
  </p:sldMasterIdLst>
  <p:notesMasterIdLst>
    <p:notesMasterId xmlns:r="http://schemas.openxmlformats.org/officeDocument/2006/relationships" r:id="R81870cf05f414b00"/>
  </p:notesMasterIdLst>
  <p:sldIdLst>
    <p:sldId xmlns:r="http://schemas.openxmlformats.org/officeDocument/2006/relationships" id="256" r:id="Ra1d644c312c948fb"/>
    <p:sldId xmlns:r="http://schemas.openxmlformats.org/officeDocument/2006/relationships" id="257" r:id="R3413e30df6524d55"/>
    <p:sldId xmlns:r="http://schemas.openxmlformats.org/officeDocument/2006/relationships" id="258" r:id="R9cc65d5bb90f42a7"/>
    <p:sldId xmlns:r="http://schemas.openxmlformats.org/officeDocument/2006/relationships" id="259" r:id="R1a257fa4966f462e"/>
    <p:sldId xmlns:r="http://schemas.openxmlformats.org/officeDocument/2006/relationships" id="260" r:id="R9c3bc7efa0aa4e1c"/>
  </p:sldIdLst>
  <p:sldSz cx="171450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8396da51db4b06" /><Relationship Type="http://schemas.openxmlformats.org/officeDocument/2006/relationships/slideMaster" Target="/ppt/slideMasters/slideMaster1.xml" Id="R6ea26b44f8dd4db0" /><Relationship Type="http://schemas.openxmlformats.org/officeDocument/2006/relationships/notesMaster" Target="/ppt/notesMasters/notesMaster1.xml" Id="R81870cf05f414b00" /><Relationship Type="http://schemas.openxmlformats.org/officeDocument/2006/relationships/presProps" Target="/ppt/presProps.xml" Id="R911eb03e884e4f02" /><Relationship Type="http://schemas.openxmlformats.org/officeDocument/2006/relationships/tableStyles" Target="/ppt/tableStyles.xml" Id="Rc48c068423fb4020" /><Relationship Type="http://schemas.openxmlformats.org/officeDocument/2006/relationships/slide" Target="/ppt/slides/slide1.xml" Id="Ra1d644c312c948fb" /><Relationship Type="http://schemas.openxmlformats.org/officeDocument/2006/relationships/slide" Target="/ppt/slides/slide2.xml" Id="R3413e30df6524d55" /><Relationship Type="http://schemas.openxmlformats.org/officeDocument/2006/relationships/slide" Target="/ppt/slides/slide3.xml" Id="R9cc65d5bb90f42a7" /><Relationship Type="http://schemas.openxmlformats.org/officeDocument/2006/relationships/slide" Target="/ppt/slides/slide4.xml" Id="R1a257fa4966f462e" /><Relationship Type="http://schemas.openxmlformats.org/officeDocument/2006/relationships/slide" Target="/ppt/slides/slide5.xml" Id="R9c3bc7efa0aa4e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6996d9236b48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ddc0cc19d8485f" /><Relationship Type="http://schemas.openxmlformats.org/officeDocument/2006/relationships/notesMaster" Target="/ppt/notesMasters/notesMaster1.xml" Id="R49448b73f46e4e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af14edec054de9" /><Relationship Type="http://schemas.openxmlformats.org/officeDocument/2006/relationships/notesMaster" Target="/ppt/notesMasters/notesMaster1.xml" Id="R2ec80af2fa8c45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62fcdd8fc3482b" /><Relationship Type="http://schemas.openxmlformats.org/officeDocument/2006/relationships/notesMaster" Target="/ppt/notesMasters/notesMaster1.xml" Id="R9a490f5a3d074e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f73afe25c949e5" /><Relationship Type="http://schemas.openxmlformats.org/officeDocument/2006/relationships/notesMaster" Target="/ppt/notesMasters/notesMaster1.xml" Id="Rc97e09da44eb44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3d4c80d44d4a83" /><Relationship Type="http://schemas.openxmlformats.org/officeDocument/2006/relationships/notesMaster" Target="/ppt/notesMasters/notesMaster1.xml" Id="R7a627ce39ce8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  <a:p xmlns:a="http://schemas.openxmlformats.org/drawingml/2006/main">
            <a:r>
              <a:t>AiiDA | https://arxiv.org/abs/2003.12476 | 科学计算自动化及数据来源追踪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Great Expectations Checkpoints | https://docs.greatexpectations.io/docs/core/trigger_actions_based_on_results/create_a_checkpoint_with_actions/ | 数据验证和结果驱动动作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6eec872124b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4d01b0aba84b9a" /><Relationship Type="http://schemas.openxmlformats.org/officeDocument/2006/relationships/slideLayout" Target="/ppt/slideLayouts/slideLayout1.xml" Id="R4b9e290b0f7b4b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9e290b0f7b4b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8ca9785ee450f" /><Relationship Type="http://schemas.openxmlformats.org/officeDocument/2006/relationships/notesSlide" Target="/ppt/notesSlides/notesSlide1.xml" Id="R81ec7fc939154d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4b5a7ac3d4e07" /><Relationship Type="http://schemas.openxmlformats.org/officeDocument/2006/relationships/notesSlide" Target="/ppt/notesSlides/notesSlide2.xml" Id="R3670886455654b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fd4c24d7f4c5c" /><Relationship Type="http://schemas.openxmlformats.org/officeDocument/2006/relationships/notesSlide" Target="/ppt/notesSlides/notesSlide3.xml" Id="Rcbd45cb88e2147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2ee4b9c1e4aa1" /><Relationship Type="http://schemas.openxmlformats.org/officeDocument/2006/relationships/notesSlide" Target="/ppt/notesSlides/notesSlide4.xml" Id="Ra606b139183c4d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d609b96c1405d" /><Relationship Type="http://schemas.openxmlformats.org/officeDocument/2006/relationships/notesSlide" Target="/ppt/notesSlides/notesSlide5.xml" Id="R69c23a04f8924b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87FD57-A13C-4F82-B994-107434E2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RSI 数据平台系统架构图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666D0-E7D0-4BB3-976A-FA760CA3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业务数据与 Agent 数据分域管理；数据血缘、质量与权限贯穿接入、加工、查询和反馈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96525-571B-407D-B925-51CBAA55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61E16-4509-45CB-930A-56E92C7D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7C1DB-2BD0-444A-98C3-9C1C5ACB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19250"/>
            <a:ext cx="1123950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用户&#10;应用层">
            <a:extLst xmlns:a="http://schemas.openxmlformats.org/drawingml/2006/main">
              <a:ext uri="{FF2B5EF4-FFF2-40B4-BE49-F238E27FC236}">
                <a16:creationId xmlns:a16="http://schemas.microsoft.com/office/drawing/2014/main" id="{B7746B08-5467-4C08-8904-E2DE98C6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21920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7" name="实验员｜实验填报 / Excel 导入">
            <a:extLst xmlns:a="http://schemas.openxmlformats.org/drawingml/2006/main">
              <a:ext uri="{FF2B5EF4-FFF2-40B4-BE49-F238E27FC236}">
                <a16:creationId xmlns:a16="http://schemas.microsoft.com/office/drawing/2014/main" id="{693EF012-1E53-4C12-A8CB-CB452CAE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90700"/>
            <a:ext cx="3517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实验员｜实验填报 / Excel 导入</a:t>
            </a:r>
          </a:p>
        </p:txBody>
      </p:sp>
      <p:sp>
        <p:nvSpPr>
          <p:cNvPr id="8" name="化学专家｜自然语言查询 / 证据核验">
            <a:extLst xmlns:a="http://schemas.openxmlformats.org/drawingml/2006/main">
              <a:ext uri="{FF2B5EF4-FFF2-40B4-BE49-F238E27FC236}">
                <a16:creationId xmlns:a16="http://schemas.microsoft.com/office/drawing/2014/main" id="{E9B942EF-09A5-44F0-987B-FEA90A5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1790700"/>
            <a:ext cx="3517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化学专家｜自然语言查询 / 证据核验</a:t>
            </a:r>
          </a:p>
        </p:txBody>
      </p:sp>
      <p:sp>
        <p:nvSpPr>
          <p:cNvPr id="9" name="专家 / 管理员｜经验审核 / Benchmark">
            <a:extLst xmlns:a="http://schemas.openxmlformats.org/drawingml/2006/main">
              <a:ext uri="{FF2B5EF4-FFF2-40B4-BE49-F238E27FC236}">
                <a16:creationId xmlns:a16="http://schemas.microsoft.com/office/drawing/2014/main" id="{8689708D-FD7C-4332-BAA5-C56A8869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1790700"/>
            <a:ext cx="3517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 / 管理员｜经验审核 / Benchmark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586C5-9E37-4077-8815-FE7DA7C0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05125"/>
            <a:ext cx="1123950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统一&#10;服务层">
            <a:extLst xmlns:a="http://schemas.openxmlformats.org/drawingml/2006/main">
              <a:ext uri="{FF2B5EF4-FFF2-40B4-BE49-F238E27FC236}">
                <a16:creationId xmlns:a16="http://schemas.microsoft.com/office/drawing/2014/main" id="{8311F62E-ACF8-4AD6-9667-08530582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121920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2" name="AD / SSO 身份接入&#10;项目 / 数据域授权">
            <a:extLst xmlns:a="http://schemas.openxmlformats.org/drawingml/2006/main">
              <a:ext uri="{FF2B5EF4-FFF2-40B4-BE49-F238E27FC236}">
                <a16:creationId xmlns:a16="http://schemas.microsoft.com/office/drawing/2014/main" id="{4808FB33-5715-46D8-B81E-97749874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76575"/>
            <a:ext cx="35179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AD / SSO 身份接入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项目 / 数据域授权</a:t>
            </a:r>
          </a:p>
        </p:txBody>
      </p:sp>
      <p:sp>
        <p:nvSpPr>
          <p:cNvPr id="13" name="统一 API 与 Agent 工具&#10;查询只读 / 填报受限写入">
            <a:extLst xmlns:a="http://schemas.openxmlformats.org/drawingml/2006/main">
              <a:ext uri="{FF2B5EF4-FFF2-40B4-BE49-F238E27FC236}">
                <a16:creationId xmlns:a16="http://schemas.microsoft.com/office/drawing/2014/main" id="{BD095165-3BF8-433A-86B0-5828BD3F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076575"/>
            <a:ext cx="35179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 API 与 Agent 工具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查询只读 / 填报受限写入</a:t>
            </a:r>
          </a:p>
        </p:txBody>
      </p:sp>
      <p:sp>
        <p:nvSpPr>
          <p:cNvPr id="14" name="查询编排&#10;SQL 路由 / 文档检索 / 摘要">
            <a:extLst xmlns:a="http://schemas.openxmlformats.org/drawingml/2006/main">
              <a:ext uri="{FF2B5EF4-FFF2-40B4-BE49-F238E27FC236}">
                <a16:creationId xmlns:a16="http://schemas.microsoft.com/office/drawing/2014/main" id="{10BAABF1-1A9B-4D8E-B065-C0AB5231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3076575"/>
            <a:ext cx="35179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查询编排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路由 / 文档检索 / 摘要</a:t>
            </a:r>
          </a:p>
        </p:txBody>
      </p:sp>
      <p:sp>
        <p:nvSpPr>
          <p:cNvPr id="15" name="业务侧数据平面">
            <a:extLst xmlns:a="http://schemas.openxmlformats.org/drawingml/2006/main">
              <a:ext uri="{FF2B5EF4-FFF2-40B4-BE49-F238E27FC236}">
                <a16:creationId xmlns:a16="http://schemas.microsoft.com/office/drawing/2014/main" id="{EA31E094-1185-484A-869F-8EC5BA9B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5476875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业务侧数据平面</a:t>
            </a:r>
          </a:p>
        </p:txBody>
      </p:sp>
      <p:sp>
        <p:nvSpPr>
          <p:cNvPr id="16" name="Agent 侧数据平面">
            <a:extLst xmlns:a="http://schemas.openxmlformats.org/drawingml/2006/main">
              <a:ext uri="{FF2B5EF4-FFF2-40B4-BE49-F238E27FC236}">
                <a16:creationId xmlns:a16="http://schemas.microsoft.com/office/drawing/2014/main" id="{2D497879-10A7-42A7-B4F9-EF1B82FC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86250"/>
            <a:ext cx="5476875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侧数据平面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ED1A6-8215-4FE0-BF56-737FF74A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0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源数据</a:t>
            </a:r>
          </a:p>
        </p:txBody>
      </p:sp>
      <p:sp>
        <p:nvSpPr>
          <p:cNvPr id="18" name="实验明细 / 挂测总表&#10;Excel / PDF / PPT / 专家访谈">
            <a:extLst xmlns:a="http://schemas.openxmlformats.org/drawingml/2006/main">
              <a:ext uri="{FF2B5EF4-FFF2-40B4-BE49-F238E27FC236}">
                <a16:creationId xmlns:a16="http://schemas.microsoft.com/office/drawing/2014/main" id="{26311817-D8EA-42CA-93AB-3413424D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实验明细 / 挂测总表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Excel / PDF / PPT / 专家访谈</a:t>
            </a:r>
          </a:p>
        </p:txBody>
      </p:sp>
      <p:sp>
        <p:nvSpPr>
          <p:cNvPr id="19" name="请求 / 响应 / 工具调用 / 检索证据&#10;反馈 / 评测集 / Prompt ">
            <a:extLst xmlns:a="http://schemas.openxmlformats.org/drawingml/2006/main">
              <a:ext uri="{FF2B5EF4-FFF2-40B4-BE49-F238E27FC236}">
                <a16:creationId xmlns:a16="http://schemas.microsoft.com/office/drawing/2014/main" id="{1F085B29-4DF2-407F-8B79-7ED1D4BE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请求 / 响应 / 工具调用 / 检索证据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反馈 / 评测集 / Prompt 与工具版本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CF4A2-CDFF-4F55-854F-CCCEA66B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加工能力</a:t>
            </a:r>
          </a:p>
        </p:txBody>
      </p:sp>
      <p:sp>
        <p:nvSpPr>
          <p:cNvPr id="21" name="模板映射 / 文档解析 / OCR&#10;单位与标识规范 / 目录与批准语义">
            <a:extLst xmlns:a="http://schemas.openxmlformats.org/drawingml/2006/main">
              <a:ext uri="{FF2B5EF4-FFF2-40B4-BE49-F238E27FC236}">
                <a16:creationId xmlns:a16="http://schemas.microsoft.com/office/drawing/2014/main" id="{48997A19-9944-49F7-8A67-D08C6DEF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模板映射 / 文档解析 / OCR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单位与标识规范 / 目录与批准语义</a:t>
            </a:r>
          </a:p>
        </p:txBody>
      </p:sp>
      <p:sp>
        <p:nvSpPr>
          <p:cNvPr id="22" name="Trace 关联 / 失败分类 / 经验候选&#10;专家审核 / 冻结评测 / 候选对">
            <a:extLst xmlns:a="http://schemas.openxmlformats.org/drawingml/2006/main">
              <a:ext uri="{FF2B5EF4-FFF2-40B4-BE49-F238E27FC236}">
                <a16:creationId xmlns:a16="http://schemas.microsoft.com/office/drawing/2014/main" id="{75242E19-7712-4C7C-ADFA-EAD1F0D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5312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关联 / 失败分类 / 经验候选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专家审核 / 冻结评测 / 候选对比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30839-D429-4601-B6E1-9C8AA636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0"/>
            <a:ext cx="100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发布资产</a:t>
            </a:r>
          </a:p>
        </p:txBody>
      </p:sp>
      <p:sp>
        <p:nvSpPr>
          <p:cNvPr id="24" name="获准实验视图 / 文档片段与索引&#10;已确认经验 / 可核验查询结果">
            <a:extLst xmlns:a="http://schemas.openxmlformats.org/drawingml/2006/main">
              <a:ext uri="{FF2B5EF4-FFF2-40B4-BE49-F238E27FC236}">
                <a16:creationId xmlns:a16="http://schemas.microsoft.com/office/drawing/2014/main" id="{5F82C1D3-8133-416C-8FDB-31D1B160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00087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获准实验视图 / 文档片段与索引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已确认经验 / 可核验查询结果</a:t>
            </a:r>
          </a:p>
        </p:txBody>
      </p:sp>
      <p:sp>
        <p:nvSpPr>
          <p:cNvPr id="25" name="运行与配置快照 / 评测报告&#10;批准记忆；技能 / 权重制品〔后续〕">
            <a:extLst xmlns:a="http://schemas.openxmlformats.org/drawingml/2006/main">
              <a:ext uri="{FF2B5EF4-FFF2-40B4-BE49-F238E27FC236}">
                <a16:creationId xmlns:a16="http://schemas.microsoft.com/office/drawing/2014/main" id="{5F66CAE0-FA16-4FF5-A3E2-6E5FBAD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00087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运行与配置快照 / 评测报告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批准记忆；技能 / 权重制品〔后续〕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AF2E2-1E40-4451-B9CA-B529A571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191500"/>
            <a:ext cx="1123950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存储&#10;资产层">
            <a:extLst xmlns:a="http://schemas.openxmlformats.org/drawingml/2006/main">
              <a:ext uri="{FF2B5EF4-FFF2-40B4-BE49-F238E27FC236}">
                <a16:creationId xmlns:a16="http://schemas.microsoft.com/office/drawing/2014/main" id="{54AE5270-D022-49A6-ABD5-19EDDA11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0"/>
            <a:ext cx="121920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资产层</a:t>
            </a:r>
          </a:p>
        </p:txBody>
      </p:sp>
      <p:sp>
        <p:nvSpPr>
          <p:cNvPr id="28" name="OceanBase&#10;业务 / 目录 / 权限 / 版本">
            <a:extLst xmlns:a="http://schemas.openxmlformats.org/drawingml/2006/main">
              <a:ext uri="{FF2B5EF4-FFF2-40B4-BE49-F238E27FC236}">
                <a16:creationId xmlns:a16="http://schemas.microsoft.com/office/drawing/2014/main" id="{7B61BA80-7203-422F-92CF-DA0BDE4B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8362950"/>
            <a:ext cx="35179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 / 目录 / 权限 / 版本</a:t>
            </a:r>
          </a:p>
        </p:txBody>
      </p:sp>
      <p:sp>
        <p:nvSpPr>
          <p:cNvPr id="29" name="内网原件存储&#10;文件 / 快照 / 评测附件">
            <a:extLst xmlns:a="http://schemas.openxmlformats.org/drawingml/2006/main">
              <a:ext uri="{FF2B5EF4-FFF2-40B4-BE49-F238E27FC236}">
                <a16:creationId xmlns:a16="http://schemas.microsoft.com/office/drawing/2014/main" id="{1EA1754E-AFF9-4CE1-B805-83F6C178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8362950"/>
            <a:ext cx="35179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内网原件存储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文件 / 快照 / 评测附件</a:t>
            </a:r>
          </a:p>
        </p:txBody>
      </p:sp>
      <p:sp>
        <p:nvSpPr>
          <p:cNvPr id="30" name="全文 + 向量索引&#10;授权片段 / Schema 检索">
            <a:extLst xmlns:a="http://schemas.openxmlformats.org/drawingml/2006/main">
              <a:ext uri="{FF2B5EF4-FFF2-40B4-BE49-F238E27FC236}">
                <a16:creationId xmlns:a16="http://schemas.microsoft.com/office/drawing/2014/main" id="{77DA3685-D004-4E92-AC28-22F4E095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8362950"/>
            <a:ext cx="35179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 + 向量索引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授权片段 / Schema 检索</a:t>
            </a:r>
          </a:p>
        </p:txBody>
      </p:sp>
      <p:sp>
        <p:nvSpPr>
          <p:cNvPr id="31" name="内网基础设施：现有 LLM / embedding · 任务队列与计算 · 服务">
            <a:extLst xmlns:a="http://schemas.openxmlformats.org/drawingml/2006/main">
              <a:ext uri="{FF2B5EF4-FFF2-40B4-BE49-F238E27FC236}">
                <a16:creationId xmlns:a16="http://schemas.microsoft.com/office/drawing/2014/main" id="{BEFCC3AD-405E-45AA-8316-C5A1F7D0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334500"/>
            <a:ext cx="1123950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内网基础设施：现有 LLM / embedding · 任务队列与计算 · 服务监控 · 备份与恢复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0DF3D-F787-4917-8688-324EBF0C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619250"/>
            <a:ext cx="1000125" cy="8239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数据血缘">
            <a:extLst xmlns:a="http://schemas.openxmlformats.org/drawingml/2006/main">
              <a:ext uri="{FF2B5EF4-FFF2-40B4-BE49-F238E27FC236}">
                <a16:creationId xmlns:a16="http://schemas.microsoft.com/office/drawing/2014/main" id="{C1FBFBBD-7667-4EA1-919D-48CDC7CE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619250"/>
            <a:ext cx="10001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数据血缘</a:t>
            </a:r>
          </a:p>
        </p:txBody>
      </p:sp>
      <p:sp>
        <p:nvSpPr>
          <p:cNvPr id="34" name="资产 / 字段标识">
            <a:extLst xmlns:a="http://schemas.openxmlformats.org/drawingml/2006/main">
              <a:ext uri="{FF2B5EF4-FFF2-40B4-BE49-F238E27FC236}">
                <a16:creationId xmlns:a16="http://schemas.microsoft.com/office/drawing/2014/main" id="{9084E984-B55F-4423-8226-CF7B9A8E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7622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 / 字段标识</a:t>
            </a:r>
          </a:p>
        </p:txBody>
      </p:sp>
      <p:sp>
        <p:nvSpPr>
          <p:cNvPr id="35" name="输入 / 运行 / 输出">
            <a:extLst xmlns:a="http://schemas.openxmlformats.org/drawingml/2006/main">
              <a:ext uri="{FF2B5EF4-FFF2-40B4-BE49-F238E27FC236}">
                <a16:creationId xmlns:a16="http://schemas.microsoft.com/office/drawing/2014/main" id="{F7B9109A-7605-4DD3-8678-1BAB54D5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12432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 / 运行 / 输出</a:t>
            </a:r>
          </a:p>
        </p:txBody>
      </p:sp>
      <p:sp>
        <p:nvSpPr>
          <p:cNvPr id="36" name="解析 / 模型版本">
            <a:extLst xmlns:a="http://schemas.openxmlformats.org/drawingml/2006/main">
              <a:ext uri="{FF2B5EF4-FFF2-40B4-BE49-F238E27FC236}">
                <a16:creationId xmlns:a16="http://schemas.microsoft.com/office/drawing/2014/main" id="{ABE16336-DEE5-4189-9EE2-428E1AF0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48640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解析 / 模型版本</a:t>
            </a:r>
          </a:p>
        </p:txBody>
      </p:sp>
      <p:sp>
        <p:nvSpPr>
          <p:cNvPr id="37" name="引用与影响分析">
            <a:extLst xmlns:a="http://schemas.openxmlformats.org/drawingml/2006/main">
              <a:ext uri="{FF2B5EF4-FFF2-40B4-BE49-F238E27FC236}">
                <a16:creationId xmlns:a16="http://schemas.microsoft.com/office/drawing/2014/main" id="{52D353A4-16C3-42C7-8724-7DD8F04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84847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引用与影响分析</a:t>
            </a:r>
          </a:p>
        </p:txBody>
      </p:sp>
      <p:sp>
        <p:nvSpPr>
          <p:cNvPr id="38" name="修订 / 撤回传播">
            <a:extLst xmlns:a="http://schemas.openxmlformats.org/drawingml/2006/main">
              <a:ext uri="{FF2B5EF4-FFF2-40B4-BE49-F238E27FC236}">
                <a16:creationId xmlns:a16="http://schemas.microsoft.com/office/drawing/2014/main" id="{AB95297B-AE3A-4557-8DD4-91052D64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2105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修订 / 撤回传播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2C4267-0809-4B73-8E14-CDD581B5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1619250"/>
            <a:ext cx="1000125" cy="8239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数据质量">
            <a:extLst xmlns:a="http://schemas.openxmlformats.org/drawingml/2006/main">
              <a:ext uri="{FF2B5EF4-FFF2-40B4-BE49-F238E27FC236}">
                <a16:creationId xmlns:a16="http://schemas.microsoft.com/office/drawing/2014/main" id="{521BA76B-0903-4CC4-8FDA-7E1231CF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1619250"/>
            <a:ext cx="10001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数据质量</a:t>
            </a:r>
          </a:p>
        </p:txBody>
      </p:sp>
      <p:sp>
        <p:nvSpPr>
          <p:cNvPr id="41" name="字段 / 单位规则">
            <a:extLst xmlns:a="http://schemas.openxmlformats.org/drawingml/2006/main">
              <a:ext uri="{FF2B5EF4-FFF2-40B4-BE49-F238E27FC236}">
                <a16:creationId xmlns:a16="http://schemas.microsoft.com/office/drawing/2014/main" id="{668C6EE0-2756-4184-A158-19F5DD46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27622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 / 单位规则</a:t>
            </a:r>
          </a:p>
        </p:txBody>
      </p:sp>
      <p:sp>
        <p:nvSpPr>
          <p:cNvPr id="42" name="解析与关联验证">
            <a:extLst xmlns:a="http://schemas.openxmlformats.org/drawingml/2006/main">
              <a:ext uri="{FF2B5EF4-FFF2-40B4-BE49-F238E27FC236}">
                <a16:creationId xmlns:a16="http://schemas.microsoft.com/office/drawing/2014/main" id="{D067185F-DE44-48ED-AE59-77D1A5A6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412432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解析与关联验证</a:t>
            </a:r>
          </a:p>
        </p:txBody>
      </p:sp>
      <p:sp>
        <p:nvSpPr>
          <p:cNvPr id="43" name="科学异常复核">
            <a:extLst xmlns:a="http://schemas.openxmlformats.org/drawingml/2006/main">
              <a:ext uri="{FF2B5EF4-FFF2-40B4-BE49-F238E27FC236}">
                <a16:creationId xmlns:a16="http://schemas.microsoft.com/office/drawing/2014/main" id="{D98043AF-9F77-4981-B345-405A8F61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548640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科学异常复核</a:t>
            </a:r>
          </a:p>
        </p:txBody>
      </p:sp>
      <p:sp>
        <p:nvSpPr>
          <p:cNvPr id="44" name="结果 / 证据评测">
            <a:extLst xmlns:a="http://schemas.openxmlformats.org/drawingml/2006/main">
              <a:ext uri="{FF2B5EF4-FFF2-40B4-BE49-F238E27FC236}">
                <a16:creationId xmlns:a16="http://schemas.microsoft.com/office/drawing/2014/main" id="{8477EA4A-57BF-4021-8831-EB98EF4B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684847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结果 / 证据评测</a:t>
            </a:r>
          </a:p>
        </p:txBody>
      </p:sp>
      <p:sp>
        <p:nvSpPr>
          <p:cNvPr id="45" name="隔离 / 修复 / 重验">
            <a:extLst xmlns:a="http://schemas.openxmlformats.org/drawingml/2006/main">
              <a:ext uri="{FF2B5EF4-FFF2-40B4-BE49-F238E27FC236}">
                <a16:creationId xmlns:a16="http://schemas.microsoft.com/office/drawing/2014/main" id="{EC72FD2F-1C2B-45EF-B293-0B57D71B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82105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隔离 / 修复 / 重验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6BB0B6-AC70-4AA1-A59D-EEABBE06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619250"/>
            <a:ext cx="1000125" cy="8239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安全与运维">
            <a:extLst xmlns:a="http://schemas.openxmlformats.org/drawingml/2006/main">
              <a:ext uri="{FF2B5EF4-FFF2-40B4-BE49-F238E27FC236}">
                <a16:creationId xmlns:a16="http://schemas.microsoft.com/office/drawing/2014/main" id="{923B10E5-B65B-4287-AA5E-B635A19C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619250"/>
            <a:ext cx="10001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安全与运维</a:t>
            </a:r>
          </a:p>
        </p:txBody>
      </p:sp>
      <p:sp>
        <p:nvSpPr>
          <p:cNvPr id="48" name="AD / 服务身份">
            <a:extLst xmlns:a="http://schemas.openxmlformats.org/drawingml/2006/main">
              <a:ext uri="{FF2B5EF4-FFF2-40B4-BE49-F238E27FC236}">
                <a16:creationId xmlns:a16="http://schemas.microsoft.com/office/drawing/2014/main" id="{9231871C-4E3F-4E3B-92A0-FBAB93EE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27622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AD / 服务身份</a:t>
            </a:r>
          </a:p>
        </p:txBody>
      </p:sp>
      <p:sp>
        <p:nvSpPr>
          <p:cNvPr id="49" name="读写 / 项目权限">
            <a:extLst xmlns:a="http://schemas.openxmlformats.org/drawingml/2006/main">
              <a:ext uri="{FF2B5EF4-FFF2-40B4-BE49-F238E27FC236}">
                <a16:creationId xmlns:a16="http://schemas.microsoft.com/office/drawing/2014/main" id="{D9742B02-C5F6-4B27-AA1E-F04929B8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412432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读写 / 项目权限</a:t>
            </a:r>
          </a:p>
        </p:txBody>
      </p:sp>
      <p:sp>
        <p:nvSpPr>
          <p:cNvPr id="50" name="原件 / 索引一致授权">
            <a:extLst xmlns:a="http://schemas.openxmlformats.org/drawingml/2006/main">
              <a:ext uri="{FF2B5EF4-FFF2-40B4-BE49-F238E27FC236}">
                <a16:creationId xmlns:a16="http://schemas.microsoft.com/office/drawing/2014/main" id="{DBCD16C0-CFBD-4B17-913D-D246605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548640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 / 索引一致授权</a:t>
            </a:r>
          </a:p>
        </p:txBody>
      </p:sp>
      <p:sp>
        <p:nvSpPr>
          <p:cNvPr id="51" name="审计 / 配额 / 告警">
            <a:extLst xmlns:a="http://schemas.openxmlformats.org/drawingml/2006/main">
              <a:ext uri="{FF2B5EF4-FFF2-40B4-BE49-F238E27FC236}">
                <a16:creationId xmlns:a16="http://schemas.microsoft.com/office/drawing/2014/main" id="{7699A2E4-7291-4DDB-8199-9084250A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684847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审计 / 配额 / 告警</a:t>
            </a:r>
          </a:p>
        </p:txBody>
      </p:sp>
      <p:sp>
        <p:nvSpPr>
          <p:cNvPr id="52" name="发布 / 回滚 / 恢复">
            <a:extLst xmlns:a="http://schemas.openxmlformats.org/drawingml/2006/main">
              <a:ext uri="{FF2B5EF4-FFF2-40B4-BE49-F238E27FC236}">
                <a16:creationId xmlns:a16="http://schemas.microsoft.com/office/drawing/2014/main" id="{D94F32B0-6FFB-4F29-87B4-EC4197EB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82105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 / 回滚 / 恢复</a:t>
            </a:r>
          </a:p>
        </p:txBody>
      </p:sp>
    </p:spTree>
    <p:extLst>
      <p:ext uri="{BB962C8B-B14F-4D97-AF65-F5344CB8AC3E}">
        <p14:creationId xmlns:p14="http://schemas.microsoft.com/office/powerpoint/2010/main" val="722482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C13BAE-1FFA-46C4-A687-EDD87EB5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业务侧与 Agent 侧的数据流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AD9C5-8526-44B9-9E47-7BFCD33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写入、查询与反馈使用不同权限；相同资产 ID、版本和运行 ID 将两侧联接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A494E-4DCA-4E6D-AA51-5442A478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D2560-A1BB-4D64-ACA3-A939139D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业务数据入库链路">
            <a:extLst xmlns:a="http://schemas.openxmlformats.org/drawingml/2006/main">
              <a:ext uri="{FF2B5EF4-FFF2-40B4-BE49-F238E27FC236}">
                <a16:creationId xmlns:a16="http://schemas.microsoft.com/office/drawing/2014/main" id="{8914FA40-F2C2-4902-9537-17F69C6B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6097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业务数据入库链路</a:t>
            </a:r>
          </a:p>
        </p:txBody>
      </p:sp>
      <p:sp>
        <p:nvSpPr>
          <p:cNvPr id="6" name="数据入口&#10;填报 / Excel / 共享盘">
            <a:extLst xmlns:a="http://schemas.openxmlformats.org/drawingml/2006/main">
              <a:ext uri="{FF2B5EF4-FFF2-40B4-BE49-F238E27FC236}">
                <a16:creationId xmlns:a16="http://schemas.microsoft.com/office/drawing/2014/main" id="{FD4BA6CA-57A8-43CE-BE4A-5AE0EC9B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数据入口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填报 / Excel / 共享盘</a:t>
            </a:r>
          </a:p>
        </p:txBody>
      </p:sp>
      <p:sp>
        <p:nvSpPr>
          <p:cNvPr id="7" name="接入登记&#10;批次 / 身份 / 原件版本">
            <a:extLst xmlns:a="http://schemas.openxmlformats.org/drawingml/2006/main">
              <a:ext uri="{FF2B5EF4-FFF2-40B4-BE49-F238E27FC236}">
                <a16:creationId xmlns:a16="http://schemas.microsoft.com/office/drawing/2014/main" id="{59A46E9A-B771-4DC2-BAAF-2442067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接入登记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批次 / 身份 / 原件版本</a:t>
            </a:r>
          </a:p>
        </p:txBody>
      </p:sp>
      <p:sp>
        <p:nvSpPr>
          <p:cNvPr id="8" name="加工校验&#10;字段 / 解析 / 单位 / 关联">
            <a:extLst xmlns:a="http://schemas.openxmlformats.org/drawingml/2006/main">
              <a:ext uri="{FF2B5EF4-FFF2-40B4-BE49-F238E27FC236}">
                <a16:creationId xmlns:a16="http://schemas.microsoft.com/office/drawing/2014/main" id="{E6CA4046-CA4C-4088-AB76-89D1D31C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加工校验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 / 解析 / 单位 / 关联</a:t>
            </a:r>
          </a:p>
        </p:txBody>
      </p:sp>
      <p:sp>
        <p:nvSpPr>
          <p:cNvPr id="9" name="发布资产&#10;实验视图 / 片段 / 索引">
            <a:extLst xmlns:a="http://schemas.openxmlformats.org/drawingml/2006/main">
              <a:ext uri="{FF2B5EF4-FFF2-40B4-BE49-F238E27FC236}">
                <a16:creationId xmlns:a16="http://schemas.microsoft.com/office/drawing/2014/main" id="{70028F45-4745-49CB-9579-9306650F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发布资产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实验视图 / 片段 / 索引</a:t>
            </a:r>
          </a:p>
        </p:txBody>
      </p:sp>
      <p:sp>
        <p:nvSpPr>
          <p:cNvPr id="10" name="统一查询&#10;表格 / 摘要 / 来源证据">
            <a:extLst xmlns:a="http://schemas.openxmlformats.org/drawingml/2006/main">
              <a:ext uri="{FF2B5EF4-FFF2-40B4-BE49-F238E27FC236}">
                <a16:creationId xmlns:a16="http://schemas.microsoft.com/office/drawing/2014/main" id="{D40C88B5-610E-4876-BD5F-62EC096A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统一查询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表格 / 摘要 / 来源证据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762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04887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333500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808B-3E6E-475E-88D8-FC29C64D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76675"/>
            <a:ext cx="1609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输入：项目、批次、电芯、实验标识及原件  ｜  挂测总表保留人工口径，关联明细而不默认自动重算</a:t>
            </a:r>
          </a:p>
        </p:txBody>
      </p:sp>
      <p:sp>
        <p:nvSpPr>
          <p:cNvPr id="16" name="Agent 运行与反馈链路">
            <a:extLst xmlns:a="http://schemas.openxmlformats.org/drawingml/2006/main">
              <a:ext uri="{FF2B5EF4-FFF2-40B4-BE49-F238E27FC236}">
                <a16:creationId xmlns:a16="http://schemas.microsoft.com/office/drawing/2014/main" id="{5130CCE8-9A80-4103-8F3F-09BA6E5E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16097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运行与反馈链路</a:t>
            </a:r>
          </a:p>
        </p:txBody>
      </p:sp>
      <p:sp>
        <p:nvSpPr>
          <p:cNvPr id="17" name="任务与上下文&#10;用户 / 项目 / query_id">
            <a:extLst xmlns:a="http://schemas.openxmlformats.org/drawingml/2006/main">
              <a:ext uri="{FF2B5EF4-FFF2-40B4-BE49-F238E27FC236}">
                <a16:creationId xmlns:a16="http://schemas.microsoft.com/office/drawing/2014/main" id="{AC418E6A-7CCD-4F2F-A0A8-7BAF9CB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任务与上下文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用户 / 项目 / query_id</a:t>
            </a:r>
          </a:p>
        </p:txBody>
      </p:sp>
      <p:sp>
        <p:nvSpPr>
          <p:cNvPr id="18" name="受控执行&#10;选表 / SQL / 检索 / LLM">
            <a:extLst xmlns:a="http://schemas.openxmlformats.org/drawingml/2006/main">
              <a:ext uri="{FF2B5EF4-FFF2-40B4-BE49-F238E27FC236}">
                <a16:creationId xmlns:a16="http://schemas.microsoft.com/office/drawing/2014/main" id="{29EDE9D8-C5D9-44B9-AE8D-A4616AAE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受控执行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选表 / SQL / 检索 / LLM</a:t>
            </a:r>
          </a:p>
        </p:txBody>
      </p:sp>
      <p:sp>
        <p:nvSpPr>
          <p:cNvPr id="19" name="运行记录&#10;Trace / 工具输入输出&#10;证据引用 / 版本清单">
            <a:extLst xmlns:a="http://schemas.openxmlformats.org/drawingml/2006/main">
              <a:ext uri="{FF2B5EF4-FFF2-40B4-BE49-F238E27FC236}">
                <a16:creationId xmlns:a16="http://schemas.microsoft.com/office/drawing/2014/main" id="{F2D9A22C-2D81-49FF-B96E-576C73B8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运行记录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/ 工具输入输出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证据引用 / 版本清单</a:t>
            </a:r>
          </a:p>
        </p:txBody>
      </p:sp>
      <p:sp>
        <p:nvSpPr>
          <p:cNvPr id="20" name="专家反馈&#10;错误类型 / 纠正依据&#10;经验候选 / 复核状态">
            <a:extLst xmlns:a="http://schemas.openxmlformats.org/drawingml/2006/main">
              <a:ext uri="{FF2B5EF4-FFF2-40B4-BE49-F238E27FC236}">
                <a16:creationId xmlns:a16="http://schemas.microsoft.com/office/drawing/2014/main" id="{7070D690-906F-476C-961D-48A588D6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专家反馈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错误类型 / 纠正依据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经验候选 / 复核状态</a:t>
            </a:r>
          </a:p>
        </p:txBody>
      </p:sp>
      <p:sp>
        <p:nvSpPr>
          <p:cNvPr id="21" name="评测与发布&#10;冻结测试 / 基线对比&#10;批准版本 / 回滚依据">
            <a:extLst xmlns:a="http://schemas.openxmlformats.org/drawingml/2006/main">
              <a:ext uri="{FF2B5EF4-FFF2-40B4-BE49-F238E27FC236}">
                <a16:creationId xmlns:a16="http://schemas.microsoft.com/office/drawing/2014/main" id="{E476CFDF-6CB2-470A-B01E-F5134E42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评测与发布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冻结测试 / 基线对比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批准版本 / 回滚依据</a:t>
            </a:r>
          </a:p>
        </p:txBody>
      </p:sp>
      <p:cxnSp>
        <p:nvCxnSpPr>
          <p:cNvPr id="5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476625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762750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048875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3335000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572500" y="3667125"/>
            <a:ext cx="6572250" cy="1857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sp>
        <p:nvSpPr>
          <p:cNvPr id="27" name="统一关联键：asset_id / asset_version · experim">
            <a:extLst xmlns:a="http://schemas.openxmlformats.org/drawingml/2006/main">
              <a:ext uri="{FF2B5EF4-FFF2-40B4-BE49-F238E27FC236}">
                <a16:creationId xmlns:a16="http://schemas.microsoft.com/office/drawing/2014/main" id="{214FFCE3-4FF0-4188-8F41-F434AD68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20000"/>
            <a:ext cx="16097250" cy="762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统一关联键：asset_id / asset_version · experiment_id / batch_id · query_id / trace_id · policy_version</a:t>
            </a:r>
          </a:p>
        </p:txBody>
      </p:sp>
      <p:sp>
        <p:nvSpPr>
          <p:cNvPr id="28" name="一期：更新目录、检索、Prompt 与确认知识&#10;反馈经审核和评测后发布">
            <a:extLst xmlns:a="http://schemas.openxmlformats.org/drawingml/2006/main">
              <a:ext uri="{FF2B5EF4-FFF2-40B4-BE49-F238E27FC236}">
                <a16:creationId xmlns:a16="http://schemas.microsoft.com/office/drawing/2014/main" id="{21865934-E0FB-4183-85AB-9EBE14F3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0"/>
            <a:ext cx="7667625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一期：更新目录、检索、Prompt 与确认知识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反馈经审核和评测后发布</a:t>
            </a:r>
          </a:p>
        </p:txBody>
      </p:sp>
      <p:sp>
        <p:nvSpPr>
          <p:cNvPr id="29" name="后续：代码 / 技能 / 权重候选 → 沙箱 → 测试 → 审批&#10;新增训练快照、">
            <a:extLst xmlns:a="http://schemas.openxmlformats.org/drawingml/2006/main">
              <a:ext uri="{FF2B5EF4-FFF2-40B4-BE49-F238E27FC236}">
                <a16:creationId xmlns:a16="http://schemas.microsoft.com/office/drawing/2014/main" id="{A5EBF2CE-AACD-4A97-AD83-0E021B61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0"/>
            <a:ext cx="7858125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dash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后续：代码 / 技能 / 权重候选 → 沙箱 → 测试 → 审批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新增训练快照、Git / 制品和发布门禁</a:t>
            </a:r>
          </a:p>
        </p:txBody>
      </p:sp>
    </p:spTree>
    <p:extLst>
      <p:ext uri="{BB962C8B-B14F-4D97-AF65-F5344CB8AC3E}">
        <p14:creationId xmlns:p14="http://schemas.microsoft.com/office/powerpoint/2010/main" val="1000551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B9EB8-8D2B-4408-8D8D-22E8CFDC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数据血缘实现架构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A2DA0-FB95-476F-A3FE-084A80A8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服务主动记录来源，数据库结构采集补充目录；LLM 生成的 SQL 仅作候选，实际执行与引用结果才形成运行证据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F5D3E-E185-4529-9D74-D7FD9379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B4DC6-5E5D-4482-A067-DADDEAB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采集点">
            <a:extLst xmlns:a="http://schemas.openxmlformats.org/drawingml/2006/main">
              <a:ext uri="{FF2B5EF4-FFF2-40B4-BE49-F238E27FC236}">
                <a16:creationId xmlns:a16="http://schemas.microsoft.com/office/drawing/2014/main" id="{CE48FB2C-1870-45BD-8638-40AC11A5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38125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采集点</a:t>
            </a:r>
          </a:p>
        </p:txBody>
      </p:sp>
      <p:sp>
        <p:nvSpPr>
          <p:cNvPr id="6" name="Excel 入库 / 填报事务&#10;源文件、映射、记录修订">
            <a:extLst xmlns:a="http://schemas.openxmlformats.org/drawingml/2006/main">
              <a:ext uri="{FF2B5EF4-FFF2-40B4-BE49-F238E27FC236}">
                <a16:creationId xmlns:a16="http://schemas.microsoft.com/office/drawing/2014/main" id="{D1EE0F0C-8848-426F-8EF6-7DAABEEA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Excel 入库 / 填报事务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源文件、映射、记录修订</a:t>
            </a:r>
          </a:p>
        </p:txBody>
      </p:sp>
      <p:sp>
        <p:nvSpPr>
          <p:cNvPr id="7" name="解析 / OCR / 切分任务&#10;原件页码、处理版本、片段">
            <a:extLst xmlns:a="http://schemas.openxmlformats.org/drawingml/2006/main">
              <a:ext uri="{FF2B5EF4-FFF2-40B4-BE49-F238E27FC236}">
                <a16:creationId xmlns:a16="http://schemas.microsoft.com/office/drawing/2014/main" id="{86A34A01-5D4C-4888-AB30-E3BCC4F9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814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解析 / OCR / 切分任务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原件页码、处理版本、片段</a:t>
            </a:r>
          </a:p>
        </p:txBody>
      </p:sp>
      <p:sp>
        <p:nvSpPr>
          <p:cNvPr id="8" name="SQL 执行 / 检索 / 模型调用&#10;实际来源、公开工具输入输出">
            <a:extLst xmlns:a="http://schemas.openxmlformats.org/drawingml/2006/main">
              <a:ext uri="{FF2B5EF4-FFF2-40B4-BE49-F238E27FC236}">
                <a16:creationId xmlns:a16="http://schemas.microsoft.com/office/drawing/2014/main" id="{ECB03146-69C8-4383-8103-0AAA929C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816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执行 / 检索 / 模型调用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实际来源、公开工具输入输出</a:t>
            </a:r>
          </a:p>
        </p:txBody>
      </p:sp>
      <p:sp>
        <p:nvSpPr>
          <p:cNvPr id="9" name="评测 / 发布 / 撤回操作&#10;快照、候选、策略和状态">
            <a:extLst xmlns:a="http://schemas.openxmlformats.org/drawingml/2006/main">
              <a:ext uri="{FF2B5EF4-FFF2-40B4-BE49-F238E27FC236}">
                <a16:creationId xmlns:a16="http://schemas.microsoft.com/office/drawing/2014/main" id="{EA0BAC97-C312-491A-8490-89DBCB44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818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评测 / 发布 / 撤回操作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快照、候选、策略和状态</a:t>
            </a:r>
          </a:p>
        </p:txBody>
      </p:sp>
      <p:sp>
        <p:nvSpPr>
          <p:cNvPr id="10" name="统一事件接口&#10;START / COMPLETE / FAIL&#10;run_id + ">
            <a:extLst xmlns:a="http://schemas.openxmlformats.org/drawingml/2006/main">
              <a:ext uri="{FF2B5EF4-FFF2-40B4-BE49-F238E27FC236}">
                <a16:creationId xmlns:a16="http://schemas.microsoft.com/office/drawing/2014/main" id="{4E993B91-34F0-49C8-A204-3B69F06A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3429000" cy="195262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统一事件接口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START / COMPLETE / FAIL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run_id + 输入输出引用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事件幂等 / 重试 / 错误队列</a:t>
            </a:r>
          </a:p>
        </p:txBody>
      </p:sp>
      <p:sp>
        <p:nvSpPr>
          <p:cNvPr id="11" name="血缘与版本目录&#10;资产 / 字段 / Run / Job&#10;输入 → 处理 → 输出">
            <a:extLst xmlns:a="http://schemas.openxmlformats.org/drawingml/2006/main">
              <a:ext uri="{FF2B5EF4-FFF2-40B4-BE49-F238E27FC236}">
                <a16:creationId xmlns:a16="http://schemas.microsoft.com/office/drawing/2014/main" id="{2B1D5A36-F3F3-4300-97BD-D34F879E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3810000" cy="195262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血缘与版本目录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 / 字段 / Run / Job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 → 处理 → 输出关系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记录不可静默覆盖</a:t>
            </a:r>
          </a:p>
        </p:txBody>
      </p:sp>
      <p:sp>
        <p:nvSpPr>
          <p:cNvPr id="12" name="追溯与影响分析&#10;证据回原件 / 字段&#10;变更影响范围&#10;过期标记与重建任务">
            <a:extLst xmlns:a="http://schemas.openxmlformats.org/drawingml/2006/main">
              <a:ext uri="{FF2B5EF4-FFF2-40B4-BE49-F238E27FC236}">
                <a16:creationId xmlns:a16="http://schemas.microsoft.com/office/drawing/2014/main" id="{CBF1F738-979C-4BE8-815D-90326680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667000"/>
            <a:ext cx="3333750" cy="195262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追溯与影响分析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证据回原件 / 字段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变更影响范围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过期标记与重建任务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76625" y="2976563"/>
            <a:ext cx="809625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643313"/>
            <a:ext cx="809625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643313"/>
            <a:ext cx="809625" cy="2533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643313"/>
            <a:ext cx="809625" cy="413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15250" y="36433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2430125" y="36433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19" name="字段事件契约：project / asset_id / version / ru">
            <a:extLst xmlns:a="http://schemas.openxmlformats.org/drawingml/2006/main">
              <a:ext uri="{FF2B5EF4-FFF2-40B4-BE49-F238E27FC236}">
                <a16:creationId xmlns:a16="http://schemas.microsoft.com/office/drawing/2014/main" id="{9A68E66B-A8ED-465E-83E4-2F80E605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123348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字段事件契约：project / asset_id / version / run_id / job_id / inputs / outputs / code_or_config_version / status / timestamp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46450-8D7C-45DB-8ABD-C9E2558D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38900"/>
            <a:ext cx="1233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实例：报告文件 → 解析片段 → 检索运行 → 查询答案 → 专家反馈 → 评测用例</a:t>
            </a:r>
          </a:p>
        </p:txBody>
      </p:sp>
      <p:sp>
        <p:nvSpPr>
          <p:cNvPr id="21" name="报告 V2&#10;asset_id + hash">
            <a:extLst xmlns:a="http://schemas.openxmlformats.org/drawingml/2006/main">
              <a:ext uri="{FF2B5EF4-FFF2-40B4-BE49-F238E27FC236}">
                <a16:creationId xmlns:a16="http://schemas.microsoft.com/office/drawing/2014/main" id="{524FC8CB-AD45-41FF-826D-224DF082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报告 V2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asset_id + hash</a:t>
            </a:r>
          </a:p>
        </p:txBody>
      </p:sp>
      <p:sp>
        <p:nvSpPr>
          <p:cNvPr id="22" name="片段 C17&#10;页码 / 表格位置">
            <a:extLst xmlns:a="http://schemas.openxmlformats.org/drawingml/2006/main">
              <a:ext uri="{FF2B5EF4-FFF2-40B4-BE49-F238E27FC236}">
                <a16:creationId xmlns:a16="http://schemas.microsoft.com/office/drawing/2014/main" id="{B8A13CD8-280B-48A4-8C27-5DC67E36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片段 C17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页码 / 表格位置</a:t>
            </a:r>
          </a:p>
        </p:txBody>
      </p:sp>
      <p:sp>
        <p:nvSpPr>
          <p:cNvPr id="23" name="查询 Q93&#10;SQL / 证据引用">
            <a:extLst xmlns:a="http://schemas.openxmlformats.org/drawingml/2006/main">
              <a:ext uri="{FF2B5EF4-FFF2-40B4-BE49-F238E27FC236}">
                <a16:creationId xmlns:a16="http://schemas.microsoft.com/office/drawing/2014/main" id="{BF1E362B-EB66-4B82-8A23-93635529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 Q93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/ 证据引用</a:t>
            </a:r>
          </a:p>
        </p:txBody>
      </p:sp>
      <p:sp>
        <p:nvSpPr>
          <p:cNvPr id="24" name="评测 E12&#10;冻结资产快照">
            <a:extLst xmlns:a="http://schemas.openxmlformats.org/drawingml/2006/main">
              <a:ext uri="{FF2B5EF4-FFF2-40B4-BE49-F238E27FC236}">
                <a16:creationId xmlns:a16="http://schemas.microsoft.com/office/drawing/2014/main" id="{35A37D35-5CF4-40A9-B807-A914D653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评测 E12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冻结资产快照</a:t>
            </a:r>
          </a:p>
        </p:txBody>
      </p: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134225" y="77914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296525" y="77914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3458825" y="77914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28" name="实施建议：一期在 OceanBase 保存节点 / 关系 / 事件与版本清单；用">
            <a:extLst xmlns:a="http://schemas.openxmlformats.org/drawingml/2006/main">
              <a:ext uri="{FF2B5EF4-FFF2-40B4-BE49-F238E27FC236}">
                <a16:creationId xmlns:a16="http://schemas.microsoft.com/office/drawing/2014/main" id="{3F1D79F6-70D4-440C-B34C-6E57EC3D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763000"/>
            <a:ext cx="12334875" cy="1019175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3335">
            <a:solidFill>
              <a:srgbClr val="C793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实施建议：一期在 OceanBase 保存节点 / 关系 / 事件与版本清单；用现有服务埋点。复杂跨系统再接 OpenLineage / 专用目录。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表级自动采集 + 实际 SQL 解析 + 应用映射形成字段候选；动态 SQL、UDF 与人工总表关系保留“未确认”状态。</a:t>
            </a:r>
          </a:p>
        </p:txBody>
      </p:sp>
    </p:spTree>
    <p:extLst>
      <p:ext uri="{BB962C8B-B14F-4D97-AF65-F5344CB8AC3E}">
        <p14:creationId xmlns:p14="http://schemas.microsoft.com/office/powerpoint/2010/main" val="1728654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DE59D1-4205-472D-802F-A8D5C44D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数据质量实现架构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D7EEB-1294-40D3-8B52-14CF7E5C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入库质量、加工质量、科学复核和 Agent 答案质量分别管理；质量结果也登记为可追溯资产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0C7A6-66B4-4EA3-AF22-CBB95A5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69F2E-BA31-4828-BE5E-99FFC385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0BBED-325F-4567-9BF6-A46DA9DA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60972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5D3BE-32AA-453F-B0FC-AC0927B1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562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规则库与标准样本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90F44-8F2E-4543-9626-63C9394A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156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模板 / 表族规则 · 必填 / 类型 / 范围 · 单位 / 标识 / 关联 · 文档标注样本 · 专家口径 · Benchmark 评分规则</a:t>
            </a:r>
          </a:p>
        </p:txBody>
      </p:sp>
      <p:sp>
        <p:nvSpPr>
          <p:cNvPr id="8" name="G1 接入门禁">
            <a:extLst xmlns:a="http://schemas.openxmlformats.org/drawingml/2006/main">
              <a:ext uri="{FF2B5EF4-FFF2-40B4-BE49-F238E27FC236}">
                <a16:creationId xmlns:a16="http://schemas.microsoft.com/office/drawing/2014/main" id="{00424980-F389-4B56-9628-2E6DE368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G1 接入门禁</a:t>
            </a:r>
          </a:p>
        </p:txBody>
      </p:sp>
      <p:sp>
        <p:nvSpPr>
          <p:cNvPr id="9" name="必填 / 类型 / 重复&#10;单位 / 项目权限&#10;幂等 / 并发版本">
            <a:extLst xmlns:a="http://schemas.openxmlformats.org/drawingml/2006/main">
              <a:ext uri="{FF2B5EF4-FFF2-40B4-BE49-F238E27FC236}">
                <a16:creationId xmlns:a16="http://schemas.microsoft.com/office/drawing/2014/main" id="{F2B81364-7F51-4B7F-B28E-73BFD45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必填 / 类型 / 重复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单位 / 项目权限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幂等 / 并发版本</a:t>
            </a:r>
          </a:p>
        </p:txBody>
      </p:sp>
      <p:sp>
        <p:nvSpPr>
          <p:cNvPr id="10" name="G2 加工验证">
            <a:extLst xmlns:a="http://schemas.openxmlformats.org/drawingml/2006/main">
              <a:ext uri="{FF2B5EF4-FFF2-40B4-BE49-F238E27FC236}">
                <a16:creationId xmlns:a16="http://schemas.microsoft.com/office/drawing/2014/main" id="{CF1D5A58-BB8B-4AE7-BBA4-1916279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G2 加工验证</a:t>
            </a:r>
          </a:p>
        </p:txBody>
      </p:sp>
      <p:sp>
        <p:nvSpPr>
          <p:cNvPr id="11" name="页码 / 表格完整性&#10;原值与规范值&#10;实体与关联置信度">
            <a:extLst xmlns:a="http://schemas.openxmlformats.org/drawingml/2006/main">
              <a:ext uri="{FF2B5EF4-FFF2-40B4-BE49-F238E27FC236}">
                <a16:creationId xmlns:a16="http://schemas.microsoft.com/office/drawing/2014/main" id="{0B8C89EC-F366-4951-9EEA-5E6B8310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页码 / 表格完整性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原值与规范值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实体与关联置信度</a:t>
            </a:r>
          </a:p>
        </p:txBody>
      </p:sp>
      <p:sp>
        <p:nvSpPr>
          <p:cNvPr id="12" name="G3 科学复核">
            <a:extLst xmlns:a="http://schemas.openxmlformats.org/drawingml/2006/main">
              <a:ext uri="{FF2B5EF4-FFF2-40B4-BE49-F238E27FC236}">
                <a16:creationId xmlns:a16="http://schemas.microsoft.com/office/drawing/2014/main" id="{B4DE3C1C-ED35-480E-A1B7-07C4A2D8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G3 科学复核</a:t>
            </a:r>
          </a:p>
        </p:txBody>
      </p:sp>
      <p:sp>
        <p:nvSpPr>
          <p:cNvPr id="13" name="异常值与实验条件&#10;明细 / 总表口径&#10;专家经验冲突">
            <a:extLst xmlns:a="http://schemas.openxmlformats.org/drawingml/2006/main">
              <a:ext uri="{FF2B5EF4-FFF2-40B4-BE49-F238E27FC236}">
                <a16:creationId xmlns:a16="http://schemas.microsoft.com/office/drawing/2014/main" id="{03FE7A8E-E7C6-41B7-9972-297F1A7C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异常值与实验条件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明细 / 总表口径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专家经验冲突</a:t>
            </a:r>
          </a:p>
        </p:txBody>
      </p:sp>
      <p:sp>
        <p:nvSpPr>
          <p:cNvPr id="14" name="G4 查询评测">
            <a:extLst xmlns:a="http://schemas.openxmlformats.org/drawingml/2006/main">
              <a:ext uri="{FF2B5EF4-FFF2-40B4-BE49-F238E27FC236}">
                <a16:creationId xmlns:a16="http://schemas.microsoft.com/office/drawing/2014/main" id="{F5C6042C-2534-4243-B58D-3720DE9C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G4 查询评测</a:t>
            </a:r>
          </a:p>
        </p:txBody>
      </p:sp>
      <p:sp>
        <p:nvSpPr>
          <p:cNvPr id="15" name="SQL 结果与粒度&#10;引用位置与证据支持&#10;越权拒绝 / 空结果">
            <a:extLst xmlns:a="http://schemas.openxmlformats.org/drawingml/2006/main">
              <a:ext uri="{FF2B5EF4-FFF2-40B4-BE49-F238E27FC236}">
                <a16:creationId xmlns:a16="http://schemas.microsoft.com/office/drawing/2014/main" id="{92F1B702-C7D1-453D-BF99-82F7C325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结果与粒度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引用位置与证据支持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越权拒绝 / 空结果</a:t>
            </a:r>
          </a:p>
        </p:txBody>
      </p: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91000" y="43291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334375" y="43291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2477750" y="43291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sp>
        <p:nvSpPr>
          <p:cNvPr id="19" name="统一质量结果&#10;rule_id / rule_version · asset_ve">
            <a:extLst xmlns:a="http://schemas.openxmlformats.org/drawingml/2006/main">
              <a:ext uri="{FF2B5EF4-FFF2-40B4-BE49-F238E27FC236}">
                <a16:creationId xmlns:a16="http://schemas.microsoft.com/office/drawing/2014/main" id="{EA79DE86-39D7-48EC-8396-55B33C98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53075"/>
            <a:ext cx="160972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统一质量结果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rule_id / rule_version · asset_version / run_id · PASS / FAIL / WARN · severity · 原因 / 证据位置</a:t>
            </a:r>
          </a:p>
        </p:txBody>
      </p:sp>
      <p:cxnSp>
        <p:nvCxnSpPr>
          <p:cNvPr id="53" name=""/>
          <p:cNvCxnSpPr>
            <a:stCxn xmlns:a="http://schemas.openxmlformats.org/drawingml/2006/main" id="9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357438" y="5019675"/>
            <a:ext cx="6215063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1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500813" y="5019675"/>
            <a:ext cx="2071688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572500" y="5019675"/>
            <a:ext cx="2071688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572500" y="5019675"/>
            <a:ext cx="6215063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sp>
        <p:nvSpPr>
          <p:cNvPr id="24" name="通过&#10;发布可用资产&#10;查询呈现质量状态">
            <a:extLst xmlns:a="http://schemas.openxmlformats.org/drawingml/2006/main">
              <a:ext uri="{FF2B5EF4-FFF2-40B4-BE49-F238E27FC236}">
                <a16:creationId xmlns:a16="http://schemas.microsoft.com/office/drawing/2014/main" id="{0203C6E9-FA4D-4FDE-93EF-512B2A9D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发布可用资产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查询呈现质量状态</a:t>
            </a:r>
          </a:p>
        </p:txBody>
      </p:sp>
      <p:sp>
        <p:nvSpPr>
          <p:cNvPr id="25" name="阻断&#10;隔离异常 / 禁止发布&#10;字段或行错误报告">
            <a:extLst xmlns:a="http://schemas.openxmlformats.org/drawingml/2006/main">
              <a:ext uri="{FF2B5EF4-FFF2-40B4-BE49-F238E27FC236}">
                <a16:creationId xmlns:a16="http://schemas.microsoft.com/office/drawing/2014/main" id="{5C1E761C-AEA9-44B6-BAC9-280135EF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3335">
            <a:solidFill>
              <a:srgbClr val="C793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阻断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隔离异常 / 禁止发布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字段或行错误报告</a:t>
            </a:r>
          </a:p>
        </p:txBody>
      </p:sp>
      <p:sp>
        <p:nvSpPr>
          <p:cNvPr id="26" name="警告 / 待复核&#10;保留科学异常&#10;负责人确认适用条件">
            <a:extLst xmlns:a="http://schemas.openxmlformats.org/drawingml/2006/main">
              <a:ext uri="{FF2B5EF4-FFF2-40B4-BE49-F238E27FC236}">
                <a16:creationId xmlns:a16="http://schemas.microsoft.com/office/drawing/2014/main" id="{1CC3F483-4BC4-4038-8F5D-E56201E2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警告 / 待复核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保留科学异常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负责人确认适用条件</a:t>
            </a:r>
          </a:p>
        </p:txBody>
      </p:sp>
      <p:sp>
        <p:nvSpPr>
          <p:cNvPr id="27" name="修复闭环&#10;纠正 → 新版本 → 重验&#10;更新索引 / 缓存 / 总表状态">
            <a:extLst xmlns:a="http://schemas.openxmlformats.org/drawingml/2006/main">
              <a:ext uri="{FF2B5EF4-FFF2-40B4-BE49-F238E27FC236}">
                <a16:creationId xmlns:a16="http://schemas.microsoft.com/office/drawing/2014/main" id="{FCC3A768-F703-460D-BE3D-42240FA3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修复闭环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纠正 → 新版本 → 重验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更新索引 / 缓存 / 总表状态</a:t>
            </a:r>
          </a:p>
        </p:txBody>
      </p:sp>
      <p:cxnSp>
        <p:nvCxnSpPr>
          <p:cNvPr id="61" name="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2357438" y="6581775"/>
            <a:ext cx="6215063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9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500813" y="6581775"/>
            <a:ext cx="2071688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9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572500" y="6581775"/>
            <a:ext cx="2071688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9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572500" y="6581775"/>
            <a:ext cx="6215063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22DC2D-697B-4E3F-BC96-F30FAA3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773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执行方式：普通字段规则用服务 / SQL 校验；规则规模较大时评估 GX。科学异常由专家处理，开放答案以专家评分为主。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3928E0-3406-46B4-8CF1-07859FA5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58325"/>
            <a:ext cx="1609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监控：失败率、解析抽取准确性、关联待确认率、索引延迟、分题型结果正确率；指标按真实样本与内部 SLA 确定。</a:t>
            </a:r>
          </a:p>
        </p:txBody>
      </p:sp>
    </p:spTree>
    <p:extLst>
      <p:ext uri="{BB962C8B-B14F-4D97-AF65-F5344CB8AC3E}">
        <p14:creationId xmlns:p14="http://schemas.microsoft.com/office/powerpoint/2010/main" val="225026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BF7E1-E5C6-461A-9E9A-C3B0FBFF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私有化部署与组件边界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39723-6089-4599-B498-2B522EEC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复用公司已具备的数据库、身份和模型服务；查询凭据、写入凭据与平台管理权限分别配置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D6391-A98F-4887-8D8D-93EC4326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E6584-A6E1-43D9-880C-32A063C3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3D61C-78BA-4463-8E34-EC78CD75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609725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69E18-BFCE-454C-8AC7-054582ED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56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用户与身份区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FB33C-5E79-43F3-A2EF-590CB6E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562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内部浏览器 / 现有 Agent 客户端    →    公司 AD / SSO    →    平台网关：身份、项目、接口权限与配额</a:t>
            </a:r>
          </a:p>
        </p:txBody>
      </p:sp>
      <p:sp>
        <p:nvSpPr>
          <p:cNvPr id="8" name="应用服务区">
            <a:extLst xmlns:a="http://schemas.openxmlformats.org/drawingml/2006/main">
              <a:ext uri="{FF2B5EF4-FFF2-40B4-BE49-F238E27FC236}">
                <a16:creationId xmlns:a16="http://schemas.microsoft.com/office/drawing/2014/main" id="{057C424D-EA0F-4BC2-A05F-181A75B1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7810500" cy="30480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应用服务区</a:t>
            </a:r>
          </a:p>
        </p:txBody>
      </p:sp>
      <p:sp>
        <p:nvSpPr>
          <p:cNvPr id="9" name="平台业务服务">
            <a:extLst xmlns:a="http://schemas.openxmlformats.org/drawingml/2006/main">
              <a:ext uri="{FF2B5EF4-FFF2-40B4-BE49-F238E27FC236}">
                <a16:creationId xmlns:a16="http://schemas.microsoft.com/office/drawing/2014/main" id="{DDEDDC1D-9D83-497C-A051-9685AB2C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781050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平台业务服务</a:t>
            </a:r>
          </a:p>
        </p:txBody>
      </p:sp>
      <p:sp>
        <p:nvSpPr>
          <p:cNvPr id="10" name="填报 / 导入服务｜受限事务写入">
            <a:extLst xmlns:a="http://schemas.openxmlformats.org/drawingml/2006/main">
              <a:ext uri="{FF2B5EF4-FFF2-40B4-BE49-F238E27FC236}">
                <a16:creationId xmlns:a16="http://schemas.microsoft.com/office/drawing/2014/main" id="{6AECBE34-A26D-4AFF-A65D-5ED46995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填报 / 导入服务｜受限事务写入</a:t>
            </a:r>
          </a:p>
        </p:txBody>
      </p:sp>
      <p:sp>
        <p:nvSpPr>
          <p:cNvPr id="11" name="目录 / 语义服务｜批准视图与关联">
            <a:extLst xmlns:a="http://schemas.openxmlformats.org/drawingml/2006/main">
              <a:ext uri="{FF2B5EF4-FFF2-40B4-BE49-F238E27FC236}">
                <a16:creationId xmlns:a16="http://schemas.microsoft.com/office/drawing/2014/main" id="{2217BA96-B012-426B-A2F6-EBC8D8D1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目录 / 语义服务｜批准视图与关联</a:t>
            </a:r>
          </a:p>
        </p:txBody>
      </p:sp>
      <p:sp>
        <p:nvSpPr>
          <p:cNvPr id="12" name="查询 / 检索服务｜只读执行、结果授权">
            <a:extLst xmlns:a="http://schemas.openxmlformats.org/drawingml/2006/main">
              <a:ext uri="{FF2B5EF4-FFF2-40B4-BE49-F238E27FC236}">
                <a16:creationId xmlns:a16="http://schemas.microsoft.com/office/drawing/2014/main" id="{DAE03749-3CD9-40D8-929D-98E9D23A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 / 检索服务｜只读执行、结果授权</a:t>
            </a:r>
          </a:p>
        </p:txBody>
      </p:sp>
      <p:sp>
        <p:nvSpPr>
          <p:cNvPr id="13" name="知识 / 评测服务｜专家审核与版本对比">
            <a:extLst xmlns:a="http://schemas.openxmlformats.org/drawingml/2006/main">
              <a:ext uri="{FF2B5EF4-FFF2-40B4-BE49-F238E27FC236}">
                <a16:creationId xmlns:a16="http://schemas.microsoft.com/office/drawing/2014/main" id="{3558F128-60FF-45D4-B088-73CED09F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知识 / 评测服务｜专家审核与版本对比</a:t>
            </a:r>
          </a:p>
        </p:txBody>
      </p:sp>
      <p:sp>
        <p:nvSpPr>
          <p:cNvPr id="14" name="后台处理与治理区">
            <a:extLst xmlns:a="http://schemas.openxmlformats.org/drawingml/2006/main">
              <a:ext uri="{FF2B5EF4-FFF2-40B4-BE49-F238E27FC236}">
                <a16:creationId xmlns:a16="http://schemas.microsoft.com/office/drawing/2014/main" id="{B44BEA22-F2A5-48DD-A29B-D4714065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7810500" cy="30480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后台处理与治理区</a:t>
            </a:r>
          </a:p>
        </p:txBody>
      </p:sp>
      <p:sp>
        <p:nvSpPr>
          <p:cNvPr id="15" name="异步任务与控制服务">
            <a:extLst xmlns:a="http://schemas.openxmlformats.org/drawingml/2006/main">
              <a:ext uri="{FF2B5EF4-FFF2-40B4-BE49-F238E27FC236}">
                <a16:creationId xmlns:a16="http://schemas.microsoft.com/office/drawing/2014/main" id="{30E6EB3D-06C9-454C-8CF9-5F795D2B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781050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异步任务与控制服务</a:t>
            </a:r>
          </a:p>
        </p:txBody>
      </p:sp>
      <p:sp>
        <p:nvSpPr>
          <p:cNvPr id="16" name="接入 / 解析 / OCR / 切分 / 索引任务">
            <a:extLst xmlns:a="http://schemas.openxmlformats.org/drawingml/2006/main">
              <a:ext uri="{FF2B5EF4-FFF2-40B4-BE49-F238E27FC236}">
                <a16:creationId xmlns:a16="http://schemas.microsoft.com/office/drawing/2014/main" id="{66CFA57F-2600-4C5B-8BF8-705AD78B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4335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接入 / 解析 / OCR / 切分 / 索引任务</a:t>
            </a:r>
          </a:p>
        </p:txBody>
      </p:sp>
      <p:sp>
        <p:nvSpPr>
          <p:cNvPr id="17" name="质量检查 / 人工问题队列 / 重验">
            <a:extLst xmlns:a="http://schemas.openxmlformats.org/drawingml/2006/main">
              <a:ext uri="{FF2B5EF4-FFF2-40B4-BE49-F238E27FC236}">
                <a16:creationId xmlns:a16="http://schemas.microsoft.com/office/drawing/2014/main" id="{B2C6CC4B-DAEE-42AD-9870-994005CC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6722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质量检查 / 人工问题队列 / 重验</a:t>
            </a:r>
          </a:p>
        </p:txBody>
      </p:sp>
      <p:sp>
        <p:nvSpPr>
          <p:cNvPr id="18" name="血缘事件 / 版本清单 / 审计与告警">
            <a:extLst xmlns:a="http://schemas.openxmlformats.org/drawingml/2006/main">
              <a:ext uri="{FF2B5EF4-FFF2-40B4-BE49-F238E27FC236}">
                <a16:creationId xmlns:a16="http://schemas.microsoft.com/office/drawing/2014/main" id="{60658259-038D-483D-BFDE-83F4119C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血缘事件 / 版本清单 / 审计与告警</a:t>
            </a:r>
          </a:p>
        </p:txBody>
      </p:sp>
      <p:sp>
        <p:nvSpPr>
          <p:cNvPr id="19" name="备份恢复 / 索引重建 / 发布回滚">
            <a:extLst xmlns:a="http://schemas.openxmlformats.org/drawingml/2006/main">
              <a:ext uri="{FF2B5EF4-FFF2-40B4-BE49-F238E27FC236}">
                <a16:creationId xmlns:a16="http://schemas.microsoft.com/office/drawing/2014/main" id="{71B15002-5696-4DD1-BF2C-FECF3784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1497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备份恢复 / 索引重建 / 发布回滚</a:t>
            </a:r>
          </a:p>
        </p:txBody>
      </p:sp>
      <p:sp>
        <p:nvSpPr>
          <p:cNvPr id="20" name="OceanBase〔复用〕&#10;实验明细 / 人工总表&#10;新增目录、规则、血缘、任务逻">
            <a:extLst xmlns:a="http://schemas.openxmlformats.org/drawingml/2006/main">
              <a:ext uri="{FF2B5EF4-FFF2-40B4-BE49-F238E27FC236}">
                <a16:creationId xmlns:a16="http://schemas.microsoft.com/office/drawing/2014/main" id="{D136C719-7CE3-45B3-8EC7-89CFC9EF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0"/>
            <a:ext cx="514350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OceanBase〔复用〕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实验明细 / 人工总表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新增目录、规则、血缘、任务逻辑表</a:t>
            </a:r>
          </a:p>
        </p:txBody>
      </p:sp>
      <p:sp>
        <p:nvSpPr>
          <p:cNvPr id="21" name="内网原件存储〔建设 / 适配〕&#10;PDF / PPT / Excel / 附件&#10;版">
            <a:extLst xmlns:a="http://schemas.openxmlformats.org/drawingml/2006/main">
              <a:ext uri="{FF2B5EF4-FFF2-40B4-BE49-F238E27FC236}">
                <a16:creationId xmlns:a16="http://schemas.microsoft.com/office/drawing/2014/main" id="{A34120FD-C19D-4808-AFBD-9AA84EE0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858000"/>
            <a:ext cx="514350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内网原件存储〔建设 / 适配〕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PDF / PPT / Excel / 附件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版本副本 / hash / 受控下载</a:t>
            </a:r>
          </a:p>
        </p:txBody>
      </p:sp>
      <p:sp>
        <p:nvSpPr>
          <p:cNvPr id="22" name="搜索索引〔PoC 选型〕&#10;全文 / 向量 / Schema 候选&#10;继承源权限，可">
            <a:extLst xmlns:a="http://schemas.openxmlformats.org/drawingml/2006/main">
              <a:ext uri="{FF2B5EF4-FFF2-40B4-BE49-F238E27FC236}">
                <a16:creationId xmlns:a16="http://schemas.microsoft.com/office/drawing/2014/main" id="{E0AEC590-C4BA-49F4-9EA0-BB708DDC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858000"/>
            <a:ext cx="514350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搜索索引〔PoC 选型〕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 / 向量 / Schema 候选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继承源权限，可重建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20866-5F84-4D9D-B97A-4C49D301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86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访问边界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8F3E8-C184-4E06-ACC7-D3E4C3B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82025"/>
            <a:ext cx="1376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用户 / Agent 经业务 API 访问数据；后台任务使用独立服务身份。模型不接触数据库生产写凭据。</a:t>
            </a:r>
          </a:p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原件、目录、片段、缓存和导出执行同一授权语义；审计日志也受权限与保留策略控制。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559CF-0772-496E-9B64-36F27A1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0"/>
            <a:ext cx="1609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模型服务：现有内网 LLM / embedding 通过适配接口调用；代码 / 权重进化启用后另设沙箱与制品区。</a:t>
            </a:r>
          </a:p>
        </p:txBody>
      </p:sp>
    </p:spTree>
    <p:extLst>
      <p:ext uri="{BB962C8B-B14F-4D97-AF65-F5344CB8AC3E}">
        <p14:creationId xmlns:p14="http://schemas.microsoft.com/office/powerpoint/2010/main" val="1716487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2026-10-03T09:40:16.8370000Z</dcterms:created>
  <dcterms:modified xsi:type="dcterms:W3CDTF">2026-10-03T09:40:16.8370000Z</dcterms:modified>
</coreProperties>
</file>