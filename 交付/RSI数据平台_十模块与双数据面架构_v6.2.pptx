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dde4bea8004730" /><Relationship Type="http://schemas.openxmlformats.org/officeDocument/2006/relationships/extended-properties" Target="/docProps/app.xml" Id="R5d02653382e04f02" /><Relationship Type="http://schemas.openxmlformats.org/officeDocument/2006/relationships/officeDocument" Target="/ppt/presentation.xml" Id="Re5e81b8e24e5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ac4d672684020"/>
  </p:sldMasterIdLst>
  <p:notesMasterIdLst>
    <p:notesMasterId xmlns:r="http://schemas.openxmlformats.org/officeDocument/2006/relationships" r:id="Rd165bcc94d024a4b"/>
  </p:notesMasterIdLst>
  <p:sldIdLst>
    <p:sldId xmlns:r="http://schemas.openxmlformats.org/officeDocument/2006/relationships" id="256" r:id="R78088fcabf1f4b1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0fb711f63460f" /><Relationship Type="http://schemas.openxmlformats.org/officeDocument/2006/relationships/slideMaster" Target="/ppt/slideMasters/slideMaster1.xml" Id="R351ac4d672684020" /><Relationship Type="http://schemas.openxmlformats.org/officeDocument/2006/relationships/notesMaster" Target="/ppt/notesMasters/notesMaster1.xml" Id="Rd165bcc94d024a4b" /><Relationship Type="http://schemas.openxmlformats.org/officeDocument/2006/relationships/presProps" Target="/ppt/presProps.xml" Id="R9e96c12d545c4977" /><Relationship Type="http://schemas.openxmlformats.org/officeDocument/2006/relationships/tableStyles" Target="/ppt/tableStyles.xml" Id="R915ea707e2474e09" /><Relationship Type="http://schemas.openxmlformats.org/officeDocument/2006/relationships/slide" Target="/ppt/slides/slide1.xml" Id="R78088fcabf1f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2505a7bf5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149bcb464045fe" /><Relationship Type="http://schemas.openxmlformats.org/officeDocument/2006/relationships/notesMaster" Target="/ppt/notesMasters/notesMaster1.xml" Id="R89b2befd478d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RSI 数据平台单页架构图，依据本工作区十模块建设方案及用户 2026-10-06 澄清绘制。原始实验记录、NAS 文档、图片和音频已经存在，缺少统一元数据与来源记录。OceanBase 按项目已有的 MySQL 兼容租户前提表示，不另行假定有独立 MySQL 实例。</a:t>
            </a:r>
          </a:p>
          <a:p xmlns:a="http://schemas.openxmlformats.org/drawingml/2006/main">
            <a:r>
              <a:t>十模块编号沿用项目：M01 数据接入与实验填报，M02 原始文件与元数据管理，M03 数据目录与业务语义，M04 数据处理与质量管理，M05 自然语言统一查询，M06 专家经验与知识管理，M07 Benchmark 与反馈评测，M08 身份权限与审计，M09 数据服务与 Agent 接口，M10 平台运维与资产版本。</a:t>
            </a:r>
          </a:p>
          <a:p xmlns:a="http://schemas.openxmlformats.org/drawingml/2006/main">
            <a:r>
              <a:t>M03 两条实现路径为候选：OpenMetadata 目录及适配服务，或自建 OceanBase 元数据表及统一 API。采用 OpenMetadata 时按其官方后端要求部署，不声称可以直接用 OceanBase 替代产品后端，MySQL 采集连接器也需在现网 OceanBase 验证。两条路线要明确每类信息的权威维护位置。</a:t>
            </a:r>
          </a:p>
          <a:p xmlns:a="http://schemas.openxmlformats.org/drawingml/2006/main">
            <a:r>
              <a:t>Agent 工作台以 Langfuse 为优先 PoC，Phoenix 为替代候选，两者均提供轨迹、评测、Prompt 和数据集实验能力。Langfuse 后端按官方架构包含 PostgreSQL、ClickHouse、Redis/Valkey 与 S3。其运行详情无需全部复制到业务目录。平台登记实际证据、资产版本、知识审核和发布依赖，Trace 映射统一关联。</a:t>
            </a:r>
          </a:p>
          <a:p xmlns:a="http://schemas.openxmlformats.org/drawingml/2006/main">
            <a:r>
              <a:t>图中实线表示主要服务调用、事件或处理关联，蓝色虚线表示资产与版本引用。仅展示关键联系，权限与运维框的纵向位置表示贯穿所有层。知识与评测条目可以在 Langfuse 保存详情，但业务证据、权限及专家确认仍由目录 / 业务服务维护。NAS 正式资产应保存确定受控版本，OCR / ASR 与索引输出记录处理版本和来源定位。存量未知血缘登记为未知，不补造历史。代码与模型自主进化属于后续建设。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工作区：交付/RSI数据平台_十模块详细建设方案_v2.0.md</a:t>
            </a:r>
          </a:p>
          <a:p xmlns:a="http://schemas.openxmlformats.org/drawingml/2006/main">
            <a:r>
              <a:t>工作区：交付/RSI数据平台_元数据血缘质量与多团队接入规范_v0.1.md</a:t>
            </a:r>
          </a:p>
          <a:p xmlns:a="http://schemas.openxmlformats.org/drawingml/2006/main">
            <a:r>
              <a:t>工作区：交付/RSI数据平台_元数据与血缘具体实现说明_v1.0.md</a:t>
            </a:r>
          </a:p>
          <a:p xmlns:a="http://schemas.openxmlformats.org/drawingml/2006/main">
            <a:r>
              <a:t>Langfuse 自托管架构：https://langfuse.com/self-hosting</a:t>
            </a:r>
          </a:p>
          <a:p xmlns:a="http://schemas.openxmlformats.org/drawingml/2006/main">
            <a:r>
              <a:t>Langfuse 观测与数据管理：https://langfuse.com/docs/observability/overview</a:t>
            </a:r>
          </a:p>
          <a:p xmlns:a="http://schemas.openxmlformats.org/drawingml/2006/main">
            <a:r>
              <a:t>Langfuse 元数据：https://langfuse.com/docs/observability/features/metadata</a:t>
            </a:r>
          </a:p>
          <a:p xmlns:a="http://schemas.openxmlformats.org/drawingml/2006/main">
            <a:r>
              <a:t>Phoenix 能力：https://arize.com/docs/phoenix/</a:t>
            </a:r>
          </a:p>
          <a:p xmlns:a="http://schemas.openxmlformats.org/drawingml/2006/main">
            <a:r>
              <a:t>Phoenix 部署：https://arize.com/docs/phoenix/self-hosting/architecture</a:t>
            </a:r>
          </a:p>
          <a:p xmlns:a="http://schemas.openxmlformats.org/drawingml/2006/main">
            <a:r>
              <a:t>OpenMetadata MySQL 采集：https://docs.open-metadata.org/v2.0.x/connectors/database/mysql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db69b7ab14d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58a8d07324460" /><Relationship Type="http://schemas.openxmlformats.org/officeDocument/2006/relationships/slideLayout" Target="/ppt/slideLayouts/slideLayout1.xml" Id="Ra2231e1e8fa4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231e1e8fa4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c986bd5d642c4" /><Relationship Type="http://schemas.openxmlformats.org/officeDocument/2006/relationships/notesSlide" Target="/ppt/notesSlides/notesSlide1.xml" Id="Rb0f28ce32258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6017E48B-0B10-4BC9-B49C-8F2F4378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9075"/>
            <a:ext cx="1695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RSI 自进化 Agent 数据平台架构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BD0DEF-0532-4FAD-A993-A58BAF6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858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业务侧补建元数据与来源记录，Agent 侧复用 Langfuse，两侧通过资产版本和运行 ID 关联</a:t>
            </a:r>
          </a:p>
        </p:txBody>
      </p:sp>
      <p:sp>
        <p:nvSpPr>
          <p:cNvPr id="3" name="application-actors">
            <a:extLst xmlns:a="http://schemas.openxmlformats.org/drawingml/2006/main">
              <a:ext uri="{FF2B5EF4-FFF2-40B4-BE49-F238E27FC236}">
                <a16:creationId xmlns:a16="http://schemas.microsoft.com/office/drawing/2014/main" id="{FCA724D7-620D-449E-AC07-E9F87BCB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1419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实验员：填报 / 导入     专家：查询 / 证据核验 / 经验确认     接入团队：业务适配器 / Agent SDK</a:t>
            </a:r>
          </a:p>
        </p:txBody>
      </p:sp>
      <p:sp>
        <p:nvSpPr>
          <p:cNvPr id="4" name="access-layer">
            <a:extLst xmlns:a="http://schemas.openxmlformats.org/drawingml/2006/main">
              <a:ext uri="{FF2B5EF4-FFF2-40B4-BE49-F238E27FC236}">
                <a16:creationId xmlns:a16="http://schemas.microsoft.com/office/drawing/2014/main" id="{F4080F76-2133-4E72-B155-9D0CD7D5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5" name="M05">
            <a:extLst xmlns:a="http://schemas.openxmlformats.org/drawingml/2006/main">
              <a:ext uri="{FF2B5EF4-FFF2-40B4-BE49-F238E27FC236}">
                <a16:creationId xmlns:a16="http://schemas.microsoft.com/office/drawing/2014/main" id="{09A8205C-D10D-456E-81A2-DA277C0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814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 w="14288">
            <a:solidFill>
              <a:srgbClr val="1268AE"/>
            </a:solidFill>
          </a:ln>
        </p:spPr>
      </p:sp>
      <p:sp>
        <p:nvSpPr>
          <p:cNvPr id="6" name="M05-title">
            <a:extLst xmlns:a="http://schemas.openxmlformats.org/drawingml/2006/main">
              <a:ext uri="{FF2B5EF4-FFF2-40B4-BE49-F238E27FC236}">
                <a16:creationId xmlns:a16="http://schemas.microsoft.com/office/drawing/2014/main" id="{620DBBAC-1CFD-420C-AA36-CBDB8E76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478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M05 自然语言统一查询</a:t>
            </a:r>
          </a:p>
        </p:txBody>
      </p:sp>
      <p:sp>
        <p:nvSpPr>
          <p:cNvPr id="7" name="M05-detail">
            <a:extLst xmlns:a="http://schemas.openxmlformats.org/drawingml/2006/main">
              <a:ext uri="{FF2B5EF4-FFF2-40B4-BE49-F238E27FC236}">
                <a16:creationId xmlns:a16="http://schemas.microsoft.com/office/drawing/2014/main" id="{2B7C0E0F-AE1D-4CEC-BBD3-D51A748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43150"/>
            <a:ext cx="785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目录选表、只读 SQL、文档检索、来源引用</a:t>
            </a:r>
          </a:p>
        </p:txBody>
      </p:sp>
      <p:sp>
        <p:nvSpPr>
          <p:cNvPr id="8" name="M09">
            <a:extLst xmlns:a="http://schemas.openxmlformats.org/drawingml/2006/main">
              <a:ext uri="{FF2B5EF4-FFF2-40B4-BE49-F238E27FC236}">
                <a16:creationId xmlns:a16="http://schemas.microsoft.com/office/drawing/2014/main" id="{2506A4C4-A35C-4B3F-A2B3-0E8BFE15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561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 w="14288">
            <a:solidFill>
              <a:srgbClr val="1268AE"/>
            </a:solidFill>
          </a:ln>
        </p:spPr>
      </p:sp>
      <p:sp>
        <p:nvSpPr>
          <p:cNvPr id="9" name="M09-title">
            <a:extLst xmlns:a="http://schemas.openxmlformats.org/drawingml/2006/main">
              <a:ext uri="{FF2B5EF4-FFF2-40B4-BE49-F238E27FC236}">
                <a16:creationId xmlns:a16="http://schemas.microsoft.com/office/drawing/2014/main" id="{CF098B1A-019D-4C4C-838C-AC99831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47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M09 数据服务与 Agent 接口</a:t>
            </a:r>
          </a:p>
        </p:txBody>
      </p:sp>
      <p:sp>
        <p:nvSpPr>
          <p:cNvPr id="10" name="M09-detail">
            <a:extLst xmlns:a="http://schemas.openxmlformats.org/drawingml/2006/main">
              <a:ext uri="{FF2B5EF4-FFF2-40B4-BE49-F238E27FC236}">
                <a16:creationId xmlns:a16="http://schemas.microsoft.com/office/drawing/2014/main" id="{CE603D10-00BA-4A78-BB8F-4D973C98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43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业务 API、受控工具、Agent 网关、SDK 接入</a:t>
            </a:r>
          </a:p>
        </p:txBody>
      </p:sp>
      <p:cxnSp>
        <p:nvCxnSpPr>
          <p:cNvPr id="9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22526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2" name="业务侧数据平面-header">
            <a:extLst xmlns:a="http://schemas.openxmlformats.org/drawingml/2006/main">
              <a:ext uri="{FF2B5EF4-FFF2-40B4-BE49-F238E27FC236}">
                <a16:creationId xmlns:a16="http://schemas.microsoft.com/office/drawing/2014/main" id="{28854915-46CC-4CF9-90A9-64A7287B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8143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89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13" name="业务侧数据平面-label">
            <a:extLst xmlns:a="http://schemas.openxmlformats.org/drawingml/2006/main">
              <a:ext uri="{FF2B5EF4-FFF2-40B4-BE49-F238E27FC236}">
                <a16:creationId xmlns:a16="http://schemas.microsoft.com/office/drawing/2014/main" id="{3F1E4B1D-E6EB-4225-AF29-8FA298F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62275"/>
            <a:ext cx="783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业务侧数据平面</a:t>
            </a:r>
          </a:p>
        </p:txBody>
      </p:sp>
      <p:sp>
        <p:nvSpPr>
          <p:cNvPr id="14" name="Agent 侧数据平面-header">
            <a:extLst xmlns:a="http://schemas.openxmlformats.org/drawingml/2006/main">
              <a:ext uri="{FF2B5EF4-FFF2-40B4-BE49-F238E27FC236}">
                <a16:creationId xmlns:a16="http://schemas.microsoft.com/office/drawing/2014/main" id="{C8F02282-C281-4654-B3DC-06EF00A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5619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3AF"/>
          </a:solidFill>
          <a:ln xmlns:a="http://schemas.openxmlformats.org/drawingml/2006/main" w="14288">
            <a:solidFill>
              <a:srgbClr val="7253AF"/>
            </a:solidFill>
          </a:ln>
        </p:spPr>
      </p:sp>
      <p:sp>
        <p:nvSpPr>
          <p:cNvPr id="15" name="Agent 侧数据平面-label">
            <a:extLst xmlns:a="http://schemas.openxmlformats.org/drawingml/2006/main">
              <a:ext uri="{FF2B5EF4-FFF2-40B4-BE49-F238E27FC236}">
                <a16:creationId xmlns:a16="http://schemas.microsoft.com/office/drawing/2014/main" id="{EAF8A6EF-F352-476B-A361-750C6654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62275"/>
            <a:ext cx="5314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侧数据平面</a:t>
            </a:r>
          </a:p>
        </p:txBody>
      </p:sp>
      <p:sp>
        <p:nvSpPr>
          <p:cNvPr id="16" name="processing-layer">
            <a:extLst xmlns:a="http://schemas.openxmlformats.org/drawingml/2006/main">
              <a:ext uri="{FF2B5EF4-FFF2-40B4-BE49-F238E27FC236}">
                <a16:creationId xmlns:a16="http://schemas.microsoft.com/office/drawing/2014/main" id="{10E4CEAE-562D-444A-8695-4CDF332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38575"/>
            <a:ext cx="80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接入与</a:t>
            </a:r>
          </a:p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处理层</a:t>
            </a:r>
          </a:p>
        </p:txBody>
      </p:sp>
      <p:sp>
        <p:nvSpPr>
          <p:cNvPr id="17" name="M01">
            <a:extLst xmlns:a="http://schemas.openxmlformats.org/drawingml/2006/main">
              <a:ext uri="{FF2B5EF4-FFF2-40B4-BE49-F238E27FC236}">
                <a16:creationId xmlns:a16="http://schemas.microsoft.com/office/drawing/2014/main" id="{245D400E-CB41-4F11-9A71-493761B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5241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18" name="M01-title">
            <a:extLst xmlns:a="http://schemas.openxmlformats.org/drawingml/2006/main">
              <a:ext uri="{FF2B5EF4-FFF2-40B4-BE49-F238E27FC236}">
                <a16:creationId xmlns:a16="http://schemas.microsoft.com/office/drawing/2014/main" id="{3632789C-E0A6-485E-88E9-1A148EAF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M01 数据接入与</a:t>
            </a:r>
          </a:p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实验填报</a:t>
            </a:r>
          </a:p>
        </p:txBody>
      </p:sp>
      <p:sp>
        <p:nvSpPr>
          <p:cNvPr id="19" name="M01-detail">
            <a:extLst xmlns:a="http://schemas.openxmlformats.org/drawingml/2006/main">
              <a:ext uri="{FF2B5EF4-FFF2-40B4-BE49-F238E27FC236}">
                <a16:creationId xmlns:a16="http://schemas.microsoft.com/office/drawing/2014/main" id="{127667BC-AFE4-4E3E-B28E-A16A2D1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1960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Excel / 页面 / API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批次 / 映射 / 源行</a:t>
            </a:r>
          </a:p>
        </p:txBody>
      </p:sp>
      <p:sp>
        <p:nvSpPr>
          <p:cNvPr id="20" name="M02">
            <a:extLst xmlns:a="http://schemas.openxmlformats.org/drawingml/2006/main">
              <a:ext uri="{FF2B5EF4-FFF2-40B4-BE49-F238E27FC236}">
                <a16:creationId xmlns:a16="http://schemas.microsoft.com/office/drawing/2014/main" id="{25DEB3D1-1E91-47AB-B1D5-03975DF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25241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21" name="M02-title">
            <a:extLst xmlns:a="http://schemas.openxmlformats.org/drawingml/2006/main">
              <a:ext uri="{FF2B5EF4-FFF2-40B4-BE49-F238E27FC236}">
                <a16:creationId xmlns:a16="http://schemas.microsoft.com/office/drawing/2014/main" id="{7954758A-754F-461F-9ADF-773FCC3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M02 原始文件与</a:t>
            </a:r>
          </a:p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元数据管理</a:t>
            </a:r>
          </a:p>
        </p:txBody>
      </p:sp>
      <p:sp>
        <p:nvSpPr>
          <p:cNvPr id="22" name="M02-detail">
            <a:extLst xmlns:a="http://schemas.openxmlformats.org/drawingml/2006/main">
              <a:ext uri="{FF2B5EF4-FFF2-40B4-BE49-F238E27FC236}">
                <a16:creationId xmlns:a16="http://schemas.microsoft.com/office/drawing/2014/main" id="{1E27D6DC-661D-42C7-8694-4078820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NAS 扫描 / 上传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原件、版本、hash</a:t>
            </a:r>
          </a:p>
        </p:txBody>
      </p:sp>
      <p:sp>
        <p:nvSpPr>
          <p:cNvPr id="23" name="M04">
            <a:extLst xmlns:a="http://schemas.openxmlformats.org/drawingml/2006/main">
              <a:ext uri="{FF2B5EF4-FFF2-40B4-BE49-F238E27FC236}">
                <a16:creationId xmlns:a16="http://schemas.microsoft.com/office/drawing/2014/main" id="{DE10FE9D-BC18-4ACD-908A-BDCB576F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25241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24" name="M04-title">
            <a:extLst xmlns:a="http://schemas.openxmlformats.org/drawingml/2006/main">
              <a:ext uri="{FF2B5EF4-FFF2-40B4-BE49-F238E27FC236}">
                <a16:creationId xmlns:a16="http://schemas.microsoft.com/office/drawing/2014/main" id="{878DC71C-1D9C-40CB-95E9-C82847B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338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M04 数据处理与</a:t>
            </a:r>
          </a:p>
          <a:p xmlns:a="http://schemas.openxmlformats.org/drawingml/2006/main">
            <a:pPr algn="l"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质量管理</a:t>
            </a:r>
          </a:p>
        </p:txBody>
      </p:sp>
      <p:sp>
        <p:nvSpPr>
          <p:cNvPr id="25" name="M04-detail">
            <a:extLst xmlns:a="http://schemas.openxmlformats.org/drawingml/2006/main">
              <a:ext uri="{FF2B5EF4-FFF2-40B4-BE49-F238E27FC236}">
                <a16:creationId xmlns:a16="http://schemas.microsoft.com/office/drawing/2014/main" id="{069A2659-FC2A-455F-9243-35CE595E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1960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解析 / OCR / ASR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单位校验、质量门禁</a:t>
            </a:r>
          </a:p>
        </p:txBody>
      </p:sp>
      <p:cxnSp>
        <p:nvCxnSpPr>
          <p:cNvPr id="11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952875" y="438626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762750" y="438626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28" name="Langfuse-workbench">
            <a:extLst xmlns:a="http://schemas.openxmlformats.org/drawingml/2006/main">
              <a:ext uri="{FF2B5EF4-FFF2-40B4-BE49-F238E27FC236}">
                <a16:creationId xmlns:a16="http://schemas.microsoft.com/office/drawing/2014/main" id="{6E67BBF7-700C-4BBA-82E3-4FD0872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56197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B"/>
          </a:solidFill>
          <a:ln xmlns:a="http://schemas.openxmlformats.org/drawingml/2006/main" w="14288">
            <a:solidFill>
              <a:srgbClr val="7253AF"/>
            </a:solidFill>
          </a:ln>
        </p:spPr>
      </p:sp>
      <p:sp>
        <p:nvSpPr>
          <p:cNvPr id="29" name="Langfuse-title">
            <a:extLst xmlns:a="http://schemas.openxmlformats.org/drawingml/2006/main">
              <a:ext uri="{FF2B5EF4-FFF2-40B4-BE49-F238E27FC236}">
                <a16:creationId xmlns:a16="http://schemas.microsoft.com/office/drawing/2014/main" id="{F6D0FDDF-01BA-4BC7-99FD-00F0D806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52850"/>
            <a:ext cx="529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Langfuse 元数据与观测工作台</a:t>
            </a:r>
          </a:p>
        </p:txBody>
      </p:sp>
      <p:sp>
        <p:nvSpPr>
          <p:cNvPr id="30" name="Langfuse-detail">
            <a:extLst xmlns:a="http://schemas.openxmlformats.org/drawingml/2006/main">
              <a:ext uri="{FF2B5EF4-FFF2-40B4-BE49-F238E27FC236}">
                <a16:creationId xmlns:a16="http://schemas.microsoft.com/office/drawing/2014/main" id="{2CCA1EA7-5FE8-49C8-BD9B-64010FC5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210050"/>
            <a:ext cx="52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SDK / OpenTelemetry 采集</a:t>
            </a:r>
          </a:p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Trace、工具调用、Prompt 版本</a:t>
            </a:r>
          </a:p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用户反馈、评分、数据集与实验</a:t>
            </a:r>
          </a:p>
        </p:txBody>
      </p:sp>
      <p:sp>
        <p:nvSpPr>
          <p:cNvPr id="31" name="route-8-0">
            <a:extLst xmlns:a="http://schemas.openxmlformats.org/drawingml/2006/main">
              <a:ext uri="{FF2B5EF4-FFF2-40B4-BE49-F238E27FC236}">
                <a16:creationId xmlns:a16="http://schemas.microsoft.com/office/drawing/2014/main" id="{4C336E1D-687F-4913-A33C-6FAB66B2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2247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route-8-1">
            <a:extLst xmlns:a="http://schemas.openxmlformats.org/drawingml/2006/main">
              <a:ext uri="{FF2B5EF4-FFF2-40B4-BE49-F238E27FC236}">
                <a16:creationId xmlns:a16="http://schemas.microsoft.com/office/drawing/2014/main" id="{E54C7A4B-B84F-438D-914C-5E55023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38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5621000" y="22526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253AF"/>
            </a:solidFill>
            <a:prstDash val="solid"/>
          </a:ln>
        </p:spPr>
      </p:cxnSp>
      <p:cxnSp>
        <p:nvCxnSpPr>
          <p:cNvPr id="120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5740063" y="2257425"/>
            <a:ext cx="0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253AF"/>
            </a:solidFill>
            <a:prstDash val="solid"/>
          </a:ln>
        </p:spPr>
      </p:cxnSp>
      <p:cxnSp>
        <p:nvCxnSpPr>
          <p:cNvPr id="121" name=""/>
          <p:cNvCxnSpPr>
            <a:stCxn xmlns:a="http://schemas.openxmlformats.org/drawingml/2006/main" id="32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15621000" y="43862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36" name="runtime-label">
            <a:extLst xmlns:a="http://schemas.openxmlformats.org/drawingml/2006/main">
              <a:ext uri="{FF2B5EF4-FFF2-40B4-BE49-F238E27FC236}">
                <a16:creationId xmlns:a16="http://schemas.microsoft.com/office/drawing/2014/main" id="{009641F2-1713-41F9-84A4-32B99BE8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33242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运行上报</a:t>
            </a:r>
          </a:p>
        </p:txBody>
      </p:sp>
      <p:sp>
        <p:nvSpPr>
          <p:cNvPr id="37" name="governance-layer">
            <a:extLst xmlns:a="http://schemas.openxmlformats.org/drawingml/2006/main">
              <a:ext uri="{FF2B5EF4-FFF2-40B4-BE49-F238E27FC236}">
                <a16:creationId xmlns:a16="http://schemas.microsoft.com/office/drawing/2014/main" id="{BF9FC2B1-DBF5-426D-9324-F6F73DC4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00725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目录与</a:t>
            </a:r>
          </a:p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38" name="M03">
            <a:extLst xmlns:a="http://schemas.openxmlformats.org/drawingml/2006/main">
              <a:ext uri="{FF2B5EF4-FFF2-40B4-BE49-F238E27FC236}">
                <a16:creationId xmlns:a16="http://schemas.microsoft.com/office/drawing/2014/main" id="{9AA1FE68-757A-4C83-B43F-6CAF4B2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53075"/>
            <a:ext cx="8143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39" name="M03-title">
            <a:extLst xmlns:a="http://schemas.openxmlformats.org/drawingml/2006/main">
              <a:ext uri="{FF2B5EF4-FFF2-40B4-BE49-F238E27FC236}">
                <a16:creationId xmlns:a16="http://schemas.microsoft.com/office/drawing/2014/main" id="{CEF7ACCA-3E1D-414D-A75F-19B1E2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4832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M03 数据目录与业务语义</a:t>
            </a:r>
          </a:p>
        </p:txBody>
      </p:sp>
      <p:sp>
        <p:nvSpPr>
          <p:cNvPr id="40" name="M03-detail">
            <a:extLst xmlns:a="http://schemas.openxmlformats.org/drawingml/2006/main">
              <a:ext uri="{FF2B5EF4-FFF2-40B4-BE49-F238E27FC236}">
                <a16:creationId xmlns:a16="http://schemas.microsoft.com/office/drawing/2014/main" id="{F923F265-6D79-4B50-9751-F2E8695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43625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OpenMetadata〔候选〕或自建 OceanBase 表 + 元数据服务</a:t>
            </a:r>
          </a:p>
          <a:p xmlns:a="http://schemas.openxmlformats.org/drawingml/2006/main">
            <a:pPr algn="l">
              <a:def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表与字段语义、实验条件、文件版本、来源血缘、质量与策略引用</a:t>
            </a:r>
          </a:p>
        </p:txBody>
      </p:sp>
      <p:sp>
        <p:nvSpPr>
          <p:cNvPr id="41" name="M06">
            <a:extLst xmlns:a="http://schemas.openxmlformats.org/drawingml/2006/main">
              <a:ext uri="{FF2B5EF4-FFF2-40B4-BE49-F238E27FC236}">
                <a16:creationId xmlns:a16="http://schemas.microsoft.com/office/drawing/2014/main" id="{62DDFBBB-6C46-449E-9D82-890CAA0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53075"/>
            <a:ext cx="2667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B"/>
          </a:solidFill>
          <a:ln xmlns:a="http://schemas.openxmlformats.org/drawingml/2006/main" w="14288">
            <a:solidFill>
              <a:srgbClr val="7253AF"/>
            </a:solidFill>
          </a:ln>
        </p:spPr>
      </p:sp>
      <p:sp>
        <p:nvSpPr>
          <p:cNvPr id="42" name="M06-title">
            <a:extLst xmlns:a="http://schemas.openxmlformats.org/drawingml/2006/main">
              <a:ext uri="{FF2B5EF4-FFF2-40B4-BE49-F238E27FC236}">
                <a16:creationId xmlns:a16="http://schemas.microsoft.com/office/drawing/2014/main" id="{73E53A55-D9C6-48AD-97DF-AAE34C97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483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M06 专家经验与</a:t>
            </a:r>
          </a:p>
          <a:p xmlns:a="http://schemas.openxmlformats.org/drawingml/2006/main">
            <a:pPr algn="l">
              <a:def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知识管理</a:t>
            </a:r>
          </a:p>
        </p:txBody>
      </p:sp>
      <p:sp>
        <p:nvSpPr>
          <p:cNvPr id="43" name="M06-detail">
            <a:extLst xmlns:a="http://schemas.openxmlformats.org/drawingml/2006/main">
              <a:ext uri="{FF2B5EF4-FFF2-40B4-BE49-F238E27FC236}">
                <a16:creationId xmlns:a16="http://schemas.microsoft.com/office/drawing/2014/main" id="{5D752674-61D8-433D-951D-29DF5FD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334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知识正文、来源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适用范围、专家审核</a:t>
            </a:r>
          </a:p>
        </p:txBody>
      </p:sp>
      <p:sp>
        <p:nvSpPr>
          <p:cNvPr id="44" name="M07">
            <a:extLst xmlns:a="http://schemas.openxmlformats.org/drawingml/2006/main">
              <a:ext uri="{FF2B5EF4-FFF2-40B4-BE49-F238E27FC236}">
                <a16:creationId xmlns:a16="http://schemas.microsoft.com/office/drawing/2014/main" id="{C3E140F1-1557-4EAF-AF08-8A67B86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53075"/>
            <a:ext cx="2667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B"/>
          </a:solidFill>
          <a:ln xmlns:a="http://schemas.openxmlformats.org/drawingml/2006/main" w="14288">
            <a:solidFill>
              <a:srgbClr val="7253AF"/>
            </a:solidFill>
          </a:ln>
        </p:spPr>
      </p:sp>
      <p:sp>
        <p:nvSpPr>
          <p:cNvPr id="45" name="M07-title">
            <a:extLst xmlns:a="http://schemas.openxmlformats.org/drawingml/2006/main">
              <a:ext uri="{FF2B5EF4-FFF2-40B4-BE49-F238E27FC236}">
                <a16:creationId xmlns:a16="http://schemas.microsoft.com/office/drawing/2014/main" id="{6A700EE9-98FE-45D7-9E12-77F393C9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6483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M07 Benchmark 与</a:t>
            </a:r>
          </a:p>
          <a:p xmlns:a="http://schemas.openxmlformats.org/drawingml/2006/main">
            <a:pPr algn="l">
              <a:def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反馈评测</a:t>
            </a:r>
          </a:p>
        </p:txBody>
      </p:sp>
      <p:sp>
        <p:nvSpPr>
          <p:cNvPr id="46" name="M07-detail">
            <a:extLst xmlns:a="http://schemas.openxmlformats.org/drawingml/2006/main">
              <a:ext uri="{FF2B5EF4-FFF2-40B4-BE49-F238E27FC236}">
                <a16:creationId xmlns:a16="http://schemas.microsoft.com/office/drawing/2014/main" id="{2993A31E-0A1D-4352-883A-5FA532F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334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冻结测试、版本对比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候选验收、评分规则</a:t>
            </a:r>
          </a:p>
        </p:txBody>
      </p:sp>
      <p:cxnSp>
        <p:nvCxnSpPr>
          <p:cNvPr id="133" name=""/>
          <p:cNvCxnSpPr>
            <a:stCxn xmlns:a="http://schemas.openxmlformats.org/drawingml/2006/main" id="23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5500688" y="5133975"/>
            <a:ext cx="28098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2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2811125" y="5133975"/>
            <a:ext cx="14763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28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11334750" y="5133975"/>
            <a:ext cx="14763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50" name="route-5-0">
            <a:extLst xmlns:a="http://schemas.openxmlformats.org/drawingml/2006/main">
              <a:ext uri="{FF2B5EF4-FFF2-40B4-BE49-F238E27FC236}">
                <a16:creationId xmlns:a16="http://schemas.microsoft.com/office/drawing/2014/main" id="{68627810-7DA0-41CA-8B7E-48B08F5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5-1">
            <a:extLst xmlns:a="http://schemas.openxmlformats.org/drawingml/2006/main">
              <a:ext uri="{FF2B5EF4-FFF2-40B4-BE49-F238E27FC236}">
                <a16:creationId xmlns:a16="http://schemas.microsoft.com/office/drawing/2014/main" id="{905FC4EA-91D3-41A8-B0B2-CEAC3F7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38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323975" y="2252663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</a:ln>
        </p:spPr>
      </p:cxnSp>
      <p:cxnSp>
        <p:nvCxnSpPr>
          <p:cNvPr id="139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319213" y="2257425"/>
            <a:ext cx="0" cy="398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</a:ln>
        </p:spPr>
      </p:cxnSp>
      <p:cxnSp>
        <p:nvCxnSpPr>
          <p:cNvPr id="140" name=""/>
          <p:cNvCxnSpPr>
            <a:stCxn xmlns:a="http://schemas.openxmlformats.org/drawingml/2006/main" id="51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323975" y="6243638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2668250" y="62436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56" name="unified-governance-link">
            <a:extLst xmlns:a="http://schemas.openxmlformats.org/drawingml/2006/main">
              <a:ext uri="{FF2B5EF4-FFF2-40B4-BE49-F238E27FC236}">
                <a16:creationId xmlns:a16="http://schemas.microsoft.com/office/drawing/2014/main" id="{5D65163D-8FEF-496D-8623-9D773C3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86625"/>
            <a:ext cx="14192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 w="14288">
            <a:solidFill>
              <a:srgbClr val="1268AE"/>
            </a:solidFill>
          </a:ln>
        </p:spPr>
      </p:sp>
      <p:sp>
        <p:nvSpPr>
          <p:cNvPr id="57" name="link-title">
            <a:extLst xmlns:a="http://schemas.openxmlformats.org/drawingml/2006/main">
              <a:ext uri="{FF2B5EF4-FFF2-40B4-BE49-F238E27FC236}">
                <a16:creationId xmlns:a16="http://schemas.microsoft.com/office/drawing/2014/main" id="{3C286871-7D0B-4E3B-82AA-E637EE5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24725"/>
            <a:ext cx="1381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统一关联与治理：asset_id、asset_version_id、agent_run_id、trace_id</a:t>
            </a:r>
          </a:p>
        </p:txBody>
      </p:sp>
      <p:sp>
        <p:nvSpPr>
          <p:cNvPr id="58" name="link-detail">
            <a:extLst xmlns:a="http://schemas.openxmlformats.org/drawingml/2006/main">
              <a:ext uri="{FF2B5EF4-FFF2-40B4-BE49-F238E27FC236}">
                <a16:creationId xmlns:a16="http://schemas.microsoft.com/office/drawing/2014/main" id="{619D0CE7-EDC0-4479-8B44-B62BAD8D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629525"/>
            <a:ext cx="1381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业务证据引用、知识审核状态、发布依赖由目录 / 业务服务维护，关键事件可靠登记与对账</a:t>
            </a:r>
          </a:p>
        </p:txBody>
      </p:sp>
      <p:cxnSp>
        <p:nvCxnSpPr>
          <p:cNvPr id="145" name=""/>
          <p:cNvCxnSpPr>
            <a:stCxn xmlns:a="http://schemas.openxmlformats.org/drawingml/2006/main" id="38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5500688" y="6934200"/>
            <a:ext cx="3024188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41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8524875" y="6934200"/>
            <a:ext cx="28098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4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8524875" y="6934200"/>
            <a:ext cx="57626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68AE"/>
            </a:solidFill>
            <a:prstDash val="dash"/>
            <a:tailEnd type="triangle" w="sm" len="sm"/>
          </a:ln>
        </p:spPr>
      </p:cxnSp>
      <p:sp>
        <p:nvSpPr>
          <p:cNvPr id="62" name="storage-layer">
            <a:extLst xmlns:a="http://schemas.openxmlformats.org/drawingml/2006/main">
              <a:ext uri="{FF2B5EF4-FFF2-40B4-BE49-F238E27FC236}">
                <a16:creationId xmlns:a16="http://schemas.microsoft.com/office/drawing/2014/main" id="{6D48DEAC-32A9-492F-A7F3-2B51619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29650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  <a:p xmlns:a="http://schemas.openxmlformats.org/drawingml/2006/main">
            <a:pPr algn="l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存储层</a:t>
            </a:r>
          </a:p>
        </p:txBody>
      </p:sp>
      <p:sp>
        <p:nvSpPr>
          <p:cNvPr id="63" name="business-data-title">
            <a:extLst xmlns:a="http://schemas.openxmlformats.org/drawingml/2006/main">
              <a:ext uri="{FF2B5EF4-FFF2-40B4-BE49-F238E27FC236}">
                <a16:creationId xmlns:a16="http://schemas.microsoft.com/office/drawing/2014/main" id="{A1B0C200-0AD4-4340-A6AF-25F14D8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58150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业务数据：现有原始内容 + 拟建版本副本与派生内容</a:t>
            </a:r>
          </a:p>
        </p:txBody>
      </p:sp>
      <p:sp>
        <p:nvSpPr>
          <p:cNvPr id="64" name="agent-data-title">
            <a:extLst xmlns:a="http://schemas.openxmlformats.org/drawingml/2006/main">
              <a:ext uri="{FF2B5EF4-FFF2-40B4-BE49-F238E27FC236}">
                <a16:creationId xmlns:a16="http://schemas.microsoft.com/office/drawing/2014/main" id="{3977A100-74AE-4A03-BF7A-0737BCF9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581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Agent 数据：运行详情 + Prompt + 反馈与评测</a:t>
            </a:r>
          </a:p>
        </p:txBody>
      </p:sp>
      <p:sp>
        <p:nvSpPr>
          <p:cNvPr id="65" name="structured-business-data">
            <a:extLst xmlns:a="http://schemas.openxmlformats.org/drawingml/2006/main">
              <a:ext uri="{FF2B5EF4-FFF2-40B4-BE49-F238E27FC236}">
                <a16:creationId xmlns:a16="http://schemas.microsoft.com/office/drawing/2014/main" id="{99331A06-4DCA-4C84-91D1-76808CF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477250"/>
            <a:ext cx="2524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66" name="structured-title">
            <a:extLst xmlns:a="http://schemas.openxmlformats.org/drawingml/2006/main">
              <a:ext uri="{FF2B5EF4-FFF2-40B4-BE49-F238E27FC236}">
                <a16:creationId xmlns:a16="http://schemas.microsoft.com/office/drawing/2014/main" id="{1155A556-D0E7-43B1-93BB-5045D96C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553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结构化实验数据</a:t>
            </a:r>
          </a:p>
        </p:txBody>
      </p:sp>
      <p:sp>
        <p:nvSpPr>
          <p:cNvPr id="67" name="structured-detail">
            <a:extLst xmlns:a="http://schemas.openxmlformats.org/drawingml/2006/main">
              <a:ext uri="{FF2B5EF4-FFF2-40B4-BE49-F238E27FC236}">
                <a16:creationId xmlns:a16="http://schemas.microsoft.com/office/drawing/2014/main" id="{4EEC744B-1454-4662-9CFC-B71D37D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915400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OceanBase〔现有〕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MySQL 兼容模式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实验明细 / 总表</a:t>
            </a:r>
          </a:p>
        </p:txBody>
      </p:sp>
      <p:sp>
        <p:nvSpPr>
          <p:cNvPr id="68" name="document-business-data">
            <a:extLst xmlns:a="http://schemas.openxmlformats.org/drawingml/2006/main">
              <a:ext uri="{FF2B5EF4-FFF2-40B4-BE49-F238E27FC236}">
                <a16:creationId xmlns:a16="http://schemas.microsoft.com/office/drawing/2014/main" id="{C71C7C53-0556-4349-BF71-E0AE0F3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477250"/>
            <a:ext cx="2524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69" name="document-title">
            <a:extLst xmlns:a="http://schemas.openxmlformats.org/drawingml/2006/main">
              <a:ext uri="{FF2B5EF4-FFF2-40B4-BE49-F238E27FC236}">
                <a16:creationId xmlns:a16="http://schemas.microsoft.com/office/drawing/2014/main" id="{01804E64-75FB-487C-AD26-9AFAA4A5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553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非结构化文档</a:t>
            </a:r>
          </a:p>
        </p:txBody>
      </p:sp>
      <p:sp>
        <p:nvSpPr>
          <p:cNvPr id="70" name="document-detail">
            <a:extLst xmlns:a="http://schemas.openxmlformats.org/drawingml/2006/main">
              <a:ext uri="{FF2B5EF4-FFF2-40B4-BE49-F238E27FC236}">
                <a16:creationId xmlns:a16="http://schemas.microsoft.com/office/drawing/2014/main" id="{E9CF1E55-8377-4FF5-9383-C510E75F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915400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NAS〔现有〕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PDF / Word / PPT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原件版本 / 证据片段</a:t>
            </a:r>
          </a:p>
        </p:txBody>
      </p:sp>
      <p:sp>
        <p:nvSpPr>
          <p:cNvPr id="71" name="multimodal-business-data">
            <a:extLst xmlns:a="http://schemas.openxmlformats.org/drawingml/2006/main">
              <a:ext uri="{FF2B5EF4-FFF2-40B4-BE49-F238E27FC236}">
                <a16:creationId xmlns:a16="http://schemas.microsoft.com/office/drawing/2014/main" id="{098DB22C-A826-4F94-A34D-EB2DD75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477250"/>
            <a:ext cx="2524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8D89"/>
            </a:solidFill>
          </a:ln>
        </p:spPr>
      </p:sp>
      <p:sp>
        <p:nvSpPr>
          <p:cNvPr id="72" name="multimodal-title">
            <a:extLst xmlns:a="http://schemas.openxmlformats.org/drawingml/2006/main">
              <a:ext uri="{FF2B5EF4-FFF2-40B4-BE49-F238E27FC236}">
                <a16:creationId xmlns:a16="http://schemas.microsoft.com/office/drawing/2014/main" id="{591B19AE-9175-40CB-8CD3-1D5C383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553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多模态数据</a:t>
            </a:r>
          </a:p>
        </p:txBody>
      </p:sp>
      <p:sp>
        <p:nvSpPr>
          <p:cNvPr id="73" name="multimodal-detail">
            <a:extLst xmlns:a="http://schemas.openxmlformats.org/drawingml/2006/main">
              <a:ext uri="{FF2B5EF4-FFF2-40B4-BE49-F238E27FC236}">
                <a16:creationId xmlns:a16="http://schemas.microsoft.com/office/drawing/2014/main" id="{886E95A6-E421-4739-AEA6-1AB3828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915400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图片 / 音频原件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OCR / ASR 派生结果</a:t>
            </a:r>
          </a:p>
          <a:p xmlns:a="http://schemas.openxmlformats.org/drawingml/2006/main">
            <a:pPr algn="l">
              <a:def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区域 / 时间段定位</a:t>
            </a:r>
          </a:p>
        </p:txBody>
      </p:sp>
      <p:sp>
        <p:nvSpPr>
          <p:cNvPr id="74" name="agent-runtime-data">
            <a:extLst xmlns:a="http://schemas.openxmlformats.org/drawingml/2006/main">
              <a:ext uri="{FF2B5EF4-FFF2-40B4-BE49-F238E27FC236}">
                <a16:creationId xmlns:a16="http://schemas.microsoft.com/office/drawing/2014/main" id="{01F9CB55-FCD1-463C-A2D5-4FB854D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77250"/>
            <a:ext cx="561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53AF"/>
            </a:solidFill>
          </a:ln>
        </p:spPr>
      </p:sp>
      <p:sp>
        <p:nvSpPr>
          <p:cNvPr id="75" name="agent-store-title">
            <a:extLst xmlns:a="http://schemas.openxmlformats.org/drawingml/2006/main">
              <a:ext uri="{FF2B5EF4-FFF2-40B4-BE49-F238E27FC236}">
                <a16:creationId xmlns:a16="http://schemas.microsoft.com/office/drawing/2014/main" id="{80EA8238-1B06-4FA6-A550-908FE24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8553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53AF"/>
                </a:solidFill>
                <a:latin typeface="Microsoft YaHei"/>
                <a:ea typeface="Microsoft YaHei"/>
                <a:cs typeface="Microsoft YaHei"/>
              </a:rPr>
              <a:t>Langfuse 专用后端〔随选型建设〕</a:t>
            </a:r>
          </a:p>
        </p:txBody>
      </p:sp>
      <p:sp>
        <p:nvSpPr>
          <p:cNvPr id="76" name="agent-store-detail">
            <a:extLst xmlns:a="http://schemas.openxmlformats.org/drawingml/2006/main">
              <a:ext uri="{FF2B5EF4-FFF2-40B4-BE49-F238E27FC236}">
                <a16:creationId xmlns:a16="http://schemas.microsoft.com/office/drawing/2014/main" id="{6ADA85DC-E520-4465-A4DD-A53B66B0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891540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PostgreSQL、ClickHouse、Redis/Valkey、S3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存储 Trace / Span、Prompt、评分和评测数据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知识正文与审核状态由平台内容库 / 目录维护</a:t>
            </a:r>
          </a:p>
        </p:txBody>
      </p:sp>
      <p:sp>
        <p:nvSpPr>
          <p:cNvPr id="77" name="M08">
            <a:extLst xmlns:a="http://schemas.openxmlformats.org/drawingml/2006/main">
              <a:ext uri="{FF2B5EF4-FFF2-40B4-BE49-F238E27FC236}">
                <a16:creationId xmlns:a16="http://schemas.microsoft.com/office/drawing/2014/main" id="{A970DA59-340F-4FB5-97AC-9AFC9702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752600"/>
            <a:ext cx="20002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 w="14288">
            <a:solidFill>
              <a:srgbClr val="1268AE"/>
            </a:solidFill>
          </a:ln>
        </p:spPr>
      </p:sp>
      <p:sp>
        <p:nvSpPr>
          <p:cNvPr id="78" name="M08-title">
            <a:extLst xmlns:a="http://schemas.openxmlformats.org/drawingml/2006/main">
              <a:ext uri="{FF2B5EF4-FFF2-40B4-BE49-F238E27FC236}">
                <a16:creationId xmlns:a16="http://schemas.microsoft.com/office/drawing/2014/main" id="{5698F3FF-1CB2-4293-9E0F-6559B1F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87642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M08 身份权限</a:t>
            </a:r>
          </a:p>
          <a:p xmlns:a="http://schemas.openxmlformats.org/drawingml/2006/main">
            <a:pPr algn="l">
              <a:def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与审计</a:t>
            </a:r>
          </a:p>
        </p:txBody>
      </p:sp>
      <p:sp>
        <p:nvSpPr>
          <p:cNvPr id="79" name="M08-detail">
            <a:extLst xmlns:a="http://schemas.openxmlformats.org/drawingml/2006/main">
              <a:ext uri="{FF2B5EF4-FFF2-40B4-BE49-F238E27FC236}">
                <a16:creationId xmlns:a16="http://schemas.microsoft.com/office/drawing/2014/main" id="{0BC8DB67-E56F-4412-A7AC-F180FA14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781300"/>
            <a:ext cx="1714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公司 AD 身份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项目与资产授权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查询 / 下载鉴权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证据与记忆授权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操作审计</a:t>
            </a:r>
          </a:p>
        </p:txBody>
      </p:sp>
      <p:sp>
        <p:nvSpPr>
          <p:cNvPr id="80" name="M10">
            <a:extLst xmlns:a="http://schemas.openxmlformats.org/drawingml/2006/main">
              <a:ext uri="{FF2B5EF4-FFF2-40B4-BE49-F238E27FC236}">
                <a16:creationId xmlns:a16="http://schemas.microsoft.com/office/drawing/2014/main" id="{FF776748-A03B-4826-AC41-F84E4FC5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553075"/>
            <a:ext cx="2000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 w="14288">
            <a:solidFill>
              <a:srgbClr val="1268AE"/>
            </a:solidFill>
          </a:ln>
        </p:spPr>
      </p:sp>
      <p:sp>
        <p:nvSpPr>
          <p:cNvPr id="81" name="M10-title">
            <a:extLst xmlns:a="http://schemas.openxmlformats.org/drawingml/2006/main">
              <a:ext uri="{FF2B5EF4-FFF2-40B4-BE49-F238E27FC236}">
                <a16:creationId xmlns:a16="http://schemas.microsoft.com/office/drawing/2014/main" id="{9B79415F-0C49-4101-BC5E-01D330B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6959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M10 平台运维</a:t>
            </a:r>
          </a:p>
          <a:p xmlns:a="http://schemas.openxmlformats.org/drawingml/2006/main">
            <a:pPr algn="l">
              <a:def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与资产版本</a:t>
            </a:r>
          </a:p>
        </p:txBody>
      </p:sp>
      <p:sp>
        <p:nvSpPr>
          <p:cNvPr id="82" name="M10-detail">
            <a:extLst xmlns:a="http://schemas.openxmlformats.org/drawingml/2006/main">
              <a:ext uri="{FF2B5EF4-FFF2-40B4-BE49-F238E27FC236}">
                <a16:creationId xmlns:a16="http://schemas.microsoft.com/office/drawing/2014/main" id="{F09F01AC-35DF-4363-A2CC-4222CDD0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657975"/>
            <a:ext cx="171450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任务与事件对账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备份与恢复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索引重建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修订与撤回传播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发布清单与回滚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代码 / 模型制品</a:t>
            </a:r>
          </a:p>
          <a:p xmlns:a="http://schemas.openxmlformats.org/drawingml/2006/main">
            <a:pPr algn="l">
              <a:def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B56"/>
                </a:solidFill>
                <a:latin typeface="Microsoft YaHei"/>
                <a:ea typeface="Microsoft YaHei"/>
                <a:cs typeface="Microsoft YaHei"/>
              </a:rPr>
              <a:t>后续进化扩展</a:t>
            </a:r>
          </a:p>
        </p:txBody>
      </p:sp>
      <p:sp>
        <p:nvSpPr>
          <p:cNvPr id="83" name="cross-cutting-label">
            <a:extLst xmlns:a="http://schemas.openxmlformats.org/drawingml/2006/main">
              <a:ext uri="{FF2B5EF4-FFF2-40B4-BE49-F238E27FC236}">
                <a16:creationId xmlns:a16="http://schemas.microsoft.com/office/drawing/2014/main" id="{C600C0AE-8264-4D1B-BFE9-B064F24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2006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8AE"/>
                </a:solidFill>
                <a:latin typeface="Microsoft YaHei"/>
                <a:ea typeface="Microsoft YaHei"/>
                <a:cs typeface="Microsoft YaHei"/>
              </a:rPr>
              <a:t>贯穿各层</a:t>
            </a:r>
          </a:p>
        </p:txBody>
      </p:sp>
      <p:sp>
        <p:nvSpPr>
          <p:cNvPr id="84" name="footer">
            <a:extLst xmlns:a="http://schemas.openxmlformats.org/drawingml/2006/main">
              <a:ext uri="{FF2B5EF4-FFF2-40B4-BE49-F238E27FC236}">
                <a16:creationId xmlns:a16="http://schemas.microsoft.com/office/drawing/2014/main" id="{424E7615-8075-4E7B-8D3C-F84CCCE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29800"/>
            <a:ext cx="1352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架构建议 v6.2 · 2026-10-06    元数据与来源记录待补建，组件兼容性和部署能力通过 PoC 验证</a:t>
            </a:r>
          </a:p>
        </p:txBody>
      </p:sp>
      <p:sp>
        <p:nvSpPr>
          <p:cNvPr id="85" name="footer-storage-note">
            <a:extLst xmlns:a="http://schemas.openxmlformats.org/drawingml/2006/main">
              <a:ext uri="{FF2B5EF4-FFF2-40B4-BE49-F238E27FC236}">
                <a16:creationId xmlns:a16="http://schemas.microsoft.com/office/drawing/2014/main" id="{E8E4B819-50C0-44FE-96BC-45C383D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67925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正式原件：受控 NAS 副本 / 私有 S3</a:t>
            </a:r>
          </a:p>
        </p:txBody>
      </p:sp>
      <p:sp>
        <p:nvSpPr>
          <p:cNvPr id="86" name="footer-alternative">
            <a:extLst xmlns:a="http://schemas.openxmlformats.org/drawingml/2006/main">
              <a:ext uri="{FF2B5EF4-FFF2-40B4-BE49-F238E27FC236}">
                <a16:creationId xmlns:a16="http://schemas.microsoft.com/office/drawing/2014/main" id="{3EFDB397-BEC1-47BD-A75B-F1FDEF4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0679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Phoenix 可作为 Agent 工作台替代候选</a:t>
            </a:r>
          </a:p>
        </p:txBody>
      </p:sp>
    </p:spTree>
    <p:extLst>
      <p:ext uri="{BB962C8B-B14F-4D97-AF65-F5344CB8AC3E}">
        <p14:creationId xmlns:p14="http://schemas.microsoft.com/office/powerpoint/2010/main" val="1001010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2026-10-06T06:36:36.4140000Z</dcterms:created>
  <dcterms:modified xsi:type="dcterms:W3CDTF">2026-10-06T06:36:36.4140000Z</dcterms:modified>
</coreProperties>
</file>