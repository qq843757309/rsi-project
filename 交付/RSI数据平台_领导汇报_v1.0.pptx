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b035f2e8884fa5" /><Relationship Type="http://schemas.openxmlformats.org/officeDocument/2006/relationships/extended-properties" Target="/docProps/app.xml" Id="R129eb64afe7b4aeb" /><Relationship Type="http://schemas.openxmlformats.org/officeDocument/2006/relationships/officeDocument" Target="/ppt/presentation.xml" Id="R481f2cf36dbc42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f91fe0e5d4423d"/>
  </p:sldMasterIdLst>
  <p:notesMasterIdLst>
    <p:notesMasterId xmlns:r="http://schemas.openxmlformats.org/officeDocument/2006/relationships" r:id="R23fd23939bc54dd3"/>
  </p:notesMasterIdLst>
  <p:sldIdLst>
    <p:sldId xmlns:r="http://schemas.openxmlformats.org/officeDocument/2006/relationships" id="256" r:id="Rae22ea57dd9d41cf"/>
    <p:sldId xmlns:r="http://schemas.openxmlformats.org/officeDocument/2006/relationships" id="257" r:id="R6034c188fe80431f"/>
    <p:sldId xmlns:r="http://schemas.openxmlformats.org/officeDocument/2006/relationships" id="258" r:id="R10f12d80e43144b5"/>
    <p:sldId xmlns:r="http://schemas.openxmlformats.org/officeDocument/2006/relationships" id="259" r:id="R83a60a74b3804860"/>
    <p:sldId xmlns:r="http://schemas.openxmlformats.org/officeDocument/2006/relationships" id="260" r:id="R0804d1491c374255"/>
    <p:sldId xmlns:r="http://schemas.openxmlformats.org/officeDocument/2006/relationships" id="261" r:id="Rd2936b055397470a"/>
    <p:sldId xmlns:r="http://schemas.openxmlformats.org/officeDocument/2006/relationships" id="262" r:id="R1ec2ea5c70ec4271"/>
    <p:sldId xmlns:r="http://schemas.openxmlformats.org/officeDocument/2006/relationships" id="263" r:id="Re3507e8ec1374623"/>
    <p:sldId xmlns:r="http://schemas.openxmlformats.org/officeDocument/2006/relationships" id="264" r:id="Rfc513968bf8941f4"/>
    <p:sldId xmlns:r="http://schemas.openxmlformats.org/officeDocument/2006/relationships" id="265" r:id="R0e4a7a45dc3845e5"/>
    <p:sldId xmlns:r="http://schemas.openxmlformats.org/officeDocument/2006/relationships" id="266" r:id="Rb4e15ecaf07f430c"/>
    <p:sldId xmlns:r="http://schemas.openxmlformats.org/officeDocument/2006/relationships" id="267" r:id="R0fe573782a864938"/>
    <p:sldId xmlns:r="http://schemas.openxmlformats.org/officeDocument/2006/relationships" id="268" r:id="R5597437536674dbb"/>
    <p:sldId xmlns:r="http://schemas.openxmlformats.org/officeDocument/2006/relationships" id="269" r:id="R583ea14b112f4c1c"/>
    <p:sldId xmlns:r="http://schemas.openxmlformats.org/officeDocument/2006/relationships" id="270" r:id="R8fa5e4e4a8454de6"/>
    <p:sldId xmlns:r="http://schemas.openxmlformats.org/officeDocument/2006/relationships" id="271" r:id="Rdc9f5f80db59421d"/>
    <p:sldId xmlns:r="http://schemas.openxmlformats.org/officeDocument/2006/relationships" id="272" r:id="Ree187d76a39d4ded"/>
    <p:sldId xmlns:r="http://schemas.openxmlformats.org/officeDocument/2006/relationships" id="273" r:id="R03d4c20aee2d46bc"/>
    <p:sldId xmlns:r="http://schemas.openxmlformats.org/officeDocument/2006/relationships" id="274" r:id="R3cc6d0e2531945b5"/>
    <p:sldId xmlns:r="http://schemas.openxmlformats.org/officeDocument/2006/relationships" id="275" r:id="Rae4bc17168d94ec2"/>
    <p:sldId xmlns:r="http://schemas.openxmlformats.org/officeDocument/2006/relationships" id="276" r:id="Rcfa5b6ffcef54c45"/>
    <p:sldId xmlns:r="http://schemas.openxmlformats.org/officeDocument/2006/relationships" id="277" r:id="R34f81938163040a3"/>
    <p:sldId xmlns:r="http://schemas.openxmlformats.org/officeDocument/2006/relationships" id="278" r:id="Re70f30904f614336"/>
    <p:sldId xmlns:r="http://schemas.openxmlformats.org/officeDocument/2006/relationships" id="279" r:id="R4cdc57f549894365"/>
    <p:sldId xmlns:r="http://schemas.openxmlformats.org/officeDocument/2006/relationships" id="280" r:id="Ra15d4304cf0041e5"/>
    <p:sldId xmlns:r="http://schemas.openxmlformats.org/officeDocument/2006/relationships" id="281" r:id="R2fdc28bc80d14f55"/>
    <p:sldId xmlns:r="http://schemas.openxmlformats.org/officeDocument/2006/relationships" id="282" r:id="R8709ff468fde46b1"/>
    <p:sldId xmlns:r="http://schemas.openxmlformats.org/officeDocument/2006/relationships" id="283" r:id="R5de6e65cf12d4c60"/>
    <p:sldId xmlns:r="http://schemas.openxmlformats.org/officeDocument/2006/relationships" id="284" r:id="R6d2e7be34e2549a7"/>
    <p:sldId xmlns:r="http://schemas.openxmlformats.org/officeDocument/2006/relationships" id="285" r:id="Rbe521a89b9a045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7c604e75984386" /><Relationship Type="http://schemas.openxmlformats.org/officeDocument/2006/relationships/slideMaster" Target="/ppt/slideMasters/slideMaster1.xml" Id="R31f91fe0e5d4423d" /><Relationship Type="http://schemas.openxmlformats.org/officeDocument/2006/relationships/notesMaster" Target="/ppt/notesMasters/notesMaster1.xml" Id="R23fd23939bc54dd3" /><Relationship Type="http://schemas.openxmlformats.org/officeDocument/2006/relationships/presProps" Target="/ppt/presProps.xml" Id="R10801ed1652142ee" /><Relationship Type="http://schemas.openxmlformats.org/officeDocument/2006/relationships/tableStyles" Target="/ppt/tableStyles.xml" Id="Rb7edde25be16421b" /><Relationship Type="http://schemas.openxmlformats.org/officeDocument/2006/relationships/slide" Target="/ppt/slides/slide1.xml" Id="Rae22ea57dd9d41cf" /><Relationship Type="http://schemas.openxmlformats.org/officeDocument/2006/relationships/slide" Target="/ppt/slides/slide2.xml" Id="R6034c188fe80431f" /><Relationship Type="http://schemas.openxmlformats.org/officeDocument/2006/relationships/slide" Target="/ppt/slides/slide3.xml" Id="R10f12d80e43144b5" /><Relationship Type="http://schemas.openxmlformats.org/officeDocument/2006/relationships/slide" Target="/ppt/slides/slide4.xml" Id="R83a60a74b3804860" /><Relationship Type="http://schemas.openxmlformats.org/officeDocument/2006/relationships/slide" Target="/ppt/slides/slide5.xml" Id="R0804d1491c374255" /><Relationship Type="http://schemas.openxmlformats.org/officeDocument/2006/relationships/slide" Target="/ppt/slides/slide6.xml" Id="Rd2936b055397470a" /><Relationship Type="http://schemas.openxmlformats.org/officeDocument/2006/relationships/slide" Target="/ppt/slides/slide7.xml" Id="R1ec2ea5c70ec4271" /><Relationship Type="http://schemas.openxmlformats.org/officeDocument/2006/relationships/slide" Target="/ppt/slides/slide8.xml" Id="Re3507e8ec1374623" /><Relationship Type="http://schemas.openxmlformats.org/officeDocument/2006/relationships/slide" Target="/ppt/slides/slide9.xml" Id="Rfc513968bf8941f4" /><Relationship Type="http://schemas.openxmlformats.org/officeDocument/2006/relationships/slide" Target="/ppt/slides/slide10.xml" Id="R0e4a7a45dc3845e5" /><Relationship Type="http://schemas.openxmlformats.org/officeDocument/2006/relationships/slide" Target="/ppt/slides/slide11.xml" Id="Rb4e15ecaf07f430c" /><Relationship Type="http://schemas.openxmlformats.org/officeDocument/2006/relationships/slide" Target="/ppt/slides/slide12.xml" Id="R0fe573782a864938" /><Relationship Type="http://schemas.openxmlformats.org/officeDocument/2006/relationships/slide" Target="/ppt/slides/slide13.xml" Id="R5597437536674dbb" /><Relationship Type="http://schemas.openxmlformats.org/officeDocument/2006/relationships/slide" Target="/ppt/slides/slide14.xml" Id="R583ea14b112f4c1c" /><Relationship Type="http://schemas.openxmlformats.org/officeDocument/2006/relationships/slide" Target="/ppt/slides/slide15.xml" Id="R8fa5e4e4a8454de6" /><Relationship Type="http://schemas.openxmlformats.org/officeDocument/2006/relationships/slide" Target="/ppt/slides/slide16.xml" Id="Rdc9f5f80db59421d" /><Relationship Type="http://schemas.openxmlformats.org/officeDocument/2006/relationships/slide" Target="/ppt/slides/slide17.xml" Id="Ree187d76a39d4ded" /><Relationship Type="http://schemas.openxmlformats.org/officeDocument/2006/relationships/slide" Target="/ppt/slides/slide18.xml" Id="R03d4c20aee2d46bc" /><Relationship Type="http://schemas.openxmlformats.org/officeDocument/2006/relationships/slide" Target="/ppt/slides/slide19.xml" Id="R3cc6d0e2531945b5" /><Relationship Type="http://schemas.openxmlformats.org/officeDocument/2006/relationships/slide" Target="/ppt/slides/slide20.xml" Id="Rae4bc17168d94ec2" /><Relationship Type="http://schemas.openxmlformats.org/officeDocument/2006/relationships/slide" Target="/ppt/slides/slide21.xml" Id="Rcfa5b6ffcef54c45" /><Relationship Type="http://schemas.openxmlformats.org/officeDocument/2006/relationships/slide" Target="/ppt/slides/slide22.xml" Id="R34f81938163040a3" /><Relationship Type="http://schemas.openxmlformats.org/officeDocument/2006/relationships/slide" Target="/ppt/slides/slide23.xml" Id="Re70f30904f614336" /><Relationship Type="http://schemas.openxmlformats.org/officeDocument/2006/relationships/slide" Target="/ppt/slides/slide24.xml" Id="R4cdc57f549894365" /><Relationship Type="http://schemas.openxmlformats.org/officeDocument/2006/relationships/slide" Target="/ppt/slides/slide25.xml" Id="Ra15d4304cf0041e5" /><Relationship Type="http://schemas.openxmlformats.org/officeDocument/2006/relationships/slide" Target="/ppt/slides/slide26.xml" Id="R2fdc28bc80d14f55" /><Relationship Type="http://schemas.openxmlformats.org/officeDocument/2006/relationships/slide" Target="/ppt/slides/slide27.xml" Id="R8709ff468fde46b1" /><Relationship Type="http://schemas.openxmlformats.org/officeDocument/2006/relationships/slide" Target="/ppt/slides/slide28.xml" Id="R5de6e65cf12d4c60" /><Relationship Type="http://schemas.openxmlformats.org/officeDocument/2006/relationships/slide" Target="/ppt/slides/slide29.xml" Id="R6d2e7be34e2549a7" /><Relationship Type="http://schemas.openxmlformats.org/officeDocument/2006/relationships/slide" Target="/ppt/slides/slide30.xml" Id="Rbe521a89b9a045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861716ce4e4d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a6051504944176" /><Relationship Type="http://schemas.openxmlformats.org/officeDocument/2006/relationships/notesMaster" Target="/ppt/notesMasters/notesMaster1.xml" Id="R5ac030a0a64541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2af2f9f3b24de3" /><Relationship Type="http://schemas.openxmlformats.org/officeDocument/2006/relationships/notesMaster" Target="/ppt/notesMasters/notesMaster1.xml" Id="R3155faf834c44a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f566d909314826" /><Relationship Type="http://schemas.openxmlformats.org/officeDocument/2006/relationships/notesMaster" Target="/ppt/notesMasters/notesMaster1.xml" Id="R217d0fa2a56d42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04dc0ab32a4031" /><Relationship Type="http://schemas.openxmlformats.org/officeDocument/2006/relationships/notesMaster" Target="/ppt/notesMasters/notesMaster1.xml" Id="R4604db7844d040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69d4c562414e59" /><Relationship Type="http://schemas.openxmlformats.org/officeDocument/2006/relationships/notesMaster" Target="/ppt/notesMasters/notesMaster1.xml" Id="R8b94080c01f24a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8c66790c414644" /><Relationship Type="http://schemas.openxmlformats.org/officeDocument/2006/relationships/notesMaster" Target="/ppt/notesMasters/notesMaster1.xml" Id="R3482203bb17047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666c99741449c6" /><Relationship Type="http://schemas.openxmlformats.org/officeDocument/2006/relationships/notesMaster" Target="/ppt/notesMasters/notesMaster1.xml" Id="R1947cc3ee6874d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b5a5c3238f4c75" /><Relationship Type="http://schemas.openxmlformats.org/officeDocument/2006/relationships/notesMaster" Target="/ppt/notesMasters/notesMaster1.xml" Id="R2b1bb4dc15414a4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8bdb7f2eb344ce" /><Relationship Type="http://schemas.openxmlformats.org/officeDocument/2006/relationships/notesMaster" Target="/ppt/notesMasters/notesMaster1.xml" Id="R2c6e362536e744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49e364e2714799" /><Relationship Type="http://schemas.openxmlformats.org/officeDocument/2006/relationships/notesMaster" Target="/ppt/notesMasters/notesMaster1.xml" Id="R67760dbd16c646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87c47a7fb147c1" /><Relationship Type="http://schemas.openxmlformats.org/officeDocument/2006/relationships/notesMaster" Target="/ppt/notesMasters/notesMaster1.xml" Id="R8a568001b6ef48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cac4cad5c549ad" /><Relationship Type="http://schemas.openxmlformats.org/officeDocument/2006/relationships/notesMaster" Target="/ppt/notesMasters/notesMaster1.xml" Id="R327a71d9c95a47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9337faf18e4eed" /><Relationship Type="http://schemas.openxmlformats.org/officeDocument/2006/relationships/notesMaster" Target="/ppt/notesMasters/notesMaster1.xml" Id="R69d8e8b8d7f449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c58c0a23e0d46e0" /><Relationship Type="http://schemas.openxmlformats.org/officeDocument/2006/relationships/notesMaster" Target="/ppt/notesMasters/notesMaster1.xml" Id="Re8b330e57cd94e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4f7c0b639a74bbd" /><Relationship Type="http://schemas.openxmlformats.org/officeDocument/2006/relationships/notesMaster" Target="/ppt/notesMasters/notesMaster1.xml" Id="R2879c0e7fda44a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5d0f18d5044aeb" /><Relationship Type="http://schemas.openxmlformats.org/officeDocument/2006/relationships/notesMaster" Target="/ppt/notesMasters/notesMaster1.xml" Id="R1d91fdef586c427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a729a05d924497" /><Relationship Type="http://schemas.openxmlformats.org/officeDocument/2006/relationships/notesMaster" Target="/ppt/notesMasters/notesMaster1.xml" Id="R2d3e00c1b9c1417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3f395e4ac37437b" /><Relationship Type="http://schemas.openxmlformats.org/officeDocument/2006/relationships/notesMaster" Target="/ppt/notesMasters/notesMaster1.xml" Id="Rd6567dc516a64b0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b7fa48b8bb4949" /><Relationship Type="http://schemas.openxmlformats.org/officeDocument/2006/relationships/notesMaster" Target="/ppt/notesMasters/notesMaster1.xml" Id="R57f52157c6ab436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724a96214446e9" /><Relationship Type="http://schemas.openxmlformats.org/officeDocument/2006/relationships/notesMaster" Target="/ppt/notesMasters/notesMaster1.xml" Id="R94b89cfd5dbf4a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71479dac064711" /><Relationship Type="http://schemas.openxmlformats.org/officeDocument/2006/relationships/notesMaster" Target="/ppt/notesMasters/notesMaster1.xml" Id="R446db55d724f416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a033fad4854246" /><Relationship Type="http://schemas.openxmlformats.org/officeDocument/2006/relationships/notesMaster" Target="/ppt/notesMasters/notesMaster1.xml" Id="R2deec6f8f3c7468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4681956650d40a7" /><Relationship Type="http://schemas.openxmlformats.org/officeDocument/2006/relationships/notesMaster" Target="/ppt/notesMasters/notesMaster1.xml" Id="Re828eea21429429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2b365ce9484e62" /><Relationship Type="http://schemas.openxmlformats.org/officeDocument/2006/relationships/notesMaster" Target="/ppt/notesMasters/notesMaster1.xml" Id="R821db635fa9c4ab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4674e5614c94df2" /><Relationship Type="http://schemas.openxmlformats.org/officeDocument/2006/relationships/notesMaster" Target="/ppt/notesMasters/notesMaster1.xml" Id="R282607e201c04c4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420c0e6613344a0" /><Relationship Type="http://schemas.openxmlformats.org/officeDocument/2006/relationships/notesMaster" Target="/ppt/notesMasters/notesMaster1.xml" Id="R2b2cac551970413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c262d88d859456b" /><Relationship Type="http://schemas.openxmlformats.org/officeDocument/2006/relationships/notesMaster" Target="/ppt/notesMasters/notesMaster1.xml" Id="R2273a2db09af472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bb9a27e51394d63" /><Relationship Type="http://schemas.openxmlformats.org/officeDocument/2006/relationships/notesMaster" Target="/ppt/notesMasters/notesMaster1.xml" Id="R40ecfb907bf1458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50c4403f0904893" /><Relationship Type="http://schemas.openxmlformats.org/officeDocument/2006/relationships/notesMaster" Target="/ppt/notesMasters/notesMaster1.xml" Id="Rf1c1268de8744b9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0070375994b4d59" /><Relationship Type="http://schemas.openxmlformats.org/officeDocument/2006/relationships/notesMaster" Target="/ppt/notesMasters/notesMaster1.xml" Id="Rc328f451187b44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公开资料定向调研，主要核查摘要和官方文档。</a:t>
            </a:r>
          </a:p>
          <a:p xmlns:a="http://schemas.openxmlformats.org/drawingml/2006/main">
            <a:r>
              <a:t>NOMAD: https://docs.nomad-lab.eu/howto/manage/gui/eln.html</a:t>
            </a:r>
          </a:p>
          <a:p xmlns:a="http://schemas.openxmlformats.org/drawingml/2006/main">
            <a:r>
              <a:t>AiiDA: https://arxiv.org/abs/2003.12476</a:t>
            </a:r>
          </a:p>
          <a:p xmlns:a="http://schemas.openxmlformats.org/drawingml/2006/main">
            <a:r>
              <a:t>AIMDL: https://hemi.jhu.edu/caimee/center-facilities/aimd-l/data-handling/</a:t>
            </a:r>
          </a:p>
          <a:p xmlns:a="http://schemas.openxmlformats.org/drawingml/2006/main">
            <a:r>
              <a:t>NIST: https://www.nist.gov/programs-projects/development-standards-support-modular-and-autonomous-laboratory-ecosystem</a:t>
            </a:r>
          </a:p>
          <a:p xmlns:a="http://schemas.openxmlformats.org/drawingml/2006/main">
            <a:r>
              <a:t>Reflexion: https://arxiv.org/abs/2303.11366</a:t>
            </a:r>
          </a:p>
          <a:p xmlns:a="http://schemas.openxmlformats.org/drawingml/2006/main">
            <a:r>
              <a:t>EvoDS: https://arxiv.org/abs/2606.03841</a:t>
            </a:r>
          </a:p>
          <a:p xmlns:a="http://schemas.openxmlformats.org/drawingml/2006/main">
            <a:r>
              <a:t>EvoMaster: https://arxiv.org/abs/2604.17406v5</a:t>
            </a:r>
          </a:p>
          <a:p xmlns:a="http://schemas.openxmlformats.org/drawingml/2006/main">
            <a:r>
              <a:t>MLflow: https://mlflow.org/docs/latest/genai/datasets/</a:t>
            </a:r>
          </a:p>
          <a:p xmlns:a="http://schemas.openxmlformats.org/drawingml/2006/main">
            <a:r>
              <a:t>OpenSearch: https://docs.opensearch.org/latest/vector-search/ai-search/hybrid-search/index/</a:t>
            </a:r>
          </a:p>
          <a:p xmlns:a="http://schemas.openxmlformats.org/drawingml/2006/main">
            <a:r>
              <a:t>Security: https://docs.opensearch.org/latest/security/access-control/document-level-security/</a:t>
            </a:r>
          </a:p>
          <a:p xmlns:a="http://schemas.openxmlformats.org/drawingml/2006/main">
            <a:r>
              <a:t>OB: https://www.oceanbase.com/docs/common-oceanbase-database-cn-1000000005283144</a:t>
            </a:r>
          </a:p>
          <a:p xmlns:a="http://schemas.openxmlformats.org/drawingml/2006/main">
            <a:r>
              <a:t>Drawio: https://www.drawio.com/docs/security/desktop-secure-diagrams/</a:t>
            </a:r>
          </a:p>
          <a:p xmlns:a="http://schemas.openxmlformats.org/drawingml/2006/main">
            <a:r>
              <a:t>EvoMaster 使用 v5，2026-09-10 修订。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设计建议。OpenSearch 混合检索能力参考：https://docs.opensearch.org/latest/vector-search/ai-search/hybrid-search/index/</a:t>
            </a:r>
          </a:p>
          <a:p xmlns:a="http://schemas.openxmlformats.org/drawingml/2006/main">
            <a:r>
              <a:t>文档权限参考：https://docs.opensearch.org/latest/security/access-control/document-level-security/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OceanBase 兼容模式官方参考：https://www.oceanbase.com/docs/common-oceanbase-database-cn-1000000005283144</a:t>
            </a:r>
          </a:p>
          <a:p xmlns:a="http://schemas.openxmlformats.org/drawingml/2006/main">
            <a:r>
              <a:t>OpenSearch 混合搜索：https://docs.opensearch.org/latest/vector-search/ai-search/hybrid-search/index/</a:t>
            </a:r>
          </a:p>
          <a:p xmlns:a="http://schemas.openxmlformats.org/drawingml/2006/main">
            <a:r>
              <a:t>文档权限：https://docs.opensearch.org/latest/security/access-control/document-level-security/</a:t>
            </a:r>
          </a:p>
          <a:p xmlns:a="http://schemas.openxmlformats.org/drawingml/2006/main">
            <a:r>
              <a:t>未完成任何组件的内部部署验证。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研究参考：https://arxiv.org/abs/2303.11366</a:t>
            </a:r>
          </a:p>
          <a:p xmlns:a="http://schemas.openxmlformats.org/drawingml/2006/main">
            <a:r>
              <a:t>https://arxiv.org/abs/2606.03841</a:t>
            </a:r>
          </a:p>
          <a:p xmlns:a="http://schemas.openxmlformats.org/drawingml/2006/main">
            <a:r>
              <a:t>https://arxiv.org/abs/2604.17406v5</a:t>
            </a:r>
          </a:p>
          <a:p xmlns:a="http://schemas.openxmlformats.org/drawingml/2006/main">
            <a:r>
              <a:t>设计分类，不代表 RSI 当前已有这些能力。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方案建议。公司现状来自用户 2026-10-03 的说明，未执行系统审计。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NOMAD: https://docs.nomad-lab.eu/howto/manage/gui/eln.html</a:t>
            </a:r>
          </a:p>
          <a:p xmlns:a="http://schemas.openxmlformats.org/drawingml/2006/main">
            <a:r>
              <a:t>AiiDA: https://arxiv.org/abs/2003.12476</a:t>
            </a:r>
          </a:p>
          <a:p xmlns:a="http://schemas.openxmlformats.org/drawingml/2006/main">
            <a:r>
              <a:t>AIMDL: https://hemi.jhu.edu/caimee/center-facilities/aimd-l/data-handling/</a:t>
            </a:r>
          </a:p>
          <a:p xmlns:a="http://schemas.openxmlformats.org/drawingml/2006/main">
            <a:r>
              <a:t>NIST: https://www.nist.gov/programs-projects/development-standards-support-modular-and-autonomous-laboratory-ecosystem</a:t>
            </a:r>
          </a:p>
          <a:p xmlns:a="http://schemas.openxmlformats.org/drawingml/2006/main">
            <a:r>
              <a:t>Reflexion: https://arxiv.org/abs/2303.11366</a:t>
            </a:r>
          </a:p>
          <a:p xmlns:a="http://schemas.openxmlformats.org/drawingml/2006/main">
            <a:r>
              <a:t>EvoDS: https://arxiv.org/abs/2606.03841</a:t>
            </a:r>
          </a:p>
          <a:p xmlns:a="http://schemas.openxmlformats.org/drawingml/2006/main">
            <a:r>
              <a:t>EvoMaster: https://arxiv.org/abs/2604.17406v5</a:t>
            </a:r>
          </a:p>
          <a:p xmlns:a="http://schemas.openxmlformats.org/drawingml/2006/main">
            <a:r>
              <a:t>MLflow: https://mlflow.org/docs/latest/genai/datasets/</a:t>
            </a:r>
          </a:p>
          <a:p xmlns:a="http://schemas.openxmlformats.org/drawingml/2006/main">
            <a:r>
              <a:t>OpenSearch: https://docs.opensearch.org/latest/vector-search/ai-search/hybrid-search/index/</a:t>
            </a:r>
          </a:p>
          <a:p xmlns:a="http://schemas.openxmlformats.org/drawingml/2006/main">
            <a:r>
              <a:t>Security: https://docs.opensearch.org/latest/security/access-control/document-level-security/</a:t>
            </a:r>
          </a:p>
          <a:p xmlns:a="http://schemas.openxmlformats.org/drawingml/2006/main">
            <a:r>
              <a:t>OB: https://www.oceanbase.com/docs/common-oceanbase-database-cn-1000000005283144</a:t>
            </a:r>
          </a:p>
          <a:p xmlns:a="http://schemas.openxmlformats.org/drawingml/2006/main">
            <a:r>
              <a:t>Drawio: https://www.drawio.com/docs/security/desktop-secure-diagrams/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962862bc544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cde3c05cc14f11" /><Relationship Type="http://schemas.openxmlformats.org/officeDocument/2006/relationships/slideLayout" Target="/ppt/slideLayouts/slideLayout1.xml" Id="R845fe736f6e5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5fe736f6e5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446121b774137" /><Relationship Type="http://schemas.openxmlformats.org/officeDocument/2006/relationships/notesSlide" Target="/ppt/notesSlides/notesSlide1.xml" Id="R116013e4d58a4f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909c1e3a84c0c" /><Relationship Type="http://schemas.openxmlformats.org/officeDocument/2006/relationships/notesSlide" Target="/ppt/notesSlides/notesSlide2.xml" Id="Rbcef4ca217f84f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464ce780b4d0c" /><Relationship Type="http://schemas.openxmlformats.org/officeDocument/2006/relationships/notesSlide" Target="/ppt/notesSlides/notesSlide3.xml" Id="Rd7329a3ab35d40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a40d82fdc42aa" /><Relationship Type="http://schemas.openxmlformats.org/officeDocument/2006/relationships/notesSlide" Target="/ppt/notesSlides/notesSlide4.xml" Id="R8b9bac8aa24f41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a223320db4f9f" /><Relationship Type="http://schemas.openxmlformats.org/officeDocument/2006/relationships/notesSlide" Target="/ppt/notesSlides/notesSlide5.xml" Id="R69c339c255ac4c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1fdf215a644712" /><Relationship Type="http://schemas.openxmlformats.org/officeDocument/2006/relationships/notesSlide" Target="/ppt/notesSlides/notesSlide6.xml" Id="Rc3f873beef634a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a80e693574f71" /><Relationship Type="http://schemas.openxmlformats.org/officeDocument/2006/relationships/notesSlide" Target="/ppt/notesSlides/notesSlide7.xml" Id="R68fac714ccea48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36fb96eeb4ffb" /><Relationship Type="http://schemas.openxmlformats.org/officeDocument/2006/relationships/notesSlide" Target="/ppt/notesSlides/notesSlide8.xml" Id="Rddf8ab9faa5e44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8f66db3c6470b" /><Relationship Type="http://schemas.openxmlformats.org/officeDocument/2006/relationships/notesSlide" Target="/ppt/notesSlides/notesSlide9.xml" Id="R17c638a7eccc44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cc63da9be4958" /><Relationship Type="http://schemas.openxmlformats.org/officeDocument/2006/relationships/notesSlide" Target="/ppt/notesSlides/notesSlide10.xml" Id="R40a7f148d83645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64290dc3e43f6" /><Relationship Type="http://schemas.openxmlformats.org/officeDocument/2006/relationships/notesSlide" Target="/ppt/notesSlides/notesSlide11.xml" Id="Rfd7022fb4ebc45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84745fccf4e73" /><Relationship Type="http://schemas.openxmlformats.org/officeDocument/2006/relationships/notesSlide" Target="/ppt/notesSlides/notesSlide12.xml" Id="R9f802cbe479e44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32387705b4274" /><Relationship Type="http://schemas.openxmlformats.org/officeDocument/2006/relationships/notesSlide" Target="/ppt/notesSlides/notesSlide13.xml" Id="R95f173524ea64f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38884c43e409e" /><Relationship Type="http://schemas.openxmlformats.org/officeDocument/2006/relationships/notesSlide" Target="/ppt/notesSlides/notesSlide14.xml" Id="R8fa9d0da3ed94e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3a6f6b20e49fb" /><Relationship Type="http://schemas.openxmlformats.org/officeDocument/2006/relationships/notesSlide" Target="/ppt/notesSlides/notesSlide15.xml" Id="Rbc8dcad5e5f34b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f3c4d07244a42" /><Relationship Type="http://schemas.openxmlformats.org/officeDocument/2006/relationships/notesSlide" Target="/ppt/notesSlides/notesSlide16.xml" Id="R0c7ed9ac59044c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85522b12f40a6" /><Relationship Type="http://schemas.openxmlformats.org/officeDocument/2006/relationships/notesSlide" Target="/ppt/notesSlides/notesSlide17.xml" Id="R1eb55e61078448a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ae4301dbf4c02" /><Relationship Type="http://schemas.openxmlformats.org/officeDocument/2006/relationships/notesSlide" Target="/ppt/notesSlides/notesSlide18.xml" Id="Rb2fce0ada8c94b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7afe02dd94c24" /><Relationship Type="http://schemas.openxmlformats.org/officeDocument/2006/relationships/notesSlide" Target="/ppt/notesSlides/notesSlide19.xml" Id="R51713626129e4f2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0a62eb3c148eb" /><Relationship Type="http://schemas.openxmlformats.org/officeDocument/2006/relationships/notesSlide" Target="/ppt/notesSlides/notesSlide20.xml" Id="R38b4e1375f9d43e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8ac5064614c39" /><Relationship Type="http://schemas.openxmlformats.org/officeDocument/2006/relationships/notesSlide" Target="/ppt/notesSlides/notesSlide21.xml" Id="R8becb6045ca84a3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5a4b6e00b4de5" /><Relationship Type="http://schemas.openxmlformats.org/officeDocument/2006/relationships/notesSlide" Target="/ppt/notesSlides/notesSlide22.xml" Id="R71486c28078b46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b31c121c844d2" /><Relationship Type="http://schemas.openxmlformats.org/officeDocument/2006/relationships/notesSlide" Target="/ppt/notesSlides/notesSlide23.xml" Id="R87685092060e4de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fae6ec76d4d97" /><Relationship Type="http://schemas.openxmlformats.org/officeDocument/2006/relationships/notesSlide" Target="/ppt/notesSlides/notesSlide24.xml" Id="Rc7834a7124bf42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1f631dcf2417e" /><Relationship Type="http://schemas.openxmlformats.org/officeDocument/2006/relationships/notesSlide" Target="/ppt/notesSlides/notesSlide25.xml" Id="Re15d08b4e15d472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61680e0b64636" /><Relationship Type="http://schemas.openxmlformats.org/officeDocument/2006/relationships/notesSlide" Target="/ppt/notesSlides/notesSlide26.xml" Id="R054db2f3649a4ed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e170951dc42bd" /><Relationship Type="http://schemas.openxmlformats.org/officeDocument/2006/relationships/notesSlide" Target="/ppt/notesSlides/notesSlide27.xml" Id="R5c6940c58e8448d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b6296651f49d7" /><Relationship Type="http://schemas.openxmlformats.org/officeDocument/2006/relationships/notesSlide" Target="/ppt/notesSlides/notesSlide28.xml" Id="Rb94872bcba744b3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18c56c3f94c92" /><Relationship Type="http://schemas.openxmlformats.org/officeDocument/2006/relationships/notesSlide" Target="/ppt/notesSlides/notesSlide29.xml" Id="R274a0d61c4ce4b3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d8bb8cb8d40db" /><Relationship Type="http://schemas.openxmlformats.org/officeDocument/2006/relationships/notesSlide" Target="/ppt/notesSlides/notesSlide30.xml" Id="R19c90e1c2f6443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SI 自进化 Agent 数据平台">
            <a:extLst xmlns:a="http://schemas.openxmlformats.org/drawingml/2006/main">
              <a:ext uri="{FF2B5EF4-FFF2-40B4-BE49-F238E27FC236}">
                <a16:creationId xmlns:a16="http://schemas.microsoft.com/office/drawing/2014/main" id="{28C2A20A-134F-4C00-8E2A-5272B43D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RSI 自进化 Agent 数据平台</a:t>
            </a:r>
          </a:p>
        </p:txBody>
      </p:sp>
      <p:sp>
        <p:nvSpPr>
          <p:cNvPr id="2" name="宁德时代香港研究院 · 内部架构决策讨论">
            <a:extLst xmlns:a="http://schemas.openxmlformats.org/drawingml/2006/main">
              <a:ext uri="{FF2B5EF4-FFF2-40B4-BE49-F238E27FC236}">
                <a16:creationId xmlns:a16="http://schemas.microsoft.com/office/drawing/2014/main" id="{EAFF17B0-3D90-496A-A66B-5DB0B0B4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宁德时代香港研究院 · 内部架构决策讨论</a:t>
            </a:r>
          </a:p>
        </p:txBody>
      </p:sp>
      <p:sp>
        <p:nvSpPr>
          <p:cNvPr id="3" name="01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FA727A10-27B8-40DD-B539-B069E0A8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01   RSI 数据平台架构讨论稿 · 2026-10-03</a:t>
            </a:r>
          </a:p>
        </p:txBody>
      </p:sp>
      <p:sp>
        <p:nvSpPr>
          <p:cNvPr id="4" name="一期：实验数据填报与自然语言统一查询">
            <a:extLst xmlns:a="http://schemas.openxmlformats.org/drawingml/2006/main">
              <a:ext uri="{FF2B5EF4-FFF2-40B4-BE49-F238E27FC236}">
                <a16:creationId xmlns:a16="http://schemas.microsoft.com/office/drawing/2014/main" id="{64927688-C0E1-48F9-AC3F-ABA3B20C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一期：实验数据填报与自然语言统一查询</a:t>
            </a:r>
          </a:p>
        </p:txBody>
      </p:sp>
      <p:sp>
        <p:nvSpPr>
          <p:cNvPr id="5" name="复用 OceanBase、公司 AD 和内网模型服务&#10;补齐文档资产管理">
            <a:extLst xmlns:a="http://schemas.openxmlformats.org/drawingml/2006/main">
              <a:ext uri="{FF2B5EF4-FFF2-40B4-BE49-F238E27FC236}">
                <a16:creationId xmlns:a16="http://schemas.microsoft.com/office/drawing/2014/main" id="{2C93A8FF-0651-4884-B166-3EB571F6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复用 OceanBase、公司 AD 和内网模型服务</a:t>
            </a:r>
          </a:p>
          <a:p xmlns:a="http://schemas.openxmlformats.org/drawingml/2006/main">
            <a:pPr algn="l">
              <a:defRPr sz="210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补齐文档资产管理、语义目录、受控查询及数据治理</a:t>
            </a:r>
          </a:p>
        </p:txBody>
      </p:sp>
      <p:sp>
        <p:nvSpPr>
          <p:cNvPr id="6" name="45 分钟汇报材料 · 架构建议与现状对比&#10;技术选型与部署容量需经内部">
            <a:extLst xmlns:a="http://schemas.openxmlformats.org/drawingml/2006/main">
              <a:ext uri="{FF2B5EF4-FFF2-40B4-BE49-F238E27FC236}">
                <a16:creationId xmlns:a16="http://schemas.microsoft.com/office/drawing/2014/main" id="{8B7A2F4A-2418-4796-9658-FDDDDC7C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45 分钟汇报材料 · 架构建议与现状对比</a:t>
            </a:r>
          </a:p>
          <a:p xmlns:a="http://schemas.openxmlformats.org/drawingml/2006/main">
            <a:pPr algn="l">
              <a:defRPr sz="157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技术选型与部署容量需经内部核查和 PoC 确认</a:t>
            </a:r>
          </a:p>
        </p:txBody>
      </p:sp>
    </p:spTree>
    <p:extLst>
      <p:ext uri="{BB962C8B-B14F-4D97-AF65-F5344CB8AC3E}">
        <p14:creationId xmlns:p14="http://schemas.microsoft.com/office/powerpoint/2010/main" val="1563937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一期建设范围">
            <a:extLst xmlns:a="http://schemas.openxmlformats.org/drawingml/2006/main">
              <a:ext uri="{FF2B5EF4-FFF2-40B4-BE49-F238E27FC236}">
                <a16:creationId xmlns:a16="http://schemas.microsoft.com/office/drawing/2014/main" id="{42D65922-FD66-4DA9-8C85-40C0D055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一期建设范围</a:t>
            </a:r>
          </a:p>
        </p:txBody>
      </p:sp>
      <p:sp>
        <p:nvSpPr>
          <p:cNvPr id="2" name="面向约 50 名试点用户，先将数据查得到、填得准、追得回">
            <a:extLst xmlns:a="http://schemas.openxmlformats.org/drawingml/2006/main">
              <a:ext uri="{FF2B5EF4-FFF2-40B4-BE49-F238E27FC236}">
                <a16:creationId xmlns:a16="http://schemas.microsoft.com/office/drawing/2014/main" id="{C8B56B59-B5EE-448C-8F3C-4B19BC8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面向约 50 名试点用户，先将数据查得到、填得准、追得回</a:t>
            </a:r>
          </a:p>
        </p:txBody>
      </p:sp>
      <p:sp>
        <p:nvSpPr>
          <p:cNvPr id="3" name="02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94586F4C-9870-4520-9013-EB8E4DD2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02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5095875"/>
                <a:gridCol w="4324350"/>
              </a:tblGrid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一期交付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后续扩展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数据入口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实验填报、Excel 导入、共享盘文档接入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更多仪器、仿真和其他团队数据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信息服务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自然语言查询结构化数据和文档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返回结果、查询口径与原始证据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科研推理、候选方案与实验规划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基础治理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 登录、项目权限、版本、审计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质量检查、备份和失败恢复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公司级运营与跨团队共享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进化支持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专家经验与查询 benchmark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记录用户反馈和查询版本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工具技能、科研策略与模型更新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8824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已知现状与待核实参数">
            <a:extLst xmlns:a="http://schemas.openxmlformats.org/drawingml/2006/main">
              <a:ext uri="{FF2B5EF4-FFF2-40B4-BE49-F238E27FC236}">
                <a16:creationId xmlns:a16="http://schemas.microsoft.com/office/drawing/2014/main" id="{E0ADD629-4A27-44E4-840E-7EC664BD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已知现状与待核实参数</a:t>
            </a:r>
          </a:p>
        </p:txBody>
      </p:sp>
      <p:sp>
        <p:nvSpPr>
          <p:cNvPr id="2" name="基础环境已确认，表结构与服务参数将在实施核查中补齐">
            <a:extLst xmlns:a="http://schemas.openxmlformats.org/drawingml/2006/main">
              <a:ext uri="{FF2B5EF4-FFF2-40B4-BE49-F238E27FC236}">
                <a16:creationId xmlns:a16="http://schemas.microsoft.com/office/drawing/2014/main" id="{43BE84AC-AD86-4C3C-914D-ABFF1D01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基础环境已确认，表结构与服务参数将在实施核查中补齐</a:t>
            </a:r>
          </a:p>
        </p:txBody>
      </p:sp>
      <p:sp>
        <p:nvSpPr>
          <p:cNvPr id="3" name="03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EDCF57D5-526C-43FA-9160-FA845EA1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03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676400"/>
          <a:ext xmlns:a="http://schemas.openxmlformats.org/drawingml/2006/main" cx="1108710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762375"/>
                <a:gridCol w="3990975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已确认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对架构的影响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仍需核实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OceanBase，MySQL 兼容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复用结构化底座和现有脚本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版本、表结构、脚本覆盖能力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3000 张独立明细表，少量总表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表目录、Schema 选择、汇总口径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表结构、批次/电芯关联键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PPT/PDF 与经验在共享盘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补齐原件、元数据和解析索引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文件数量、体量、更新频率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50 用户，AD 登录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接入身份，平台管理数据授权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 接入协议、组与项目映射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 LLM 和 embedding 可用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一期可提供自然语言与语义检索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接口、上下文、并发与资源限制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实验录入、知识库已有雏形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对接并明确平台责任边界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填报页面、知识库的既有接口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895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现有资产复用与新增能力">
            <a:extLst xmlns:a="http://schemas.openxmlformats.org/drawingml/2006/main">
              <a:ext uri="{FF2B5EF4-FFF2-40B4-BE49-F238E27FC236}">
                <a16:creationId xmlns:a16="http://schemas.microsoft.com/office/drawing/2014/main" id="{5B8E2F1E-08F3-40D3-AC41-367A2D2D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现有资产复用与新增能力</a:t>
            </a:r>
          </a:p>
        </p:txBody>
      </p:sp>
      <p:sp>
        <p:nvSpPr>
          <p:cNvPr id="2" name="现有能力继续使用，新建部分围绕统一查询补齐">
            <a:extLst xmlns:a="http://schemas.openxmlformats.org/drawingml/2006/main">
              <a:ext uri="{FF2B5EF4-FFF2-40B4-BE49-F238E27FC236}">
                <a16:creationId xmlns:a16="http://schemas.microsoft.com/office/drawing/2014/main" id="{FBADC414-36EA-400B-95C3-B780C35B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现有能力继续使用，新建部分围绕统一查询补齐</a:t>
            </a:r>
          </a:p>
        </p:txBody>
      </p:sp>
      <p:sp>
        <p:nvSpPr>
          <p:cNvPr id="3" name="04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8DA35B2F-920E-45C6-B3D3-2B49F011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04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476625"/>
                <a:gridCol w="494347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现有资产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复用方式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新增能力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Excel 入库脚本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保留已验证的入库逻辑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字段契约、导入批次、幂等、错误处理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OceanBase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业务数据权威源，受限写入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只读查询视图、表目录、语义映射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 AD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作为身份认证来源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角色、项目权限、服务账号与审计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内网模型服务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经统一模型网关调用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提示词、输入权限、版本及质量评测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共享盘与 Agent 雏形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保留来源并适配已有接口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原始文件管理、解析索引、统一数据服务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285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公开调研：可借鉴的数据平台能力">
            <a:extLst xmlns:a="http://schemas.openxmlformats.org/drawingml/2006/main">
              <a:ext uri="{FF2B5EF4-FFF2-40B4-BE49-F238E27FC236}">
                <a16:creationId xmlns:a16="http://schemas.microsoft.com/office/drawing/2014/main" id="{CAF9B58C-77BF-43E1-BF24-DEF72394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公开调研：可借鉴的数据平台能力</a:t>
            </a:r>
          </a:p>
        </p:txBody>
      </p:sp>
      <p:sp>
        <p:nvSpPr>
          <p:cNvPr id="2" name="各案例覆盖不同层面，研究收益不能直接当作公司研发收益">
            <a:extLst xmlns:a="http://schemas.openxmlformats.org/drawingml/2006/main">
              <a:ext uri="{FF2B5EF4-FFF2-40B4-BE49-F238E27FC236}">
                <a16:creationId xmlns:a16="http://schemas.microsoft.com/office/drawing/2014/main" id="{CC13D766-801D-49DF-8B09-AAC55F2F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各案例覆盖不同层面，研究收益不能直接当作公司研发收益</a:t>
            </a:r>
          </a:p>
        </p:txBody>
      </p:sp>
      <p:sp>
        <p:nvSpPr>
          <p:cNvPr id="3" name="05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A4997C50-2480-4750-92DC-AAE4DF31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05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3952875"/>
                <a:gridCol w="39433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公开案例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资料支持的能力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本项目采用方式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NOMAD / AiiDA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科学 Schema、ELN、工作流来源追踪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借鉴实体建模与原始证据关联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AIMD-L / NIST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样品历史、事件数据层、分层接口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为自动实验预留，不纳入一期控制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Reflexion / EvoDS / EvoMaster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反馈记忆、技能验证、跨研究保留证据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一期保存经验和任务版本，后期进化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MLflow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运行记录、反馈和评测数据集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构建查询 benchmark 与版本对比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OpenSearch / OceanBase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混合检索、权限能力 / 兼容模式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候选能力参考，具体方案经 PoC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520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一期功能与现状缺口">
            <a:extLst xmlns:a="http://schemas.openxmlformats.org/drawingml/2006/main">
              <a:ext uri="{FF2B5EF4-FFF2-40B4-BE49-F238E27FC236}">
                <a16:creationId xmlns:a16="http://schemas.microsoft.com/office/drawing/2014/main" id="{E0417A96-CB60-4902-987D-3202FDCC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一期功能与现状缺口</a:t>
            </a:r>
          </a:p>
        </p:txBody>
      </p:sp>
      <p:sp>
        <p:nvSpPr>
          <p:cNvPr id="2" name="现状未核实的功能进入核查清单，不直接计为缺失">
            <a:extLst xmlns:a="http://schemas.openxmlformats.org/drawingml/2006/main">
              <a:ext uri="{FF2B5EF4-FFF2-40B4-BE49-F238E27FC236}">
                <a16:creationId xmlns:a16="http://schemas.microsoft.com/office/drawing/2014/main" id="{4FD6DF87-4557-4EA5-9414-95D22EE9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现状未核实的功能进入核查清单，不直接计为缺失</a:t>
            </a:r>
          </a:p>
        </p:txBody>
      </p:sp>
      <p:sp>
        <p:nvSpPr>
          <p:cNvPr id="3" name="06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ECFEFCAA-E939-48EF-A694-95B8EE39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06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676400"/>
          <a:ext xmlns:a="http://schemas.openxmlformats.org/drawingml/2006/main" cx="11087100" cy="4200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3190875"/>
                <a:gridCol w="5086350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现状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一期动作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结构化数据与填报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已有入库与录入雏形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统一字段、校验、提交接口及记录版本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文档资产管理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共享盘存放，管理待建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原始存储、元数据目录、解析与索引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自然语言查询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具体实现待核实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意图路由、表选择、SQL 校验、证据检索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数据授权与审计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 可用，业务授权待核实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项目和字段权限，查询/下载/写入审计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经验与 benchmark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计划通过专家访谈建设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经验入知识库，隐藏评测答案隔离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质量与运维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现有覆盖能力待核实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任务状态、失败恢复、质量报告与备份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086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总体逻辑架构">
            <a:extLst xmlns:a="http://schemas.openxmlformats.org/drawingml/2006/main">
              <a:ext uri="{FF2B5EF4-FFF2-40B4-BE49-F238E27FC236}">
                <a16:creationId xmlns:a16="http://schemas.microsoft.com/office/drawing/2014/main" id="{0E9A1260-758A-41FB-8FA1-79CFE737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总体逻辑架构</a:t>
            </a:r>
          </a:p>
        </p:txBody>
      </p:sp>
      <p:sp>
        <p:nvSpPr>
          <p:cNvPr id="2" name="绿色为已知资产，蓝色为建议新增；逻辑模块可合并部署">
            <a:extLst xmlns:a="http://schemas.openxmlformats.org/drawingml/2006/main">
              <a:ext uri="{FF2B5EF4-FFF2-40B4-BE49-F238E27FC236}">
                <a16:creationId xmlns:a16="http://schemas.microsoft.com/office/drawing/2014/main" id="{6C3C3FCB-6356-479C-9F08-DAE7C875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绿色为已知资产，蓝色为建议新增；逻辑模块可合并部署</a:t>
            </a:r>
          </a:p>
        </p:txBody>
      </p:sp>
      <p:sp>
        <p:nvSpPr>
          <p:cNvPr id="3" name="07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4F80C272-B2FB-43D9-BFE2-6BBD4777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07   RSI 数据平台架构讨论稿 · 2026-10-03</a:t>
            </a:r>
          </a:p>
        </p:txBody>
      </p:sp>
      <p:sp>
        <p:nvSpPr>
          <p:cNvPr id="4" name="expert">
            <a:extLst xmlns:a="http://schemas.openxmlformats.org/drawingml/2006/main">
              <a:ext uri="{FF2B5EF4-FFF2-40B4-BE49-F238E27FC236}">
                <a16:creationId xmlns:a16="http://schemas.microsoft.com/office/drawing/2014/main" id="{673EB5EC-1CB5-4EF0-902B-00EDE31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266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化学专家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查询与填报页面</a:t>
            </a:r>
          </a:p>
        </p:txBody>
      </p:sp>
      <p:sp>
        <p:nvSpPr>
          <p:cNvPr id="5" name="agent">
            <a:extLst xmlns:a="http://schemas.openxmlformats.org/drawingml/2006/main">
              <a:ext uri="{FF2B5EF4-FFF2-40B4-BE49-F238E27FC236}">
                <a16:creationId xmlns:a16="http://schemas.microsoft.com/office/drawing/2014/main" id="{2F361002-E317-4ADD-AE6E-412473AC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2266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RSI Agent 雏形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录入与知识库接口</a:t>
            </a:r>
          </a:p>
        </p:txBody>
      </p:sp>
      <p:sp>
        <p:nvSpPr>
          <p:cNvPr id="6" name="files">
            <a:extLst xmlns:a="http://schemas.openxmlformats.org/drawingml/2006/main">
              <a:ext uri="{FF2B5EF4-FFF2-40B4-BE49-F238E27FC236}">
                <a16:creationId xmlns:a16="http://schemas.microsoft.com/office/drawing/2014/main" id="{A628C8D6-6B5C-47A2-BFE5-43A4EA92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2266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Excel / PPT / PDF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科研共享盘</a:t>
            </a:r>
          </a:p>
        </p:txBody>
      </p:sp>
      <p:sp>
        <p:nvSpPr>
          <p:cNvPr id="7" name="gateway">
            <a:extLst xmlns:a="http://schemas.openxmlformats.org/drawingml/2006/main">
              <a:ext uri="{FF2B5EF4-FFF2-40B4-BE49-F238E27FC236}">
                <a16:creationId xmlns:a16="http://schemas.microsoft.com/office/drawing/2014/main" id="{642FD0B8-943E-47AC-A7CB-1E57FD37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428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统一数据服务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认证授权、查询路由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填报提交、反馈与审计</a:t>
            </a:r>
          </a:p>
        </p:txBody>
      </p:sp>
      <p:sp>
        <p:nvSpPr>
          <p:cNvPr id="8" name="pipeline">
            <a:extLst xmlns:a="http://schemas.openxmlformats.org/drawingml/2006/main">
              <a:ext uri="{FF2B5EF4-FFF2-40B4-BE49-F238E27FC236}">
                <a16:creationId xmlns:a16="http://schemas.microsoft.com/office/drawing/2014/main" id="{1474A811-5C11-4F41-833E-F8AC2603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2428875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接入处理服务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既有脚本适配、解析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质量检查、索引任务</a:t>
            </a:r>
          </a:p>
        </p:txBody>
      </p:sp>
      <p:sp>
        <p:nvSpPr>
          <p:cNvPr id="9" name="query">
            <a:extLst xmlns:a="http://schemas.openxmlformats.org/drawingml/2006/main">
              <a:ext uri="{FF2B5EF4-FFF2-40B4-BE49-F238E27FC236}">
                <a16:creationId xmlns:a16="http://schemas.microsoft.com/office/drawing/2014/main" id="{199A3E14-43EC-454D-B8D9-D7DD87BE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62125"/>
            <a:ext cx="26479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受控 SQL + 文档检索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语义目录、来源定位</a:t>
            </a:r>
          </a:p>
        </p:txBody>
      </p:sp>
      <p:sp>
        <p:nvSpPr>
          <p:cNvPr id="10" name="ob">
            <a:extLst xmlns:a="http://schemas.openxmlformats.org/drawingml/2006/main">
              <a:ext uri="{FF2B5EF4-FFF2-40B4-BE49-F238E27FC236}">
                <a16:creationId xmlns:a16="http://schemas.microsoft.com/office/drawing/2014/main" id="{9B96453A-0540-4946-BFBE-0A04439B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64795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OceanBase（现有）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科学数据 / 管理元数据</a:t>
            </a:r>
          </a:p>
        </p:txBody>
      </p:sp>
      <p:sp>
        <p:nvSpPr>
          <p:cNvPr id="11" name="store">
            <a:extLst xmlns:a="http://schemas.openxmlformats.org/drawingml/2006/main">
              <a:ext uri="{FF2B5EF4-FFF2-40B4-BE49-F238E27FC236}">
                <a16:creationId xmlns:a16="http://schemas.microsoft.com/office/drawing/2014/main" id="{20004C54-D1D7-4B44-B875-E8AC176E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38600"/>
            <a:ext cx="2647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私有原始资产存储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文件版本 / 解析产物</a:t>
            </a:r>
          </a:p>
        </p:txBody>
      </p:sp>
      <p:sp>
        <p:nvSpPr>
          <p:cNvPr id="12" name="index">
            <a:extLst xmlns:a="http://schemas.openxmlformats.org/drawingml/2006/main">
              <a:ext uri="{FF2B5EF4-FFF2-40B4-BE49-F238E27FC236}">
                <a16:creationId xmlns:a16="http://schemas.microsoft.com/office/drawing/2014/main" id="{7219F77C-157A-4225-B707-1D375B02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00625"/>
            <a:ext cx="2647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搜索索引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全文 + 向量（可重建）</a:t>
            </a:r>
          </a:p>
        </p:txBody>
      </p:sp>
      <p:sp>
        <p:nvSpPr>
          <p:cNvPr id="13" name="ad">
            <a:extLst xmlns:a="http://schemas.openxmlformats.org/drawingml/2006/main">
              <a:ext uri="{FF2B5EF4-FFF2-40B4-BE49-F238E27FC236}">
                <a16:creationId xmlns:a16="http://schemas.microsoft.com/office/drawing/2014/main" id="{5FD751C2-23FD-4AF1-8580-F4D9F1B5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62125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公司 AD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身份认证</a:t>
            </a:r>
          </a:p>
        </p:txBody>
      </p:sp>
      <p:sp>
        <p:nvSpPr>
          <p:cNvPr id="14" name="models">
            <a:extLst xmlns:a="http://schemas.openxmlformats.org/drawingml/2006/main">
              <a:ext uri="{FF2B5EF4-FFF2-40B4-BE49-F238E27FC236}">
                <a16:creationId xmlns:a16="http://schemas.microsoft.com/office/drawing/2014/main" id="{86382933-CF58-4949-B97B-47501FBC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86075"/>
            <a:ext cx="2095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内网 LLM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embedding 服务</a:t>
            </a:r>
          </a:p>
        </p:txBody>
      </p:sp>
      <p:sp>
        <p:nvSpPr>
          <p:cNvPr id="15" name="ops">
            <a:extLst xmlns:a="http://schemas.openxmlformats.org/drawingml/2006/main">
              <a:ext uri="{FF2B5EF4-FFF2-40B4-BE49-F238E27FC236}">
                <a16:creationId xmlns:a16="http://schemas.microsoft.com/office/drawing/2014/main" id="{5B74C20E-AE06-402B-8BCB-F535F15F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91000"/>
            <a:ext cx="2095500" cy="1514475"/>
          </a:xfrm>
          <a:prstGeom xmlns:a="http://schemas.openxmlformats.org/drawingml/2006/main" prst="roundRect">
            <a:avLst>
              <a:gd name="adj" fmla="val 5031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横向治理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权限与版本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审计、质量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监控与恢复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86075" y="2114550"/>
            <a:ext cx="542925" cy="481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886075" y="2595563"/>
            <a:ext cx="542925" cy="4810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86075" y="4057650"/>
            <a:ext cx="542925" cy="4143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857875" y="2171700"/>
            <a:ext cx="476250" cy="423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5857875" y="3376613"/>
            <a:ext cx="476250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5857875" y="4391025"/>
            <a:ext cx="476250" cy="809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57875" y="4471988"/>
            <a:ext cx="476250" cy="881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658100" y="2581275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982075" y="2171700"/>
            <a:ext cx="485775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2" idx="3"/>
          </p:cNvCxnSpPr>
          <p:nvPr/>
        </p:nvCxnSpPr>
        <p:spPr>
          <a:xfrm xmlns:a="http://schemas.openxmlformats.org/drawingml/2006/main">
            <a:off x="8982075" y="2171700"/>
            <a:ext cx="228600" cy="3181350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sp>
        <p:nvSpPr>
          <p:cNvPr id="26" name="数据服务对接 AD。治理覆盖各层。OceanBase 管业务值，存储保">
            <a:extLst xmlns:a="http://schemas.openxmlformats.org/drawingml/2006/main">
              <a:ext uri="{FF2B5EF4-FFF2-40B4-BE49-F238E27FC236}">
                <a16:creationId xmlns:a16="http://schemas.microsoft.com/office/drawing/2014/main" id="{545D05EB-B6C2-4E8A-8F60-0B78CDE2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数据服务对接 AD。治理覆盖各层。OceanBase 管业务值，存储保留原件，索引可重建。</a:t>
            </a:r>
          </a:p>
        </p:txBody>
      </p:sp>
    </p:spTree>
    <p:extLst>
      <p:ext uri="{BB962C8B-B14F-4D97-AF65-F5344CB8AC3E}">
        <p14:creationId xmlns:p14="http://schemas.microsoft.com/office/powerpoint/2010/main" val="250420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私有化部署与网络边界">
            <a:extLst xmlns:a="http://schemas.openxmlformats.org/drawingml/2006/main">
              <a:ext uri="{FF2B5EF4-FFF2-40B4-BE49-F238E27FC236}">
                <a16:creationId xmlns:a16="http://schemas.microsoft.com/office/drawing/2014/main" id="{D21A015C-F1B3-470C-8FA3-4006297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私有化部署与网络边界</a:t>
            </a:r>
          </a:p>
        </p:txBody>
      </p:sp>
      <p:sp>
        <p:nvSpPr>
          <p:cNvPr id="2" name="所有生产数据处理、模型调用和文件管理均在内网">
            <a:extLst xmlns:a="http://schemas.openxmlformats.org/drawingml/2006/main">
              <a:ext uri="{FF2B5EF4-FFF2-40B4-BE49-F238E27FC236}">
                <a16:creationId xmlns:a16="http://schemas.microsoft.com/office/drawing/2014/main" id="{426AA89C-D926-45E1-98C1-5C6E3496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所有生产数据处理、模型调用和文件管理均在内网</a:t>
            </a:r>
          </a:p>
        </p:txBody>
      </p:sp>
      <p:sp>
        <p:nvSpPr>
          <p:cNvPr id="3" name="08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A019FC8B-8797-4AB6-BFD8-CFD75577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08   RSI 数据平台架构讨论稿 · 2026-10-03</a:t>
            </a:r>
          </a:p>
        </p:txBody>
      </p:sp>
      <p:sp>
        <p:nvSpPr>
          <p:cNvPr id="4" name="clients">
            <a:extLst xmlns:a="http://schemas.openxmlformats.org/drawingml/2006/main">
              <a:ext uri="{FF2B5EF4-FFF2-40B4-BE49-F238E27FC236}">
                <a16:creationId xmlns:a16="http://schemas.microsoft.com/office/drawing/2014/main" id="{88F071F3-B104-4E44-85C7-23CCDDAD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333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用户浏览器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约 50 名试点用户</a:t>
            </a:r>
          </a:p>
        </p:txBody>
      </p:sp>
      <p:sp>
        <p:nvSpPr>
          <p:cNvPr id="5" name="service">
            <a:extLst xmlns:a="http://schemas.openxmlformats.org/drawingml/2006/main">
              <a:ext uri="{FF2B5EF4-FFF2-40B4-BE49-F238E27FC236}">
                <a16:creationId xmlns:a16="http://schemas.microsoft.com/office/drawing/2014/main" id="{B2FC3744-B2D5-4392-9990-8CE0135C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应用与服务区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查询、填报、模型网关</a:t>
            </a:r>
          </a:p>
        </p:txBody>
      </p:sp>
      <p:sp>
        <p:nvSpPr>
          <p:cNvPr id="6" name="data">
            <a:extLst xmlns:a="http://schemas.openxmlformats.org/drawingml/2006/main">
              <a:ext uri="{FF2B5EF4-FFF2-40B4-BE49-F238E27FC236}">
                <a16:creationId xmlns:a16="http://schemas.microsoft.com/office/drawing/2014/main" id="{9F63D67E-C9CF-425B-8EA3-414EE34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95500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数据服务区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OceanBase / 原始存储 / 搜索</a:t>
            </a:r>
          </a:p>
        </p:txBody>
      </p:sp>
      <p:sp>
        <p:nvSpPr>
          <p:cNvPr id="7" name="AD">
            <a:extLst xmlns:a="http://schemas.openxmlformats.org/drawingml/2006/main">
              <a:ext uri="{FF2B5EF4-FFF2-40B4-BE49-F238E27FC236}">
                <a16:creationId xmlns:a16="http://schemas.microsoft.com/office/drawing/2014/main" id="{FEF2B9CF-D447-42BA-BD63-9C3A9221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23336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公司 AD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身份服务</a:t>
            </a:r>
          </a:p>
        </p:txBody>
      </p:sp>
      <p:sp>
        <p:nvSpPr>
          <p:cNvPr id="8" name="worker">
            <a:extLst xmlns:a="http://schemas.openxmlformats.org/drawingml/2006/main">
              <a:ext uri="{FF2B5EF4-FFF2-40B4-BE49-F238E27FC236}">
                <a16:creationId xmlns:a16="http://schemas.microsoft.com/office/drawing/2014/main" id="{C3BAA7FB-E6A1-481F-AFB9-BBB11450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33875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后台处理服务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导入、解析、质检、索引</a:t>
            </a:r>
          </a:p>
        </p:txBody>
      </p:sp>
      <p:sp>
        <p:nvSpPr>
          <p:cNvPr id="9" name="LLM">
            <a:extLst xmlns:a="http://schemas.openxmlformats.org/drawingml/2006/main">
              <a:ext uri="{FF2B5EF4-FFF2-40B4-BE49-F238E27FC236}">
                <a16:creationId xmlns:a16="http://schemas.microsoft.com/office/drawing/2014/main" id="{C760B4B9-AFE3-414E-9D94-B9DB1638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内网模型服务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LLM / embedding</a:t>
            </a:r>
          </a:p>
        </p:txBody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95625" y="2571750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77050" y="2571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5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095625" y="3048000"/>
            <a:ext cx="2257425" cy="1762125"/>
          </a:xfrm>
          <a:prstGeom xmlns:a="http://schemas.openxmlformats.org/drawingml/2006/main" prst="bentConnector5">
            <a:avLst>
              <a:gd name="adj1" fmla="val 0"/>
              <a:gd name="adj2" fmla="val 12973"/>
              <a:gd name="adj3" fmla="val 89873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877050" y="2571750"/>
            <a:ext cx="762000" cy="2238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353050" y="3048000"/>
            <a:ext cx="400050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sp>
        <p:nvSpPr>
          <p:cNvPr id="15" name="示意为逻辑安全分区。节点数、HA、证书和容量按内部标准与负载测试确定，">
            <a:extLst xmlns:a="http://schemas.openxmlformats.org/drawingml/2006/main">
              <a:ext uri="{FF2B5EF4-FFF2-40B4-BE49-F238E27FC236}">
                <a16:creationId xmlns:a16="http://schemas.microsoft.com/office/drawing/2014/main" id="{8A2BD69B-3700-4BDA-A938-B04DA52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示意为逻辑安全分区。节点数、HA、证书和容量按内部标准与负载测试确定，生产运行不依赖外网。</a:t>
            </a:r>
          </a:p>
        </p:txBody>
      </p:sp>
    </p:spTree>
    <p:extLst>
      <p:ext uri="{BB962C8B-B14F-4D97-AF65-F5344CB8AC3E}">
        <p14:creationId xmlns:p14="http://schemas.microsoft.com/office/powerpoint/2010/main" val="11623788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约 3000 张实验表的目录与语义层">
            <a:extLst xmlns:a="http://schemas.openxmlformats.org/drawingml/2006/main">
              <a:ext uri="{FF2B5EF4-FFF2-40B4-BE49-F238E27FC236}">
                <a16:creationId xmlns:a16="http://schemas.microsoft.com/office/drawing/2014/main" id="{130C0DE5-C1CA-4B77-B9EA-BFE36D4F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约 3000 张实验表的目录与语义层</a:t>
            </a:r>
          </a:p>
        </p:txBody>
      </p:sp>
      <p:sp>
        <p:nvSpPr>
          <p:cNvPr id="2" name="已确认是 OceanBase 独立数据库表，另有少量按电芯批次填报的实">
            <a:extLst xmlns:a="http://schemas.openxmlformats.org/drawingml/2006/main">
              <a:ext uri="{FF2B5EF4-FFF2-40B4-BE49-F238E27FC236}">
                <a16:creationId xmlns:a16="http://schemas.microsoft.com/office/drawing/2014/main" id="{6F7557D5-CFBD-494C-9E6B-542CBAA7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已确认是 OceanBase 独立数据库表，另有少量按电芯批次填报的实验汇总表</a:t>
            </a:r>
          </a:p>
        </p:txBody>
      </p:sp>
      <p:sp>
        <p:nvSpPr>
          <p:cNvPr id="3" name="09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C8495318-9B82-4D75-97E1-C9D731DD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09   RSI 数据平台架构讨论稿 · 2026-10-03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E4A55012-CFA4-45E0-9EA5-683D6E09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表目录：先知道有哪些数据">
            <a:extLst xmlns:a="http://schemas.openxmlformats.org/drawingml/2006/main">
              <a:ext uri="{FF2B5EF4-FFF2-40B4-BE49-F238E27FC236}">
                <a16:creationId xmlns:a16="http://schemas.microsoft.com/office/drawing/2014/main" id="{DB85A898-BB0A-4152-91A6-B3D8C016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288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表目录：先知道有哪些数据</a:t>
            </a:r>
          </a:p>
        </p:txBody>
      </p:sp>
      <p:sp>
        <p:nvSpPr>
          <p:cNvPr id="6" name="登记业务主题、负责人、字段释义、时间范围、权限、数据质量和更新状态。">
            <a:extLst xmlns:a="http://schemas.openxmlformats.org/drawingml/2006/main">
              <a:ext uri="{FF2B5EF4-FFF2-40B4-BE49-F238E27FC236}">
                <a16:creationId xmlns:a16="http://schemas.microsoft.com/office/drawing/2014/main" id="{EAF3B543-ABC1-40C0-B7CF-9A48B24A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383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登记业务主题、负责人、字段释义、时间范围、权限、数据质量和更新状态。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28969495-22C8-44BC-BADA-719924CA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业务语义：统一用户说法与查询口径">
            <a:extLst xmlns:a="http://schemas.openxmlformats.org/drawingml/2006/main">
              <a:ext uri="{FF2B5EF4-FFF2-40B4-BE49-F238E27FC236}">
                <a16:creationId xmlns:a16="http://schemas.microsoft.com/office/drawing/2014/main" id="{14327941-28B1-43D3-ADEC-E435F4EA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03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业务语义：统一用户说法与查询口径</a:t>
            </a:r>
          </a:p>
        </p:txBody>
      </p:sp>
      <p:sp>
        <p:nvSpPr>
          <p:cNvPr id="9" name="定义同义词、指标计算、单位、时间字段、可用关联键及获准查询视图。">
            <a:extLst xmlns:a="http://schemas.openxmlformats.org/drawingml/2006/main">
              <a:ext uri="{FF2B5EF4-FFF2-40B4-BE49-F238E27FC236}">
                <a16:creationId xmlns:a16="http://schemas.microsoft.com/office/drawing/2014/main" id="{9C918772-5F76-4743-B800-CAFA640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99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定义同义词、指标计算、单位、时间字段、可用关联键及获准查询视图。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1B8AA12D-91BE-498D-9015-D2CF11E9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候选表选择：逐步缩小模型输入">
            <a:extLst xmlns:a="http://schemas.openxmlformats.org/drawingml/2006/main">
              <a:ext uri="{FF2B5EF4-FFF2-40B4-BE49-F238E27FC236}">
                <a16:creationId xmlns:a16="http://schemas.microsoft.com/office/drawing/2014/main" id="{98D0B1A3-2645-4AF9-B33F-4454C8B7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候选表选择：逐步缩小模型输入</a:t>
            </a:r>
          </a:p>
        </p:txBody>
      </p:sp>
      <p:sp>
        <p:nvSpPr>
          <p:cNvPr id="12" name="先筛选项目权限与业务主题，再检索相关 Schema，送入必要的字段和关">
            <a:extLst xmlns:a="http://schemas.openxmlformats.org/drawingml/2006/main">
              <a:ext uri="{FF2B5EF4-FFF2-40B4-BE49-F238E27FC236}">
                <a16:creationId xmlns:a16="http://schemas.microsoft.com/office/drawing/2014/main" id="{FD70493E-24BF-4EBB-857F-AA92521D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814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先筛选项目权限与业务主题，再检索相关 Schema，送入必要的字段和关联。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FC44BD27-0270-4817-A0B8-323C897E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表结构演进：逐步规范，避免全量先改造">
            <a:extLst xmlns:a="http://schemas.openxmlformats.org/drawingml/2006/main">
              <a:ext uri="{FF2B5EF4-FFF2-40B4-BE49-F238E27FC236}">
                <a16:creationId xmlns:a16="http://schemas.microsoft.com/office/drawing/2014/main" id="{569B4BFE-F11D-4D96-9A44-215CE99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434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表结构演进：逐步规范，避免全量先改造</a:t>
            </a:r>
          </a:p>
        </p:txBody>
      </p:sp>
      <p:sp>
        <p:nvSpPr>
          <p:cNvPr id="15" name="若存在一实验一表，先通过视图统一访问，后评估按实验类型建立标准明细表。">
            <a:extLst xmlns:a="http://schemas.openxmlformats.org/drawingml/2006/main">
              <a:ext uri="{FF2B5EF4-FFF2-40B4-BE49-F238E27FC236}">
                <a16:creationId xmlns:a16="http://schemas.microsoft.com/office/drawing/2014/main" id="{9FB3C5B0-6930-4928-A863-92EFE32B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530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若存在一实验一表，先通过视图统一访问，后评估按实验类型建立标准明细表。</a:t>
            </a:r>
          </a:p>
        </p:txBody>
      </p:sp>
      <p:sp>
        <p:nvSpPr>
          <p:cNvPr id="16" name="避免将全部 Schema 一次交给模型。语义层中的定义由数据负责人确认">
            <a:extLst xmlns:a="http://schemas.openxmlformats.org/drawingml/2006/main">
              <a:ext uri="{FF2B5EF4-FFF2-40B4-BE49-F238E27FC236}">
                <a16:creationId xmlns:a16="http://schemas.microsoft.com/office/drawing/2014/main" id="{3DB5174B-49D6-48A3-9294-F16934B9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避免将全部 Schema 一次交给模型。语义层中的定义由数据负责人确认，SQL 只使用已发布视图。</a:t>
            </a:r>
          </a:p>
        </p:txBody>
      </p:sp>
    </p:spTree>
    <p:extLst>
      <p:ext uri="{BB962C8B-B14F-4D97-AF65-F5344CB8AC3E}">
        <p14:creationId xmlns:p14="http://schemas.microsoft.com/office/powerpoint/2010/main" val="21284962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实验填报与结构化入库数据流">
            <a:extLst xmlns:a="http://schemas.openxmlformats.org/drawingml/2006/main">
              <a:ext uri="{FF2B5EF4-FFF2-40B4-BE49-F238E27FC236}">
                <a16:creationId xmlns:a16="http://schemas.microsoft.com/office/drawing/2014/main" id="{7B9ED2B4-552F-4550-90C6-9DBA892B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实验填报与结构化入库数据流</a:t>
            </a:r>
          </a:p>
        </p:txBody>
      </p:sp>
      <p:sp>
        <p:nvSpPr>
          <p:cNvPr id="2" name="人工填报与现有 Excel 脚本复用同一份字段契约">
            <a:extLst xmlns:a="http://schemas.openxmlformats.org/drawingml/2006/main">
              <a:ext uri="{FF2B5EF4-FFF2-40B4-BE49-F238E27FC236}">
                <a16:creationId xmlns:a16="http://schemas.microsoft.com/office/drawing/2014/main" id="{02A1240A-AAC4-4CCE-9A66-468AB7D9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人工填报与现有 Excel 脚本复用同一份字段契约</a:t>
            </a:r>
          </a:p>
        </p:txBody>
      </p:sp>
      <p:sp>
        <p:nvSpPr>
          <p:cNvPr id="3" name="10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2960F835-A05E-42FA-8F8E-3F0B7703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10   RSI 数据平台架构讨论稿 · 2026-10-03</a:t>
            </a:r>
          </a:p>
        </p:txBody>
      </p:sp>
      <p:sp>
        <p:nvSpPr>
          <p:cNvPr id="4" name="form">
            <a:extLst xmlns:a="http://schemas.openxmlformats.org/drawingml/2006/main">
              <a:ext uri="{FF2B5EF4-FFF2-40B4-BE49-F238E27FC236}">
                <a16:creationId xmlns:a16="http://schemas.microsoft.com/office/drawing/2014/main" id="{D967113F-C0F8-46FA-9F21-D971E212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2619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专家 / 实验人员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填报或草稿修改</a:t>
            </a:r>
          </a:p>
        </p:txBody>
      </p:sp>
      <p:sp>
        <p:nvSpPr>
          <p:cNvPr id="5" name="excel">
            <a:extLst xmlns:a="http://schemas.openxmlformats.org/drawingml/2006/main">
              <a:ext uri="{FF2B5EF4-FFF2-40B4-BE49-F238E27FC236}">
                <a16:creationId xmlns:a16="http://schemas.microsoft.com/office/drawing/2014/main" id="{5340AB5E-2B5B-4F25-A4F8-B3F7E29E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619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Excel / 共享盘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既有自动入库脚本</a:t>
            </a:r>
          </a:p>
        </p:txBody>
      </p:sp>
      <p:sp>
        <p:nvSpPr>
          <p:cNvPr id="6" name="validate">
            <a:extLst xmlns:a="http://schemas.openxmlformats.org/drawingml/2006/main">
              <a:ext uri="{FF2B5EF4-FFF2-40B4-BE49-F238E27FC236}">
                <a16:creationId xmlns:a16="http://schemas.microsoft.com/office/drawing/2014/main" id="{F2268C41-6F68-4792-B4D0-796F539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33575"/>
            <a:ext cx="3381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输入校验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字段、单位、关联标识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权限与模板版本</a:t>
            </a:r>
          </a:p>
        </p:txBody>
      </p:sp>
      <p:sp>
        <p:nvSpPr>
          <p:cNvPr id="7" name="staging">
            <a:extLst xmlns:a="http://schemas.openxmlformats.org/drawingml/2006/main">
              <a:ext uri="{FF2B5EF4-FFF2-40B4-BE49-F238E27FC236}">
                <a16:creationId xmlns:a16="http://schemas.microsoft.com/office/drawing/2014/main" id="{71B79E57-1408-47C0-8E20-8AF945A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857625"/>
            <a:ext cx="33813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导入批次与预检查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重复、格式、异常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错误定位与重试</a:t>
            </a:r>
          </a:p>
        </p:txBody>
      </p:sp>
      <p:sp>
        <p:nvSpPr>
          <p:cNvPr id="8" name="write">
            <a:extLst xmlns:a="http://schemas.openxmlformats.org/drawingml/2006/main">
              <a:ext uri="{FF2B5EF4-FFF2-40B4-BE49-F238E27FC236}">
                <a16:creationId xmlns:a16="http://schemas.microsoft.com/office/drawing/2014/main" id="{132ED178-EA82-4D8E-A4FA-AC5736D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33575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受控写入服务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幂等、事务、状态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按业务规则复核</a:t>
            </a:r>
          </a:p>
        </p:txBody>
      </p:sp>
      <p:sp>
        <p:nvSpPr>
          <p:cNvPr id="9" name="OB">
            <a:extLst xmlns:a="http://schemas.openxmlformats.org/drawingml/2006/main">
              <a:ext uri="{FF2B5EF4-FFF2-40B4-BE49-F238E27FC236}">
                <a16:creationId xmlns:a16="http://schemas.microsoft.com/office/drawing/2014/main" id="{F4154A94-F21A-4FB0-ABAF-E7F3093D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57625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OceanBase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正式数据与记录版本</a:t>
            </a:r>
          </a:p>
        </p:txBody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86125" y="2324100"/>
            <a:ext cx="7620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86125" y="4248150"/>
            <a:ext cx="7620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29500" y="24098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429500" y="2409825"/>
            <a:ext cx="1047750" cy="1924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0001250" y="2886075"/>
            <a:ext cx="0" cy="9715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sp>
        <p:nvSpPr>
          <p:cNvPr id="15" name="查询使用只读身份，填报使用受限写入身份。记录提交者、原文件、批次、修订">
            <a:extLst xmlns:a="http://schemas.openxmlformats.org/drawingml/2006/main">
              <a:ext uri="{FF2B5EF4-FFF2-40B4-BE49-F238E27FC236}">
                <a16:creationId xmlns:a16="http://schemas.microsoft.com/office/drawing/2014/main" id="{4F0086DC-3415-4F59-A6AC-59A9F515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查询使用只读身份，填报使用受限写入身份。记录提交者、原文件、批次、修订原因和版本。</a:t>
            </a:r>
          </a:p>
        </p:txBody>
      </p:sp>
    </p:spTree>
    <p:extLst>
      <p:ext uri="{BB962C8B-B14F-4D97-AF65-F5344CB8AC3E}">
        <p14:creationId xmlns:p14="http://schemas.microsoft.com/office/powerpoint/2010/main" val="3359632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PPT / PDF 与专家资料接入数据流">
            <a:extLst xmlns:a="http://schemas.openxmlformats.org/drawingml/2006/main">
              <a:ext uri="{FF2B5EF4-FFF2-40B4-BE49-F238E27FC236}">
                <a16:creationId xmlns:a16="http://schemas.microsoft.com/office/drawing/2014/main" id="{A97F2494-E13F-44A6-A662-4DD262F4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PPT / PDF 与专家资料接入数据流</a:t>
            </a:r>
          </a:p>
        </p:txBody>
      </p:sp>
      <p:sp>
        <p:nvSpPr>
          <p:cNvPr id="2" name="原件、解析结果和索引分别管理，查询结果能够定位原始证据">
            <a:extLst xmlns:a="http://schemas.openxmlformats.org/drawingml/2006/main">
              <a:ext uri="{FF2B5EF4-FFF2-40B4-BE49-F238E27FC236}">
                <a16:creationId xmlns:a16="http://schemas.microsoft.com/office/drawing/2014/main" id="{EA8B5305-A038-400F-B940-07504DF9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原件、解析结果和索引分别管理，查询结果能够定位原始证据</a:t>
            </a:r>
          </a:p>
        </p:txBody>
      </p:sp>
      <p:sp>
        <p:nvSpPr>
          <p:cNvPr id="3" name="11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C803AEE9-11DD-4A7A-94FD-C970E807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11   RSI 数据平台架构讨论稿 · 2026-10-03</a:t>
            </a:r>
          </a:p>
        </p:txBody>
      </p:sp>
      <p:sp>
        <p:nvSpPr>
          <p:cNvPr id="4" name="source">
            <a:extLst xmlns:a="http://schemas.openxmlformats.org/drawingml/2006/main">
              <a:ext uri="{FF2B5EF4-FFF2-40B4-BE49-F238E27FC236}">
                <a16:creationId xmlns:a16="http://schemas.microsoft.com/office/drawing/2014/main" id="{9AD65F2B-E6C2-4B66-A744-A7CF0FFA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2669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4EF"/>
          </a:solidFill>
          <a:ln xmlns:a="http://schemas.openxmlformats.org/drawingml/2006/main" w="14288">
            <a:solidFill>
              <a:srgbClr val="278461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共享盘扫描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或受控上传</a:t>
            </a:r>
          </a:p>
        </p:txBody>
      </p:sp>
      <p:sp>
        <p:nvSpPr>
          <p:cNvPr id="5" name="register">
            <a:extLst xmlns:a="http://schemas.openxmlformats.org/drawingml/2006/main">
              <a:ext uri="{FF2B5EF4-FFF2-40B4-BE49-F238E27FC236}">
                <a16:creationId xmlns:a16="http://schemas.microsoft.com/office/drawing/2014/main" id="{1486CEA3-CDFD-46A4-9F48-B1C6EDA5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286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登记与去重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文档标识、版本、权限</a:t>
            </a:r>
          </a:p>
        </p:txBody>
      </p:sp>
      <p:sp>
        <p:nvSpPr>
          <p:cNvPr id="6" name="raw">
            <a:extLst xmlns:a="http://schemas.openxmlformats.org/drawingml/2006/main">
              <a:ext uri="{FF2B5EF4-FFF2-40B4-BE49-F238E27FC236}">
                <a16:creationId xmlns:a16="http://schemas.microsoft.com/office/drawing/2014/main" id="{A5D0A750-3304-47D4-88A9-E9A6076D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2362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私有原始资产存储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原件与校验值</a:t>
            </a:r>
          </a:p>
        </p:txBody>
      </p:sp>
      <p:sp>
        <p:nvSpPr>
          <p:cNvPr id="7" name="meta">
            <a:extLst xmlns:a="http://schemas.openxmlformats.org/drawingml/2006/main">
              <a:ext uri="{FF2B5EF4-FFF2-40B4-BE49-F238E27FC236}">
                <a16:creationId xmlns:a16="http://schemas.microsoft.com/office/drawing/2014/main" id="{2ADFFCC3-5F28-4F56-8F93-387A7CD2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47875"/>
            <a:ext cx="2247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OceanBase 元数据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关联、状态、版本</a:t>
            </a:r>
          </a:p>
        </p:txBody>
      </p:sp>
      <p:sp>
        <p:nvSpPr>
          <p:cNvPr id="8" name="parse">
            <a:extLst xmlns:a="http://schemas.openxmlformats.org/drawingml/2006/main">
              <a:ext uri="{FF2B5EF4-FFF2-40B4-BE49-F238E27FC236}">
                <a16:creationId xmlns:a16="http://schemas.microsoft.com/office/drawing/2014/main" id="{927BC076-3802-4781-830C-309FB044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2669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内网解析 / OCR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文本、表格、页位置</a:t>
            </a:r>
          </a:p>
        </p:txBody>
      </p:sp>
      <p:sp>
        <p:nvSpPr>
          <p:cNvPr id="9" name="qc">
            <a:extLst xmlns:a="http://schemas.openxmlformats.org/drawingml/2006/main">
              <a:ext uri="{FF2B5EF4-FFF2-40B4-BE49-F238E27FC236}">
                <a16:creationId xmlns:a16="http://schemas.microsoft.com/office/drawing/2014/main" id="{B1A27604-CA00-420C-91F4-640719D7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33875"/>
            <a:ext cx="2286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质量检查与实体关联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异常进入处理队列</a:t>
            </a:r>
          </a:p>
        </p:txBody>
      </p:sp>
      <p:sp>
        <p:nvSpPr>
          <p:cNvPr id="10" name="embed">
            <a:extLst xmlns:a="http://schemas.openxmlformats.org/drawingml/2006/main">
              <a:ext uri="{FF2B5EF4-FFF2-40B4-BE49-F238E27FC236}">
                <a16:creationId xmlns:a16="http://schemas.microsoft.com/office/drawing/2014/main" id="{BF914CE0-1C76-4DFB-97D1-655E84A5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2362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切分与 embedding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保留来源和权限</a:t>
            </a:r>
          </a:p>
        </p:txBody>
      </p:sp>
      <p:sp>
        <p:nvSpPr>
          <p:cNvPr id="11" name="search">
            <a:extLst xmlns:a="http://schemas.openxmlformats.org/drawingml/2006/main">
              <a:ext uri="{FF2B5EF4-FFF2-40B4-BE49-F238E27FC236}">
                <a16:creationId xmlns:a16="http://schemas.microsoft.com/office/drawing/2014/main" id="{0D1F698F-466C-42F0-B5BA-9EF2F46E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333875"/>
            <a:ext cx="2247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全文 + 向量索引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发布可查询版本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33700" y="24479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10250" y="24479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91575" y="24479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800225" y="2847975"/>
            <a:ext cx="5810250" cy="1485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33700" y="47625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10250" y="47625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791575" y="47625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sp>
        <p:nvSpPr>
          <p:cNvPr id="19" name="处理失败可重试，旧版可追溯。图片与表格抽取需单独质检，解析成功不等于科">
            <a:extLst xmlns:a="http://schemas.openxmlformats.org/drawingml/2006/main">
              <a:ext uri="{FF2B5EF4-FFF2-40B4-BE49-F238E27FC236}">
                <a16:creationId xmlns:a16="http://schemas.microsoft.com/office/drawing/2014/main" id="{19014935-1E6B-4FC7-9942-76EEBA45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处理失败可重试，旧版可追溯。图片与表格抽取需单独质检，解析成功不等于科学信息正确。</a:t>
            </a:r>
          </a:p>
        </p:txBody>
      </p:sp>
    </p:spTree>
    <p:extLst>
      <p:ext uri="{BB962C8B-B14F-4D97-AF65-F5344CB8AC3E}">
        <p14:creationId xmlns:p14="http://schemas.microsoft.com/office/powerpoint/2010/main" val="1262357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自然语言统一查询数据流">
            <a:extLst xmlns:a="http://schemas.openxmlformats.org/drawingml/2006/main">
              <a:ext uri="{FF2B5EF4-FFF2-40B4-BE49-F238E27FC236}">
                <a16:creationId xmlns:a16="http://schemas.microsoft.com/office/drawing/2014/main" id="{6353D806-F028-49FB-BA1F-EF6F01A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自然语言统一查询数据流</a:t>
            </a:r>
          </a:p>
        </p:txBody>
      </p:sp>
      <p:sp>
        <p:nvSpPr>
          <p:cNvPr id="2" name="统一入口按问题分流，结构化数值与文档证据分别取回">
            <a:extLst xmlns:a="http://schemas.openxmlformats.org/drawingml/2006/main">
              <a:ext uri="{FF2B5EF4-FFF2-40B4-BE49-F238E27FC236}">
                <a16:creationId xmlns:a16="http://schemas.microsoft.com/office/drawing/2014/main" id="{8470833C-201C-402D-8867-1552448B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统一入口按问题分流，结构化数值与文档证据分别取回</a:t>
            </a:r>
          </a:p>
        </p:txBody>
      </p:sp>
      <p:sp>
        <p:nvSpPr>
          <p:cNvPr id="3" name="12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D47B3006-4C51-4BDC-A166-F9ECE58E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12   RSI 数据平台架构讨论稿 · 2026-10-03</a:t>
            </a:r>
          </a:p>
        </p:txBody>
      </p:sp>
      <p:sp>
        <p:nvSpPr>
          <p:cNvPr id="4" name="user">
            <a:extLst xmlns:a="http://schemas.openxmlformats.org/drawingml/2006/main">
              <a:ext uri="{FF2B5EF4-FFF2-40B4-BE49-F238E27FC236}">
                <a16:creationId xmlns:a16="http://schemas.microsoft.com/office/drawing/2014/main" id="{D5D9FC9D-6BE6-4A91-8EC3-8B8C4753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2362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用户自然语言问题</a:t>
            </a:r>
          </a:p>
        </p:txBody>
      </p:sp>
      <p:sp>
        <p:nvSpPr>
          <p:cNvPr id="5" name="route">
            <a:extLst xmlns:a="http://schemas.openxmlformats.org/drawingml/2006/main">
              <a:ext uri="{FF2B5EF4-FFF2-40B4-BE49-F238E27FC236}">
                <a16:creationId xmlns:a16="http://schemas.microsoft.com/office/drawing/2014/main" id="{B9043E75-7B9E-4A9C-9AA6-EC2132DE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09775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认证与数据授权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意图识别、条件澄清</a:t>
            </a:r>
          </a:p>
        </p:txBody>
      </p:sp>
      <p:sp>
        <p:nvSpPr>
          <p:cNvPr id="6" name="sql">
            <a:extLst xmlns:a="http://schemas.openxmlformats.org/drawingml/2006/main">
              <a:ext uri="{FF2B5EF4-FFF2-40B4-BE49-F238E27FC236}">
                <a16:creationId xmlns:a16="http://schemas.microsoft.com/office/drawing/2014/main" id="{C44FEEC8-E234-4C6B-8789-87E86636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09750"/>
            <a:ext cx="42195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结构化路径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相关 Schema / 受控 SQL</a:t>
            </a:r>
          </a:p>
        </p:txBody>
      </p:sp>
      <p:sp>
        <p:nvSpPr>
          <p:cNvPr id="7" name="doc">
            <a:extLst xmlns:a="http://schemas.openxmlformats.org/drawingml/2006/main">
              <a:ext uri="{FF2B5EF4-FFF2-40B4-BE49-F238E27FC236}">
                <a16:creationId xmlns:a16="http://schemas.microsoft.com/office/drawing/2014/main" id="{412D194A-F240-4735-8EA8-D3251A26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14675"/>
            <a:ext cx="42195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文档路径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授权过滤 / 混合检索</a:t>
            </a:r>
          </a:p>
        </p:txBody>
      </p:sp>
      <p:sp>
        <p:nvSpPr>
          <p:cNvPr id="8" name="answer">
            <a:extLst xmlns:a="http://schemas.openxmlformats.org/drawingml/2006/main">
              <a:ext uri="{FF2B5EF4-FFF2-40B4-BE49-F238E27FC236}">
                <a16:creationId xmlns:a16="http://schemas.microsoft.com/office/drawing/2014/main" id="{FE1688CF-2B83-4E6C-B630-40326516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581525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统一结果与证据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表格、文档位置、查询口径</a:t>
            </a:r>
          </a:p>
        </p:txBody>
      </p:sp>
      <p:sp>
        <p:nvSpPr>
          <p:cNvPr id="9" name="feedback">
            <a:extLst xmlns:a="http://schemas.openxmlformats.org/drawingml/2006/main">
              <a:ext uri="{FF2B5EF4-FFF2-40B4-BE49-F238E27FC236}">
                <a16:creationId xmlns:a16="http://schemas.microsoft.com/office/drawing/2014/main" id="{D94A9894-E7D1-4BB6-9C3E-B49F4F18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2362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用户反馈与查询记录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版本、耗时、纠正</a:t>
            </a:r>
          </a:p>
        </p:txBody>
      </p:sp>
      <p:sp>
        <p:nvSpPr>
          <p:cNvPr id="10" name="match">
            <a:extLst xmlns:a="http://schemas.openxmlformats.org/drawingml/2006/main">
              <a:ext uri="{FF2B5EF4-FFF2-40B4-BE49-F238E27FC236}">
                <a16:creationId xmlns:a16="http://schemas.microsoft.com/office/drawing/2014/main" id="{89C26B9A-8065-4533-B6A6-B5376DA6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52975"/>
            <a:ext cx="42195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结果对齐与可选摘要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按实体和条件关联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81325" y="2371725"/>
            <a:ext cx="59055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6524625" y="2219325"/>
            <a:ext cx="76200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24625" y="2447925"/>
            <a:ext cx="762000" cy="1076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172325" y="2628900"/>
            <a:ext cx="2224088" cy="2124075"/>
          </a:xfrm>
          <a:prstGeom xmlns:a="http://schemas.openxmlformats.org/drawingml/2006/main" prst="bentConnector4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9396413" y="393382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1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6524625" y="5076825"/>
            <a:ext cx="76200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2981325" y="50768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sp>
        <p:nvSpPr>
          <p:cNvPr id="18" name="缺少材料关联键时分别返回结果。摘要列出引用与条件，证据不足时提示缺失，">
            <a:extLst xmlns:a="http://schemas.openxmlformats.org/drawingml/2006/main">
              <a:ext uri="{FF2B5EF4-FFF2-40B4-BE49-F238E27FC236}">
                <a16:creationId xmlns:a16="http://schemas.microsoft.com/office/drawing/2014/main" id="{30AD1607-3016-4654-864C-0EBBB731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缺少材料关联键时分别返回结果。摘要列出引用与条件，证据不足时提示缺失，不补写科学结论。</a:t>
            </a:r>
          </a:p>
        </p:txBody>
      </p:sp>
    </p:spTree>
    <p:extLst>
      <p:ext uri="{BB962C8B-B14F-4D97-AF65-F5344CB8AC3E}">
        <p14:creationId xmlns:p14="http://schemas.microsoft.com/office/powerpoint/2010/main" val="15521443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自然语言 SQL 的生成与执行控制">
            <a:extLst xmlns:a="http://schemas.openxmlformats.org/drawingml/2006/main">
              <a:ext uri="{FF2B5EF4-FFF2-40B4-BE49-F238E27FC236}">
                <a16:creationId xmlns:a16="http://schemas.microsoft.com/office/drawing/2014/main" id="{F2220F6A-FB86-4C40-B728-4A8895E7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自然语言 SQL 的生成与执行控制</a:t>
            </a:r>
          </a:p>
        </p:txBody>
      </p:sp>
      <p:sp>
        <p:nvSpPr>
          <p:cNvPr id="2" name="模型提出查询，数据服务负责授权、口径与执行边界">
            <a:extLst xmlns:a="http://schemas.openxmlformats.org/drawingml/2006/main">
              <a:ext uri="{FF2B5EF4-FFF2-40B4-BE49-F238E27FC236}">
                <a16:creationId xmlns:a16="http://schemas.microsoft.com/office/drawing/2014/main" id="{6E3A178C-39CB-4DF9-A5AA-C719BABD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模型提出查询，数据服务负责授权、口径与执行边界</a:t>
            </a:r>
          </a:p>
        </p:txBody>
      </p:sp>
      <p:sp>
        <p:nvSpPr>
          <p:cNvPr id="3" name="13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D4AD31A8-BB1C-4DE9-98A6-00A59F0A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13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810125"/>
                <a:gridCol w="427672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具体控制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失败处理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问题与口径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时间、材料范围、指标定义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歧义会改变结果时先澄清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提示所需条件，避免猜测口径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Schema 与生成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只提供已授权的表/字段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明确关联键，使用获准查询视图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找不到匹配 Schema 时返回目录线索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 静态校验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AST 检查、只允许 SELECT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表/列白名单，禁止多语句与写入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拒绝或有限次数修正并记录原因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执行与资源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只读账号、服务端数据权限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限制行数、超时与昂贵查询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提示缩小范围，保留诊断记录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结果解释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展示查询口径、数据版本及来源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 与摘要可追踪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空结果、缺失、冲突明确显示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8843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文档检索与证据返回">
            <a:extLst xmlns:a="http://schemas.openxmlformats.org/drawingml/2006/main">
              <a:ext uri="{FF2B5EF4-FFF2-40B4-BE49-F238E27FC236}">
                <a16:creationId xmlns:a16="http://schemas.microsoft.com/office/drawing/2014/main" id="{F3572B88-F337-4395-9E7F-AB55CF0D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文档检索与证据返回</a:t>
            </a:r>
          </a:p>
        </p:txBody>
      </p:sp>
      <p:sp>
        <p:nvSpPr>
          <p:cNvPr id="2" name="专业材料名、实验编号与数值条件需要全文和语义共同支持">
            <a:extLst xmlns:a="http://schemas.openxmlformats.org/drawingml/2006/main">
              <a:ext uri="{FF2B5EF4-FFF2-40B4-BE49-F238E27FC236}">
                <a16:creationId xmlns:a16="http://schemas.microsoft.com/office/drawing/2014/main" id="{C5A482B4-EC4C-4469-A49B-59C4BEB5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专业材料名、实验编号与数值条件需要全文和语义共同支持</a:t>
            </a:r>
          </a:p>
        </p:txBody>
      </p:sp>
      <p:sp>
        <p:nvSpPr>
          <p:cNvPr id="3" name="14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B664C42E-B863-4AFD-A452-65769B06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14   RSI 数据平台架构讨论稿 · 2026-10-03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6F4065A4-6BD9-46F9-85E7-FD18D9D0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解析粒度与科学上下文">
            <a:extLst xmlns:a="http://schemas.openxmlformats.org/drawingml/2006/main">
              <a:ext uri="{FF2B5EF4-FFF2-40B4-BE49-F238E27FC236}">
                <a16:creationId xmlns:a16="http://schemas.microsoft.com/office/drawing/2014/main" id="{5AE93589-32C2-4F72-A183-A4733890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288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解析粒度与科学上下文</a:t>
            </a:r>
          </a:p>
        </p:txBody>
      </p:sp>
      <p:sp>
        <p:nvSpPr>
          <p:cNvPr id="6" name="按段落和表格切分，保留标题、材料/样品标识、测试条件及页或幻灯片编号。">
            <a:extLst xmlns:a="http://schemas.openxmlformats.org/drawingml/2006/main">
              <a:ext uri="{FF2B5EF4-FFF2-40B4-BE49-F238E27FC236}">
                <a16:creationId xmlns:a16="http://schemas.microsoft.com/office/drawing/2014/main" id="{818F1DA3-A75E-416D-997B-C3BD0ECF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383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按段落和表格切分，保留标题、材料/样品标识、测试条件及页或幻灯片编号。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0025E03F-C3AC-472B-9CD4-263C70A8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检索前过滤与混合召回">
            <a:extLst xmlns:a="http://schemas.openxmlformats.org/drawingml/2006/main">
              <a:ext uri="{FF2B5EF4-FFF2-40B4-BE49-F238E27FC236}">
                <a16:creationId xmlns:a16="http://schemas.microsoft.com/office/drawing/2014/main" id="{6DAB4CE5-29BF-4112-9867-4B004148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03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检索前过滤与混合召回</a:t>
            </a:r>
          </a:p>
        </p:txBody>
      </p:sp>
      <p:sp>
        <p:nvSpPr>
          <p:cNvPr id="9" name="根据用户项目权限、材料范围、时间和有效版本过滤，再结合关键词与向量召回">
            <a:extLst xmlns:a="http://schemas.openxmlformats.org/drawingml/2006/main">
              <a:ext uri="{FF2B5EF4-FFF2-40B4-BE49-F238E27FC236}">
                <a16:creationId xmlns:a16="http://schemas.microsoft.com/office/drawing/2014/main" id="{E5D969CB-A16B-4E32-8427-B3E6833A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99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根据用户项目权限、材料范围、时间和有效版本过滤，再结合关键词与向量召回。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BA679EFA-6654-4AA0-A8E4-82E284D3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重排和结果展示">
            <a:extLst xmlns:a="http://schemas.openxmlformats.org/drawingml/2006/main">
              <a:ext uri="{FF2B5EF4-FFF2-40B4-BE49-F238E27FC236}">
                <a16:creationId xmlns:a16="http://schemas.microsoft.com/office/drawing/2014/main" id="{639BF5A1-F900-42E2-935A-64651B56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重排和结果展示</a:t>
            </a:r>
          </a:p>
        </p:txBody>
      </p:sp>
      <p:sp>
        <p:nvSpPr>
          <p:cNvPr id="12" name="对相关候选重排，显示证据片段、文档名、位置、版本、负责人和原件入口。">
            <a:extLst xmlns:a="http://schemas.openxmlformats.org/drawingml/2006/main">
              <a:ext uri="{FF2B5EF4-FFF2-40B4-BE49-F238E27FC236}">
                <a16:creationId xmlns:a16="http://schemas.microsoft.com/office/drawing/2014/main" id="{4728A7B7-2002-4DD3-BED1-8C2407DE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814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对相关候选重排，显示证据片段、文档名、位置、版本、负责人和原件入口。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01A74157-C456-45F8-AB2C-D44613A9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质量评测与修正">
            <a:extLst xmlns:a="http://schemas.openxmlformats.org/drawingml/2006/main">
              <a:ext uri="{FF2B5EF4-FFF2-40B4-BE49-F238E27FC236}">
                <a16:creationId xmlns:a16="http://schemas.microsoft.com/office/drawing/2014/main" id="{F62A3754-20BF-4487-A706-8658871F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434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质量评测与修正</a:t>
            </a:r>
          </a:p>
        </p:txBody>
      </p:sp>
      <p:sp>
        <p:nvSpPr>
          <p:cNvPr id="15" name="用专家标注的问题检查召回和引用正确性，针对表格遗漏、别名和旧版本做修正">
            <a:extLst xmlns:a="http://schemas.openxmlformats.org/drawingml/2006/main">
              <a:ext uri="{FF2B5EF4-FFF2-40B4-BE49-F238E27FC236}">
                <a16:creationId xmlns:a16="http://schemas.microsoft.com/office/drawing/2014/main" id="{8F89DA93-51E8-42D5-9B7F-B252C5D4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530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用专家标注的问题检查召回和引用正确性，针对表格遗漏、别名和旧版本做修正。</a:t>
            </a:r>
          </a:p>
        </p:txBody>
      </p:sp>
      <p:sp>
        <p:nvSpPr>
          <p:cNvPr id="16" name="一期先完成来源清楚的检索。摘要提示词将文档内容视为证据，不能执行文档中">
            <a:extLst xmlns:a="http://schemas.openxmlformats.org/drawingml/2006/main">
              <a:ext uri="{FF2B5EF4-FFF2-40B4-BE49-F238E27FC236}">
                <a16:creationId xmlns:a16="http://schemas.microsoft.com/office/drawing/2014/main" id="{6EE354EB-70F2-4312-AE03-6A9BB443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一期先完成来源清楚的检索。摘要提示词将文档内容视为证据，不能执行文档中夹带的指令。</a:t>
            </a:r>
          </a:p>
        </p:txBody>
      </p:sp>
    </p:spTree>
    <p:extLst>
      <p:ext uri="{BB962C8B-B14F-4D97-AF65-F5344CB8AC3E}">
        <p14:creationId xmlns:p14="http://schemas.microsoft.com/office/powerpoint/2010/main" val="591756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核心数据对象与来源关联">
            <a:extLst xmlns:a="http://schemas.openxmlformats.org/drawingml/2006/main">
              <a:ext uri="{FF2B5EF4-FFF2-40B4-BE49-F238E27FC236}">
                <a16:creationId xmlns:a16="http://schemas.microsoft.com/office/drawing/2014/main" id="{9DC96180-AF47-42CD-A1D3-193409EA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核心数据对象与来源关联</a:t>
            </a:r>
          </a:p>
        </p:txBody>
      </p:sp>
      <p:sp>
        <p:nvSpPr>
          <p:cNvPr id="2" name="物理表结构待核查，先确认稳定标识和业务关系">
            <a:extLst xmlns:a="http://schemas.openxmlformats.org/drawingml/2006/main">
              <a:ext uri="{FF2B5EF4-FFF2-40B4-BE49-F238E27FC236}">
                <a16:creationId xmlns:a16="http://schemas.microsoft.com/office/drawing/2014/main" id="{B62C3B27-C9AD-43AD-A107-F4C91BA0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物理表结构待核查，先确认稳定标识和业务关系</a:t>
            </a:r>
          </a:p>
        </p:txBody>
      </p:sp>
      <p:sp>
        <p:nvSpPr>
          <p:cNvPr id="3" name="15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EF092E64-DF67-4863-8C6F-AA0DA028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15   RSI 数据平台架构讨论稿 · 2026-10-03</a:t>
            </a:r>
          </a:p>
        </p:txBody>
      </p:sp>
      <p:sp>
        <p:nvSpPr>
          <p:cNvPr id="4" name="project">
            <a:extLst xmlns:a="http://schemas.openxmlformats.org/drawingml/2006/main">
              <a:ext uri="{FF2B5EF4-FFF2-40B4-BE49-F238E27FC236}">
                <a16:creationId xmlns:a16="http://schemas.microsoft.com/office/drawing/2014/main" id="{1936AC03-F336-48AD-B7A3-05C23F36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245745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项目 / 权限范围</a:t>
            </a:r>
          </a:p>
        </p:txBody>
      </p:sp>
      <p:sp>
        <p:nvSpPr>
          <p:cNvPr id="5" name="material">
            <a:extLst xmlns:a="http://schemas.openxmlformats.org/drawingml/2006/main">
              <a:ext uri="{FF2B5EF4-FFF2-40B4-BE49-F238E27FC236}">
                <a16:creationId xmlns:a16="http://schemas.microsoft.com/office/drawing/2014/main" id="{5949C49F-C16C-4D5B-A36C-8BA636CD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14525"/>
            <a:ext cx="245745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材料 / 配方</a:t>
            </a:r>
          </a:p>
        </p:txBody>
      </p:sp>
      <p:sp>
        <p:nvSpPr>
          <p:cNvPr id="6" name="sample">
            <a:extLst xmlns:a="http://schemas.openxmlformats.org/drawingml/2006/main">
              <a:ext uri="{FF2B5EF4-FFF2-40B4-BE49-F238E27FC236}">
                <a16:creationId xmlns:a16="http://schemas.microsoft.com/office/drawing/2014/main" id="{9E7117EF-2283-452F-9347-C6EA8477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14525"/>
            <a:ext cx="2457450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电芯批次 / 单电芯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样品标识</a:t>
            </a:r>
          </a:p>
        </p:txBody>
      </p:sp>
      <p:sp>
        <p:nvSpPr>
          <p:cNvPr id="7" name="experiment">
            <a:extLst xmlns:a="http://schemas.openxmlformats.org/drawingml/2006/main">
              <a:ext uri="{FF2B5EF4-FFF2-40B4-BE49-F238E27FC236}">
                <a16:creationId xmlns:a16="http://schemas.microsoft.com/office/drawing/2014/main" id="{BA14FE70-DE1B-4A5B-B98A-27AC6018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33775"/>
            <a:ext cx="2457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实验明细 / 批次汇总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区分粒度与口径</a:t>
            </a:r>
          </a:p>
        </p:txBody>
      </p:sp>
      <p:sp>
        <p:nvSpPr>
          <p:cNvPr id="8" name="document">
            <a:extLst xmlns:a="http://schemas.openxmlformats.org/drawingml/2006/main">
              <a:ext uri="{FF2B5EF4-FFF2-40B4-BE49-F238E27FC236}">
                <a16:creationId xmlns:a16="http://schemas.microsoft.com/office/drawing/2014/main" id="{31E1FDBD-95E6-49E7-B582-7F83250F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2457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文档 / 文件版本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原件、页位置、权限</a:t>
            </a:r>
          </a:p>
        </p:txBody>
      </p:sp>
      <p:sp>
        <p:nvSpPr>
          <p:cNvPr id="9" name="evidence">
            <a:extLst xmlns:a="http://schemas.openxmlformats.org/drawingml/2006/main">
              <a:ext uri="{FF2B5EF4-FFF2-40B4-BE49-F238E27FC236}">
                <a16:creationId xmlns:a16="http://schemas.microsoft.com/office/drawing/2014/main" id="{27A8F2E7-3935-47DA-A947-95EC0D01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33775"/>
            <a:ext cx="2457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解析片段 / 证据关联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抽取版本、关联依据</a:t>
            </a:r>
          </a:p>
        </p:txBody>
      </p:sp>
      <p:sp>
        <p:nvSpPr>
          <p:cNvPr id="10" name="run">
            <a:extLst xmlns:a="http://schemas.openxmlformats.org/drawingml/2006/main">
              <a:ext uri="{FF2B5EF4-FFF2-40B4-BE49-F238E27FC236}">
                <a16:creationId xmlns:a16="http://schemas.microsoft.com/office/drawing/2014/main" id="{2CAA96CE-5FC0-4359-9F97-31308822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14525"/>
            <a:ext cx="1619250" cy="25908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查询 / 填报记录</a:t>
            </a:r>
          </a:p>
          <a:p xmlns:a="http://schemas.openxmlformats.org/drawingml/2006/main">
            <a:pPr algn="ctr">
              <a:defRPr sz="15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提交者、版本、反馈</a:t>
            </a:r>
          </a:p>
        </p:txBody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24200" y="229076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267450" y="2290763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181975" y="2667000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895475" y="2667000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40195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67450" y="4019550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9410700" y="3209925"/>
            <a:ext cx="571500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sp>
        <p:nvSpPr>
          <p:cNvPr id="18" name="业务值以 OceanBase 为权威源。汇总表需带批次、实验范围和统计">
            <a:extLst xmlns:a="http://schemas.openxmlformats.org/drawingml/2006/main">
              <a:ext uri="{FF2B5EF4-FFF2-40B4-BE49-F238E27FC236}">
                <a16:creationId xmlns:a16="http://schemas.microsoft.com/office/drawing/2014/main" id="{B00B56DA-F829-4A90-B200-322BE0B4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业务值以 OceanBase 为权威源。汇总表需带批次、实验范围和统计口径，避免与明细重复聚合。</a:t>
            </a:r>
          </a:p>
        </p:txBody>
      </p:sp>
    </p:spTree>
    <p:extLst>
      <p:ext uri="{BB962C8B-B14F-4D97-AF65-F5344CB8AC3E}">
        <p14:creationId xmlns:p14="http://schemas.microsoft.com/office/powerpoint/2010/main" val="12480994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实验数据填报：模板、状态与修订">
            <a:extLst xmlns:a="http://schemas.openxmlformats.org/drawingml/2006/main">
              <a:ext uri="{FF2B5EF4-FFF2-40B4-BE49-F238E27FC236}">
                <a16:creationId xmlns:a16="http://schemas.microsoft.com/office/drawing/2014/main" id="{3AACC425-F377-4900-A407-4AF204C9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实验数据填报：模板、状态与修订</a:t>
            </a:r>
          </a:p>
        </p:txBody>
      </p:sp>
      <p:sp>
        <p:nvSpPr>
          <p:cNvPr id="2" name="复用现有录入雏形，数据平台定义字段与写入契约">
            <a:extLst xmlns:a="http://schemas.openxmlformats.org/drawingml/2006/main">
              <a:ext uri="{FF2B5EF4-FFF2-40B4-BE49-F238E27FC236}">
                <a16:creationId xmlns:a16="http://schemas.microsoft.com/office/drawing/2014/main" id="{F412DCF0-3FC2-4619-A2E0-E04B5BAE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复用现有录入雏形，数据平台定义字段与写入契约</a:t>
            </a:r>
          </a:p>
        </p:txBody>
      </p:sp>
      <p:sp>
        <p:nvSpPr>
          <p:cNvPr id="3" name="16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05FD1549-8D25-4EB8-8503-0B4561BD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16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238750"/>
                <a:gridCol w="36576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一期要求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责任与验收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模板与字段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版本化模板、必填项、单位、范围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实验/样品/项目标识与附件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数据负责人确认字段，历史版本可用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填写与保存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草稿、提交、附件、错误提示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批量导入预检查与逐行错误反馈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页面可操作，错误能定位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质量与复核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格式自动检查，科学异常作提示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高影响记录按业务规则复核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专家定义规则，系统保留例外解释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写入与并发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幂等提交、事务、记录版本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并发修改提示与状态检查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不重复写入，不静默覆盖修改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修订与审计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保存旧值、修订者、原因与时间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撤回/作废与下游可见状态同步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能追查记录与报告所用版本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9810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专家访谈：知识资产与 benchmark 分流">
            <a:extLst xmlns:a="http://schemas.openxmlformats.org/drawingml/2006/main">
              <a:ext uri="{FF2B5EF4-FFF2-40B4-BE49-F238E27FC236}">
                <a16:creationId xmlns:a16="http://schemas.microsoft.com/office/drawing/2014/main" id="{F4C08F12-7C07-46E7-864F-87CB664F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专家访谈：知识资产与 benchmark 分流</a:t>
            </a:r>
          </a:p>
        </p:txBody>
      </p:sp>
      <p:sp>
        <p:nvSpPr>
          <p:cNvPr id="2" name="同一访谈可产出两类资产，评测答案和评分规则独立隔离">
            <a:extLst xmlns:a="http://schemas.openxmlformats.org/drawingml/2006/main">
              <a:ext uri="{FF2B5EF4-FFF2-40B4-BE49-F238E27FC236}">
                <a16:creationId xmlns:a16="http://schemas.microsoft.com/office/drawing/2014/main" id="{D745C9B1-150B-4600-8D4B-7FED0E7F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同一访谈可产出两类资产，评测答案和评分规则独立隔离</a:t>
            </a:r>
          </a:p>
        </p:txBody>
      </p:sp>
      <p:sp>
        <p:nvSpPr>
          <p:cNvPr id="3" name="17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A3F48C9F-4AE8-4DB1-B76A-5452FCCE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17   RSI 数据平台架构讨论稿 · 2026-10-03</a:t>
            </a:r>
          </a:p>
        </p:txBody>
      </p:sp>
      <p:sp>
        <p:nvSpPr>
          <p:cNvPr id="4" name="interview">
            <a:extLst xmlns:a="http://schemas.openxmlformats.org/drawingml/2006/main">
              <a:ext uri="{FF2B5EF4-FFF2-40B4-BE49-F238E27FC236}">
                <a16:creationId xmlns:a16="http://schemas.microsoft.com/office/drawing/2014/main" id="{EFCD57F2-0BD6-4944-A579-0D150948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4955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专家访谈与案例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原始记录、证据来源</a:t>
            </a:r>
          </a:p>
        </p:txBody>
      </p:sp>
      <p:sp>
        <p:nvSpPr>
          <p:cNvPr id="5" name="knowledge">
            <a:extLst xmlns:a="http://schemas.openxmlformats.org/drawingml/2006/main">
              <a:ext uri="{FF2B5EF4-FFF2-40B4-BE49-F238E27FC236}">
                <a16:creationId xmlns:a16="http://schemas.microsoft.com/office/drawing/2014/main" id="{CA68E1F1-8982-4E43-BEAA-0B61D01E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95475"/>
            <a:ext cx="31432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经验候选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适用条件、反例、证据</a:t>
            </a:r>
          </a:p>
        </p:txBody>
      </p:sp>
      <p:sp>
        <p:nvSpPr>
          <p:cNvPr id="6" name="test">
            <a:extLst xmlns:a="http://schemas.openxmlformats.org/drawingml/2006/main">
              <a:ext uri="{FF2B5EF4-FFF2-40B4-BE49-F238E27FC236}">
                <a16:creationId xmlns:a16="http://schemas.microsoft.com/office/drawing/2014/main" id="{4BFD7F5B-F14C-486F-B4F7-6F612D76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00500"/>
            <a:ext cx="3143250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评测候选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问题、预期答案、评分规则</a:t>
            </a:r>
          </a:p>
        </p:txBody>
      </p:sp>
      <p:sp>
        <p:nvSpPr>
          <p:cNvPr id="7" name="online">
            <a:extLst xmlns:a="http://schemas.openxmlformats.org/drawingml/2006/main">
              <a:ext uri="{FF2B5EF4-FFF2-40B4-BE49-F238E27FC236}">
                <a16:creationId xmlns:a16="http://schemas.microsoft.com/office/drawing/2014/main" id="{F3498CBF-F15A-40F4-97EE-0A593397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95475"/>
            <a:ext cx="3267075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专家复核后发布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经验库 / 在线检索</a:t>
            </a:r>
          </a:p>
        </p:txBody>
      </p:sp>
      <p:sp>
        <p:nvSpPr>
          <p:cNvPr id="8" name="offline">
            <a:extLst xmlns:a="http://schemas.openxmlformats.org/drawingml/2006/main">
              <a:ext uri="{FF2B5EF4-FFF2-40B4-BE49-F238E27FC236}">
                <a16:creationId xmlns:a16="http://schemas.microsoft.com/office/drawing/2014/main" id="{EF3ECDC5-ACF4-4EC0-83AC-2809CA03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00500"/>
            <a:ext cx="3267075" cy="885825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14288">
            <a:solidFill>
              <a:srgbClr val="3777B6"/>
            </a:solidFill>
            <a:prstDash val="solid"/>
          </a:ln>
        </p:spPr>
        <p:txBody>
          <a:bodyPr xmlns:a="http://schemas.openxmlformats.org/drawingml/2006/main" lIns="85725" tIns="66675" rIns="85725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隐藏评测集</a:t>
            </a:r>
          </a:p>
          <a:p xmlns:a="http://schemas.openxmlformats.org/drawingml/2006/main">
            <a:pPr algn="ctr">
              <a:def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固定快照、独立评分</a:t>
            </a:r>
          </a:p>
        </p:txBody>
      </p:sp>
      <p:cxnSp>
        <p:nvCxnSpPr>
          <p:cNvPr id="22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62300" y="2338388"/>
            <a:ext cx="933450" cy="7572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162300" y="3095625"/>
            <a:ext cx="933450" cy="13477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2338388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39000" y="4443413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617383"/>
            </a:solidFill>
            <a:prstDash val="solid"/>
            <a:tailEnd type="triangle" w="sm" len="sm"/>
          </a:ln>
        </p:spPr>
      </p:cxnSp>
      <p:sp>
        <p:nvSpPr>
          <p:cNvPr id="13" name="测试所需源文档可按任务设计检索。隐藏答案、评分规则和测试反馈不能流入在">
            <a:extLst xmlns:a="http://schemas.openxmlformats.org/drawingml/2006/main">
              <a:ext uri="{FF2B5EF4-FFF2-40B4-BE49-F238E27FC236}">
                <a16:creationId xmlns:a16="http://schemas.microsoft.com/office/drawing/2014/main" id="{559B4820-ACF5-4DD5-8052-8C3AF755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测试所需源文档可按任务设计检索。隐藏答案、评分规则和测试反馈不能流入在线知识库或训练集。</a:t>
            </a:r>
          </a:p>
        </p:txBody>
      </p:sp>
    </p:spTree>
    <p:extLst>
      <p:ext uri="{BB962C8B-B14F-4D97-AF65-F5344CB8AC3E}">
        <p14:creationId xmlns:p14="http://schemas.microsoft.com/office/powerpoint/2010/main" val="1864184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D 身份与数据权限">
            <a:extLst xmlns:a="http://schemas.openxmlformats.org/drawingml/2006/main">
              <a:ext uri="{FF2B5EF4-FFF2-40B4-BE49-F238E27FC236}">
                <a16:creationId xmlns:a16="http://schemas.microsoft.com/office/drawing/2014/main" id="{CB74655E-4897-4BC2-8F09-1F44A73D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AD 身份与数据权限</a:t>
            </a:r>
          </a:p>
        </p:txBody>
      </p:sp>
      <p:sp>
        <p:nvSpPr>
          <p:cNvPr id="2" name="AD 解决身份认证，平台落实业务数据的访问控制">
            <a:extLst xmlns:a="http://schemas.openxmlformats.org/drawingml/2006/main">
              <a:ext uri="{FF2B5EF4-FFF2-40B4-BE49-F238E27FC236}">
                <a16:creationId xmlns:a16="http://schemas.microsoft.com/office/drawing/2014/main" id="{995CC92A-8B0B-421F-8383-B7235338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AD 解决身份认证，平台落实业务数据的访问控制</a:t>
            </a:r>
          </a:p>
        </p:txBody>
      </p:sp>
      <p:sp>
        <p:nvSpPr>
          <p:cNvPr id="3" name="18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6FB93149-2609-438E-BAAC-4EDA9A04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18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476875"/>
                <a:gridCol w="351472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层面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一期设计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验证方法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对接公司 AD 或批准的 SSO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停用账号、会话过期、服务身份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确认协议与退出/停用行为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业务授权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角色 + 项目范围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按需限制字段、原件下载和填报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按不同用户验证查询和写入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数据路径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SQL、检索、摘要、下载统一执行授权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源权限同步到片段、索引和缓存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越权问题、直链下载和缓存复测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权限变更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撤回及时拒绝访问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索引与缓存同步失效，保留审计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测试权限变化的同步窗口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账号与审计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查询只读，填报受限写入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用户/服务账号单独授权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追踪查询、下载、修改及失败记录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4994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质量、版本与运行管理">
            <a:extLst xmlns:a="http://schemas.openxmlformats.org/drawingml/2006/main">
              <a:ext uri="{FF2B5EF4-FFF2-40B4-BE49-F238E27FC236}">
                <a16:creationId xmlns:a16="http://schemas.microsoft.com/office/drawing/2014/main" id="{986398AF-CAB2-4C56-A89E-0636D28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质量、版本与运行管理</a:t>
            </a:r>
          </a:p>
        </p:txBody>
      </p:sp>
      <p:sp>
        <p:nvSpPr>
          <p:cNvPr id="2" name="平台同时管理输入质量、派生资产和查询可追踪性">
            <a:extLst xmlns:a="http://schemas.openxmlformats.org/drawingml/2006/main">
              <a:ext uri="{FF2B5EF4-FFF2-40B4-BE49-F238E27FC236}">
                <a16:creationId xmlns:a16="http://schemas.microsoft.com/office/drawing/2014/main" id="{E782BCE6-9C23-43A2-A0A5-3ACDD86D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平台同时管理输入质量、派生资产和查询可追踪性</a:t>
            </a:r>
          </a:p>
        </p:txBody>
      </p:sp>
      <p:sp>
        <p:nvSpPr>
          <p:cNvPr id="3" name="19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790CE197-87F3-4EAB-B409-1080AAD6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19   RSI 数据平台架构讨论稿 · 2026-10-03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857750"/>
                <a:gridCol w="3848100"/>
              </a:tblGrid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需要记录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异常处理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结构化数据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原文件、批次、字段版本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单位、关联键、记录数量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隔离错误行，明确重复与修订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文档与索引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文件校验值、解析器、切分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embedding 与索引版本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失败重试、重建索引、旧版追溯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查询与填报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用户、权限范围、版本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Schema、SQL、证据、耗时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失败分型、有限重试、人工纠正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恢复与运维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数据/原件/元数据/配置备份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任务积压、服务可用与资源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恢复演练，明确服务责任人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5" name="审计记录按权限访问和保留策略管理。Agent 的自评分与“解析成功”均">
            <a:extLst xmlns:a="http://schemas.openxmlformats.org/drawingml/2006/main">
              <a:ext uri="{FF2B5EF4-FFF2-40B4-BE49-F238E27FC236}">
                <a16:creationId xmlns:a16="http://schemas.microsoft.com/office/drawing/2014/main" id="{6C19E95B-D076-49EC-BAFE-091AB44C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审计记录按权限访问和保留策略管理。Agent 的自评分与“解析成功”均不能代替科学数据质量检查。</a:t>
            </a:r>
          </a:p>
        </p:txBody>
      </p:sp>
    </p:spTree>
    <p:extLst>
      <p:ext uri="{BB962C8B-B14F-4D97-AF65-F5344CB8AC3E}">
        <p14:creationId xmlns:p14="http://schemas.microsoft.com/office/powerpoint/2010/main" val="6592509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技术方案：先复用，再验证新增组件">
            <a:extLst xmlns:a="http://schemas.openxmlformats.org/drawingml/2006/main">
              <a:ext uri="{FF2B5EF4-FFF2-40B4-BE49-F238E27FC236}">
                <a16:creationId xmlns:a16="http://schemas.microsoft.com/office/drawing/2014/main" id="{24B22941-440B-47A4-A2F0-DCDA6C4F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技术方案：先复用，再验证新增组件</a:t>
            </a:r>
          </a:p>
        </p:txBody>
      </p:sp>
      <p:sp>
        <p:nvSpPr>
          <p:cNvPr id="2" name="逻辑职责已明确，物理产品与节点配置通过 PoC 确定">
            <a:extLst xmlns:a="http://schemas.openxmlformats.org/drawingml/2006/main">
              <a:ext uri="{FF2B5EF4-FFF2-40B4-BE49-F238E27FC236}">
                <a16:creationId xmlns:a16="http://schemas.microsoft.com/office/drawing/2014/main" id="{7D00444E-A8A8-4A20-BA67-6A235AC2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逻辑职责已明确，物理产品与节点配置通过 PoC 确定</a:t>
            </a:r>
          </a:p>
        </p:txBody>
      </p:sp>
      <p:sp>
        <p:nvSpPr>
          <p:cNvPr id="3" name="20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CA1D6A86-15B0-4316-BA50-47815050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20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476750"/>
                <a:gridCol w="3990975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建议方向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选型验证重点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业务与管理数据库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 OceanBase MySQL 兼容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管理元数据采用隔离库/租户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现有版本、权限、Schema 与写入影响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原始资产存储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私有对象存储或受管理文件服务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文件版本、完整性、备份与下载授权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全文与向量搜索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 OpenSearch 或已有同类服务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中文/专业术语、权限、混合召回和运维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身份与模型服务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复用公司 AD、内网 LLM / embedding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接入协议、模型质量、并发与版本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任务与应用服务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轻量任务队列/调度与模块化服务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重试、幂等、监控，按负载再扩容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53027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建设阶段与依赖关系">
            <a:extLst xmlns:a="http://schemas.openxmlformats.org/drawingml/2006/main">
              <a:ext uri="{FF2B5EF4-FFF2-40B4-BE49-F238E27FC236}">
                <a16:creationId xmlns:a16="http://schemas.microsoft.com/office/drawing/2014/main" id="{A1161DE7-ED88-4C88-8174-5FD2076F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建设阶段与依赖关系</a:t>
            </a:r>
          </a:p>
        </p:txBody>
      </p:sp>
      <p:sp>
        <p:nvSpPr>
          <p:cNvPr id="2" name="阶段以可验收交付划分，周期和预算在现状核查后确定">
            <a:extLst xmlns:a="http://schemas.openxmlformats.org/drawingml/2006/main">
              <a:ext uri="{FF2B5EF4-FFF2-40B4-BE49-F238E27FC236}">
                <a16:creationId xmlns:a16="http://schemas.microsoft.com/office/drawing/2014/main" id="{15D6683B-7806-43D3-83D7-50781FB1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阶段以可验收交付划分，周期和预算在现状核查后确定</a:t>
            </a:r>
          </a:p>
        </p:txBody>
      </p:sp>
      <p:sp>
        <p:nvSpPr>
          <p:cNvPr id="3" name="21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C3F36F6B-D49E-4F11-8B4E-2225B9C4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21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762500"/>
                <a:gridCol w="3657600"/>
              </a:tblGrid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进入下一阶段的条件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 数据与查询基线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表目录、数据源清单、典型问题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字段/口径、权限规则、接口盘点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关键数据和业务定义有负责人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 资产与填报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原件/元数据、解析、模板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入库与数据质量、只读查询视图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数据与原件可追踪，填报可恢复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 自然语言查询试点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Schema 选择、受控 SQL、混合检索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统一结果、AD 授权和 benchmark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真实任务验证，权限与正确性达标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 稳定运行与扩展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反馈闭环、备份恢复、运维责任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按需接入更多数据与 Agent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可持续维护，新增团队有明确收益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856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一期验收指标与测试设计">
            <a:extLst xmlns:a="http://schemas.openxmlformats.org/drawingml/2006/main">
              <a:ext uri="{FF2B5EF4-FFF2-40B4-BE49-F238E27FC236}">
                <a16:creationId xmlns:a16="http://schemas.microsoft.com/office/drawing/2014/main" id="{D9D59A3B-0612-4823-AF4A-51AD8FBE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一期验收指标与测试设计</a:t>
            </a:r>
          </a:p>
        </p:txBody>
      </p:sp>
      <p:sp>
        <p:nvSpPr>
          <p:cNvPr id="2" name="先测基线和任务分布，再约定目标值与样本规模">
            <a:extLst xmlns:a="http://schemas.openxmlformats.org/drawingml/2006/main">
              <a:ext uri="{FF2B5EF4-FFF2-40B4-BE49-F238E27FC236}">
                <a16:creationId xmlns:a16="http://schemas.microsoft.com/office/drawing/2014/main" id="{54DF5CCA-85CA-4ECE-9829-7AFF923C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先测基线和任务分布，再约定目标值与样本规模</a:t>
            </a:r>
          </a:p>
        </p:txBody>
      </p:sp>
      <p:sp>
        <p:nvSpPr>
          <p:cNvPr id="3" name="22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4C2AC22B-28E9-4589-B964-8A52AC3D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22   RSI 数据平台架构讨论稿 · 2026-10-03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381625"/>
                <a:gridCol w="35623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指标或验证用例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基线与责任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接入与填报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完整性、关键字段正确性、重复提交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异常定位、附件关联和并发修订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平台与数据负责人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结构化查询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条件/聚合/关联正确性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口径歧义、空结果、非法 SQL 拒绝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专家标注预期结果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文档与证据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相关证据召回、页位置正确性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表格抽取、旧版与无证据问题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专家标注证据与答案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身份与权限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越权查询、下载、字段暴露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权限撤回与缓存失效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平台与内部安全团队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运营与体验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任务耗时、查询时延、失败恢复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专家完成真实查询所需时间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试点用户和运维负责人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不承诺尚未测量的准确率或提速倍数。结构化正确性用结果比对，引用用原件定">
            <a:extLst xmlns:a="http://schemas.openxmlformats.org/drawingml/2006/main">
              <a:ext uri="{FF2B5EF4-FFF2-40B4-BE49-F238E27FC236}">
                <a16:creationId xmlns:a16="http://schemas.microsoft.com/office/drawing/2014/main" id="{8404277A-78D0-418D-A185-A702D5F6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不承诺尚未测量的准确率或提速倍数。结构化正确性用结果比对，引用用原件定位，权限用拒绝用例。</a:t>
            </a:r>
          </a:p>
        </p:txBody>
      </p:sp>
    </p:spTree>
    <p:extLst>
      <p:ext uri="{BB962C8B-B14F-4D97-AF65-F5344CB8AC3E}">
        <p14:creationId xmlns:p14="http://schemas.microsoft.com/office/powerpoint/2010/main" val="7559995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公司级复用的预留与扩展">
            <a:extLst xmlns:a="http://schemas.openxmlformats.org/drawingml/2006/main">
              <a:ext uri="{FF2B5EF4-FFF2-40B4-BE49-F238E27FC236}">
                <a16:creationId xmlns:a16="http://schemas.microsoft.com/office/drawing/2014/main" id="{1319F8E8-77AF-4312-998D-4A44BD1F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公司级复用的预留与扩展</a:t>
            </a:r>
          </a:p>
        </p:txBody>
      </p:sp>
      <p:sp>
        <p:nvSpPr>
          <p:cNvPr id="2" name="一期保留稳定接口和组织模型，扩大使用前增加运营能力">
            <a:extLst xmlns:a="http://schemas.openxmlformats.org/drawingml/2006/main">
              <a:ext uri="{FF2B5EF4-FFF2-40B4-BE49-F238E27FC236}">
                <a16:creationId xmlns:a16="http://schemas.microsoft.com/office/drawing/2014/main" id="{1AE63894-0E42-47BF-A26C-A8FB4E0A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一期保留稳定接口和组织模型，扩大使用前增加运营能力</a:t>
            </a:r>
          </a:p>
        </p:txBody>
      </p:sp>
      <p:sp>
        <p:nvSpPr>
          <p:cNvPr id="3" name="23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C6E51A0A-4303-4146-8A22-C722B934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23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286250"/>
                <a:gridCol w="44196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主题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一期预留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公司级再建设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数据模型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组织/项目、全局标识、字段版本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多个材料领域的模板和术语映射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权限与共享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 适配、项目权限、源权限继承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跨团队授权、分级共享与访问治理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服务接口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查询/填报/资产接口契约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多团队配额、隔离与兼容性管理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数据运营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每个数据域有负责人和质量规则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目录运营、质量服务与支持流程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容量与运维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可观测、备份恢复、索引可重建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按业务量配置 HA、扩容和资源归属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207558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后续自进化的分阶段路径">
            <a:extLst xmlns:a="http://schemas.openxmlformats.org/drawingml/2006/main">
              <a:ext uri="{FF2B5EF4-FFF2-40B4-BE49-F238E27FC236}">
                <a16:creationId xmlns:a16="http://schemas.microsoft.com/office/drawing/2014/main" id="{6233CA07-D9B2-4028-80D4-9AE414DA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后续自进化的分阶段路径</a:t>
            </a:r>
          </a:p>
        </p:txBody>
      </p:sp>
      <p:sp>
        <p:nvSpPr>
          <p:cNvPr id="2" name="平台先保留可复用经验和版本，再建设可验证的更新机制">
            <a:extLst xmlns:a="http://schemas.openxmlformats.org/drawingml/2006/main">
              <a:ext uri="{FF2B5EF4-FFF2-40B4-BE49-F238E27FC236}">
                <a16:creationId xmlns:a16="http://schemas.microsoft.com/office/drawing/2014/main" id="{8930264E-7140-4F6B-8D3A-517C9530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平台先保留可复用经验和版本，再建设可验证的更新机制</a:t>
            </a:r>
          </a:p>
        </p:txBody>
      </p:sp>
      <p:sp>
        <p:nvSpPr>
          <p:cNvPr id="3" name="24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39038C7B-CA7E-4DEB-8D00-BC327B17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24   RSI 数据平台架构讨论稿 · 2026-10-03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33875"/>
                <a:gridCol w="4371975"/>
              </a:tblGrid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进化对象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依赖的数据资产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更新与验收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 / 记忆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经验卡、引用、反馈、适用条件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专家复核、检索评测、发布与撤回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 / 技能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执行轨迹、代码版本、测试结果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沙箱验证、独立评测、受控发布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科研策略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实验目标、条件、失败类型、真实结果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实验对照与不确定性评估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模型参数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授权训练快照、标签、数据划分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独立测试、版本登记、回滚与监测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</a:tbl>
          </a:graphicData>
        </a:graphic>
      </p:graphicFrame>
      <p:sp>
        <p:nvSpPr>
          <p:cNvPr id="5" name="科研推理和实验策略属于后续阶段。模型生成的反思可作为候选经验，需证据和">
            <a:extLst xmlns:a="http://schemas.openxmlformats.org/drawingml/2006/main">
              <a:ext uri="{FF2B5EF4-FFF2-40B4-BE49-F238E27FC236}">
                <a16:creationId xmlns:a16="http://schemas.microsoft.com/office/drawing/2014/main" id="{00648837-F0C9-4F27-A7DD-F614584D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科研推理和实验策略属于后续阶段。模型生成的反思可作为候选经验，需证据和评测后才能发布。</a:t>
            </a:r>
          </a:p>
        </p:txBody>
      </p:sp>
    </p:spTree>
    <p:extLst>
      <p:ext uri="{BB962C8B-B14F-4D97-AF65-F5344CB8AC3E}">
        <p14:creationId xmlns:p14="http://schemas.microsoft.com/office/powerpoint/2010/main" val="16026704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本次架构决策事项">
            <a:extLst xmlns:a="http://schemas.openxmlformats.org/drawingml/2006/main">
              <a:ext uri="{FF2B5EF4-FFF2-40B4-BE49-F238E27FC236}">
                <a16:creationId xmlns:a16="http://schemas.microsoft.com/office/drawing/2014/main" id="{9A7CC28F-5157-4AC7-BE04-E3EB15E0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本次架构决策事项</a:t>
            </a:r>
          </a:p>
        </p:txBody>
      </p:sp>
      <p:sp>
        <p:nvSpPr>
          <p:cNvPr id="2" name="领导确认框架、责任和试点投入，技术参数由实施核查补齐">
            <a:extLst xmlns:a="http://schemas.openxmlformats.org/drawingml/2006/main">
              <a:ext uri="{FF2B5EF4-FFF2-40B4-BE49-F238E27FC236}">
                <a16:creationId xmlns:a16="http://schemas.microsoft.com/office/drawing/2014/main" id="{AC11CD22-4628-41C4-9D8C-20BC0A30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领导确认框架、责任和试点投入，技术参数由实施核查补齐</a:t>
            </a:r>
          </a:p>
        </p:txBody>
      </p:sp>
      <p:sp>
        <p:nvSpPr>
          <p:cNvPr id="3" name="25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BAA0BCF6-4FB5-4772-9A12-103C206D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25   RSI 数据平台架构讨论稿 · 2026-10-03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57AB6139-1894-451F-81AC-DC86ACAD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确定一期目标和建设边界">
            <a:extLst xmlns:a="http://schemas.openxmlformats.org/drawingml/2006/main">
              <a:ext uri="{FF2B5EF4-FFF2-40B4-BE49-F238E27FC236}">
                <a16:creationId xmlns:a16="http://schemas.microsoft.com/office/drawing/2014/main" id="{976E6E47-85B4-4BB3-B77B-09FF7A82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288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确定一期目标和建设边界</a:t>
            </a:r>
          </a:p>
        </p:txBody>
      </p:sp>
      <p:sp>
        <p:nvSpPr>
          <p:cNvPr id="6" name="实验填报、原始资产与元数据管理、自然语言统一查询、来源追踪和业务权限。">
            <a:extLst xmlns:a="http://schemas.openxmlformats.org/drawingml/2006/main">
              <a:ext uri="{FF2B5EF4-FFF2-40B4-BE49-F238E27FC236}">
                <a16:creationId xmlns:a16="http://schemas.microsoft.com/office/drawing/2014/main" id="{A8D35562-79EB-4956-8829-5FA692E1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383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实验填报、原始资产与元数据管理、自然语言统一查询、来源追踪和业务权限。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C72AC357-AB67-40E9-815B-D2B7F58E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确认已有资产复用与职责归属">
            <a:extLst xmlns:a="http://schemas.openxmlformats.org/drawingml/2006/main">
              <a:ext uri="{FF2B5EF4-FFF2-40B4-BE49-F238E27FC236}">
                <a16:creationId xmlns:a16="http://schemas.microsoft.com/office/drawing/2014/main" id="{93DF683D-56EB-4808-B428-4C352E12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03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确认已有资产复用与职责归属</a:t>
            </a:r>
          </a:p>
        </p:txBody>
      </p:sp>
      <p:sp>
        <p:nvSpPr>
          <p:cNvPr id="9" name="OceanBase、现有脚本、AD、内网模型继续使用，明确平台与 Ag">
            <a:extLst xmlns:a="http://schemas.openxmlformats.org/drawingml/2006/main">
              <a:ext uri="{FF2B5EF4-FFF2-40B4-BE49-F238E27FC236}">
                <a16:creationId xmlns:a16="http://schemas.microsoft.com/office/drawing/2014/main" id="{3BF9672C-A92F-4AF6-B96D-6CF62735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99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OceanBase、现有脚本、AD、内网模型继续使用，明确平台与 Agent 的接口责任。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153654B5-88D3-43C2-86BF-6A3ED2CB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安排数据负责人、专家和运维参与">
            <a:extLst xmlns:a="http://schemas.openxmlformats.org/drawingml/2006/main">
              <a:ext uri="{FF2B5EF4-FFF2-40B4-BE49-F238E27FC236}">
                <a16:creationId xmlns:a16="http://schemas.microsoft.com/office/drawing/2014/main" id="{F39BD69C-9FF1-4E70-91C7-DE71E28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安排数据负责人、专家和运维参与</a:t>
            </a:r>
          </a:p>
        </p:txBody>
      </p:sp>
      <p:sp>
        <p:nvSpPr>
          <p:cNvPr id="12" name="由业务负责人确认字段和查询口径，专家提供 benchmark，运维定义">
            <a:extLst xmlns:a="http://schemas.openxmlformats.org/drawingml/2006/main">
              <a:ext uri="{FF2B5EF4-FFF2-40B4-BE49-F238E27FC236}">
                <a16:creationId xmlns:a16="http://schemas.microsoft.com/office/drawing/2014/main" id="{E87224E3-869C-40F9-A544-C980E21E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814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由业务负责人确认字段和查询口径，专家提供 benchmark，运维定义恢复和发布流程。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9CCAC62B-5BA1-4F99-BD49-A2C68534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批准先核查与 PoC，再确认排期资源">
            <a:extLst xmlns:a="http://schemas.openxmlformats.org/drawingml/2006/main">
              <a:ext uri="{FF2B5EF4-FFF2-40B4-BE49-F238E27FC236}">
                <a16:creationId xmlns:a16="http://schemas.microsoft.com/office/drawing/2014/main" id="{EEFDB141-DFB6-47BC-85D9-0CC5874A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434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批准先核查与 PoC，再确认排期资源</a:t>
            </a:r>
          </a:p>
        </p:txBody>
      </p:sp>
      <p:sp>
        <p:nvSpPr>
          <p:cNvPr id="15" name="核实表规模、文档体量及接口，在代表性任务上验证 SQL、检索、权限与填">
            <a:extLst xmlns:a="http://schemas.openxmlformats.org/drawingml/2006/main">
              <a:ext uri="{FF2B5EF4-FFF2-40B4-BE49-F238E27FC236}">
                <a16:creationId xmlns:a16="http://schemas.microsoft.com/office/drawing/2014/main" id="{5C3DBB18-A516-4DA6-AAD8-EA6357E7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530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核实表规模、文档体量及接口，在代表性任务上验证 SQL、检索、权限与填报。</a:t>
            </a:r>
          </a:p>
        </p:txBody>
      </p:sp>
    </p:spTree>
    <p:extLst>
      <p:ext uri="{BB962C8B-B14F-4D97-AF65-F5344CB8AC3E}">
        <p14:creationId xmlns:p14="http://schemas.microsoft.com/office/powerpoint/2010/main" val="14903513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电芯批次、实验明细与挂测总表">
            <a:extLst xmlns:a="http://schemas.openxmlformats.org/drawingml/2006/main">
              <a:ext uri="{FF2B5EF4-FFF2-40B4-BE49-F238E27FC236}">
                <a16:creationId xmlns:a16="http://schemas.microsoft.com/office/drawing/2014/main" id="{0C1CBE6A-9877-4925-8B86-E86FB3EC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电芯批次、实验明细与挂测总表</a:t>
            </a:r>
          </a:p>
        </p:txBody>
      </p:sp>
      <p:sp>
        <p:nvSpPr>
          <p:cNvPr id="2" name="已确认：实验员完成一批电芯实验后，将汇总结果填入挂测总表">
            <a:extLst xmlns:a="http://schemas.openxmlformats.org/drawingml/2006/main">
              <a:ext uri="{FF2B5EF4-FFF2-40B4-BE49-F238E27FC236}">
                <a16:creationId xmlns:a16="http://schemas.microsoft.com/office/drawing/2014/main" id="{F6373EBA-FCB3-401E-818B-A05583E6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已确认：实验员完成一批电芯实验后，将汇总结果填入挂测总表</a:t>
            </a:r>
          </a:p>
        </p:txBody>
      </p:sp>
      <p:sp>
        <p:nvSpPr>
          <p:cNvPr id="3" name="26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8E03752E-DEF2-4CC4-887A-B0B290EB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26   RSI 数据平台架构讨论稿 · 2026-10-03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953000"/>
                <a:gridCol w="39433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建议治理字段 / 关系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查询与填报规则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电芯批次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批次标识、项目、样品范围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单电芯标识（如已有）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批次与电芯保持稳定映射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实验明细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实验标识、批次/电芯、方法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条件、时间、结果及记录版本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查询保持实际记录粒度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挂测总表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批次、对应实验范围、汇总指标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统计口径、填写者、时间、版本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标明人工填写或系统计算来源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明细与汇总核对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关联键、统计范围、排除规则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缺失与口径差异说明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可计算项核对，不强行推算无依据值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汇总修订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原值、修订原因、源明细版本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是否需要重算或重新确认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防止明细变化后汇总仍显为最新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字段为建议模型。现有总表字段、关联方式和统计定义需数据负责人核查，暂不">
            <a:extLst xmlns:a="http://schemas.openxmlformats.org/drawingml/2006/main">
              <a:ext uri="{FF2B5EF4-FFF2-40B4-BE49-F238E27FC236}">
                <a16:creationId xmlns:a16="http://schemas.microsoft.com/office/drawing/2014/main" id="{A0651203-5AEA-4180-A8DA-EDAA0085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字段为建议模型。现有总表字段、关联方式和统计定义需数据负责人核查，暂不编造业务口径。</a:t>
            </a:r>
          </a:p>
        </p:txBody>
      </p:sp>
    </p:spTree>
    <p:extLst>
      <p:ext uri="{BB962C8B-B14F-4D97-AF65-F5344CB8AC3E}">
        <p14:creationId xmlns:p14="http://schemas.microsoft.com/office/powerpoint/2010/main" val="143584666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典型任务：同批电芯的明细、汇总与报告查询">
            <a:extLst xmlns:a="http://schemas.openxmlformats.org/drawingml/2006/main">
              <a:ext uri="{FF2B5EF4-FFF2-40B4-BE49-F238E27FC236}">
                <a16:creationId xmlns:a16="http://schemas.microsoft.com/office/drawing/2014/main" id="{C88A0E98-798F-4D48-9E97-AD0505B6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典型任务：同批电芯的明细、汇总与报告查询</a:t>
            </a:r>
          </a:p>
        </p:txBody>
      </p:sp>
      <p:sp>
        <p:nvSpPr>
          <p:cNvPr id="2" name="流程示例，字段使用代称，不代表现有页面或已上线功能">
            <a:extLst xmlns:a="http://schemas.openxmlformats.org/drawingml/2006/main">
              <a:ext uri="{FF2B5EF4-FFF2-40B4-BE49-F238E27FC236}">
                <a16:creationId xmlns:a16="http://schemas.microsoft.com/office/drawing/2014/main" id="{557357BF-311A-4395-93AB-57A0F29A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流程示例，字段使用代称，不代表现有页面或已上线功能</a:t>
            </a:r>
          </a:p>
        </p:txBody>
      </p:sp>
      <p:sp>
        <p:nvSpPr>
          <p:cNvPr id="3" name="27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94CBF25C-B6FC-4E29-94F6-1CEA489E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27   RSI 数据平台架构讨论稿 · 2026-10-03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A6482D67-2C54-41B7-9CDC-513AC8A8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填报任务">
            <a:extLst xmlns:a="http://schemas.openxmlformats.org/drawingml/2006/main">
              <a:ext uri="{FF2B5EF4-FFF2-40B4-BE49-F238E27FC236}">
                <a16:creationId xmlns:a16="http://schemas.microsoft.com/office/drawing/2014/main" id="{FF0ED747-4B7C-46F1-8D11-83538EA4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288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填报任务</a:t>
            </a:r>
          </a:p>
        </p:txBody>
      </p:sp>
      <p:sp>
        <p:nvSpPr>
          <p:cNvPr id="6" name="选择批次 B，登记实验 E 的汇总结果，关联明细或来源文件，经校验后保">
            <a:extLst xmlns:a="http://schemas.openxmlformats.org/drawingml/2006/main">
              <a:ext uri="{FF2B5EF4-FFF2-40B4-BE49-F238E27FC236}">
                <a16:creationId xmlns:a16="http://schemas.microsoft.com/office/drawing/2014/main" id="{848291A7-B276-40F0-B78E-67247BB7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383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选择批次 B，登记实验 E 的汇总结果，关联明细或来源文件，经校验后保存记录版本。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395D4762-B08D-4E5E-BE60-BC9B2919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自然语言问题">
            <a:extLst xmlns:a="http://schemas.openxmlformats.org/drawingml/2006/main">
              <a:ext uri="{FF2B5EF4-FFF2-40B4-BE49-F238E27FC236}">
                <a16:creationId xmlns:a16="http://schemas.microsoft.com/office/drawing/2014/main" id="{05D22A2D-18B7-43AF-8FE0-06B90E1D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03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自然语言问题</a:t>
            </a:r>
          </a:p>
        </p:txBody>
      </p:sp>
      <p:sp>
        <p:nvSpPr>
          <p:cNvPr id="9" name="“查询批次 B 的实验 E 汇总结果，列出对应明细，并提供相关报告中的">
            <a:extLst xmlns:a="http://schemas.openxmlformats.org/drawingml/2006/main">
              <a:ext uri="{FF2B5EF4-FFF2-40B4-BE49-F238E27FC236}">
                <a16:creationId xmlns:a16="http://schemas.microsoft.com/office/drawing/2014/main" id="{07560F9B-09F0-48D0-9DC9-FB49602D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99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“查询批次 B 的实验 E 汇总结果，列出对应明细，并提供相关报告中的证据位置。”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8BBA4057-CC65-477B-A44B-B16FEAC3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平台执行">
            <a:extLst xmlns:a="http://schemas.openxmlformats.org/drawingml/2006/main">
              <a:ext uri="{FF2B5EF4-FFF2-40B4-BE49-F238E27FC236}">
                <a16:creationId xmlns:a16="http://schemas.microsoft.com/office/drawing/2014/main" id="{892590FB-69C4-490B-B6D3-BC17EFC0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719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平台执行</a:t>
            </a:r>
          </a:p>
        </p:txBody>
      </p:sp>
      <p:sp>
        <p:nvSpPr>
          <p:cNvPr id="12" name="按项目授权选取明细与总表视图，校验 SQL，同时按批次/实验标识检索相">
            <a:extLst xmlns:a="http://schemas.openxmlformats.org/drawingml/2006/main">
              <a:ext uri="{FF2B5EF4-FFF2-40B4-BE49-F238E27FC236}">
                <a16:creationId xmlns:a16="http://schemas.microsoft.com/office/drawing/2014/main" id="{BB064DA7-01BC-4866-80E9-2F8E992D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8147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按项目授权选取明细与总表视图，校验 SQL，同时按批次/实验标识检索相关文档。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270ED10A-CDA2-46CF-898D-6655EB35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4" name="统一返回与异常说明">
            <a:extLst xmlns:a="http://schemas.openxmlformats.org/drawingml/2006/main">
              <a:ext uri="{FF2B5EF4-FFF2-40B4-BE49-F238E27FC236}">
                <a16:creationId xmlns:a16="http://schemas.microsoft.com/office/drawing/2014/main" id="{6082FC01-6BCD-4336-8E87-A33E4D4A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434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统一返回与异常说明</a:t>
            </a:r>
          </a:p>
        </p:txBody>
      </p:sp>
      <p:sp>
        <p:nvSpPr>
          <p:cNvPr id="15" name="分别展示汇总与明细，附报告页位置及统计口径；缺少关联、结果冲突或无证据">
            <a:extLst xmlns:a="http://schemas.openxmlformats.org/drawingml/2006/main">
              <a:ext uri="{FF2B5EF4-FFF2-40B4-BE49-F238E27FC236}">
                <a16:creationId xmlns:a16="http://schemas.microsoft.com/office/drawing/2014/main" id="{C20CBF57-EA3C-4C9D-B494-1F6AF090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53025"/>
            <a:ext cx="10191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C4C"/>
                </a:solidFill>
                <a:latin typeface="Microsoft YaHei"/>
                <a:ea typeface="Microsoft YaHei"/>
                <a:cs typeface="Microsoft YaHei"/>
              </a:rPr>
              <a:t>分别展示汇总与明细，附报告页位置及统计口径；缺少关联、结果冲突或无证据时明确提示。</a:t>
            </a:r>
          </a:p>
        </p:txBody>
      </p:sp>
      <p:sp>
        <p:nvSpPr>
          <p:cNvPr id="16" name="该用例适合进入一期 benchmark，分别验证表选择、查询正确性、汇">
            <a:extLst xmlns:a="http://schemas.openxmlformats.org/drawingml/2006/main">
              <a:ext uri="{FF2B5EF4-FFF2-40B4-BE49-F238E27FC236}">
                <a16:creationId xmlns:a16="http://schemas.microsoft.com/office/drawing/2014/main" id="{B4D1B129-1FEB-48ED-A64D-557E0C26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该用例适合进入一期 benchmark，分别验证表选择、查询正确性、汇总口径、文档关联和访问权限。</a:t>
            </a:r>
          </a:p>
        </p:txBody>
      </p:sp>
    </p:spTree>
    <p:extLst>
      <p:ext uri="{BB962C8B-B14F-4D97-AF65-F5344CB8AC3E}">
        <p14:creationId xmlns:p14="http://schemas.microsoft.com/office/powerpoint/2010/main" val="11126199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录：功能优先级与后续边界">
            <a:extLst xmlns:a="http://schemas.openxmlformats.org/drawingml/2006/main">
              <a:ext uri="{FF2B5EF4-FFF2-40B4-BE49-F238E27FC236}">
                <a16:creationId xmlns:a16="http://schemas.microsoft.com/office/drawing/2014/main" id="{BC1151A2-11B2-4A91-A292-DA4D3087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附录：功能优先级与后续边界</a:t>
            </a:r>
          </a:p>
        </p:txBody>
      </p:sp>
      <p:sp>
        <p:nvSpPr>
          <p:cNvPr id="2" name="P0 为一期基础，P1 为一期增强，P2 为后续扩展">
            <a:extLst xmlns:a="http://schemas.openxmlformats.org/drawingml/2006/main">
              <a:ext uri="{FF2B5EF4-FFF2-40B4-BE49-F238E27FC236}">
                <a16:creationId xmlns:a16="http://schemas.microsoft.com/office/drawing/2014/main" id="{55DAE872-8D3A-49A6-B7A7-C9D83290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P0 为一期基础，P1 为一期增强，P2 为后续扩展</a:t>
            </a:r>
          </a:p>
        </p:txBody>
      </p:sp>
      <p:sp>
        <p:nvSpPr>
          <p:cNvPr id="3" name="28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18F7F0E3-BD9E-4B2F-8AE8-434023CB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28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667250"/>
                <a:gridCol w="40386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功能组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/ P1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数据资产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填报/导入、原件、元数据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科学实体关联、质量与版本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仪器/仿真更多数据源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信息查询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自然语言路由、受控 SQL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全文/语义检索、证据与摘要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科研推理与实验方案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专家经验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访谈记录、经验审核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独立查询 benchmark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科学策略 benchmark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集成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复用录入/知识库接口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任务版本与用户反馈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工具技能、模型自动进化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运行治理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AD、项目权限、审计</a:t>
                      </a:r>
                    </a:p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任务恢复、备份与监控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公司级隔离、容量与运营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20107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录：建议登记的元数据字段">
            <a:extLst xmlns:a="http://schemas.openxmlformats.org/drawingml/2006/main">
              <a:ext uri="{FF2B5EF4-FFF2-40B4-BE49-F238E27FC236}">
                <a16:creationId xmlns:a16="http://schemas.microsoft.com/office/drawing/2014/main" id="{4DCF64B1-2597-4C3F-9C8A-2207C32D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附录：建议登记的元数据字段</a:t>
            </a:r>
          </a:p>
        </p:txBody>
      </p:sp>
      <p:sp>
        <p:nvSpPr>
          <p:cNvPr id="2" name="用于实现讨论，不代表现有数据库已经采用这些字段">
            <a:extLst xmlns:a="http://schemas.openxmlformats.org/drawingml/2006/main">
              <a:ext uri="{FF2B5EF4-FFF2-40B4-BE49-F238E27FC236}">
                <a16:creationId xmlns:a16="http://schemas.microsoft.com/office/drawing/2014/main" id="{819B2359-FD2D-41E5-82CD-7CB5DA16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用于实现讨论，不代表现有数据库已经采用这些字段</a:t>
            </a:r>
          </a:p>
        </p:txBody>
      </p:sp>
      <p:sp>
        <p:nvSpPr>
          <p:cNvPr id="3" name="29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FC0B0E22-1490-4CA4-8BD5-520573D7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29   RSI 数据平台架构讨论稿 · 2026-10-03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619750"/>
                <a:gridCol w="33718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最小字段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主要用途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doc_id、版本、校验值、来源路径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存储引用、项目/权限、负责人、状态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原件定位、权限、去重与版本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解析片段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chunk_id、doc_id、页/幻灯片位置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抽取/切分版本、实体标识、权限标签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证据引用、关联与重建索引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实验与样品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experiment_id、sample_id、项目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测量值、单位、方法、条件、记录版本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可比较查询和数据追踪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填报与导入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模板版本、提交者、批次、幂等键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状态、错误、修订原因和时间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提交一致性、重试与审计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查询与评测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用户、问题、权限、Schema、SQL</a:t>
                      </a:r>
                    </a:p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证据/模型版本、结果、反馈和评分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故障排查、版本评测与改进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04741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：主要公开来源与证据范围">
            <a:extLst xmlns:a="http://schemas.openxmlformats.org/drawingml/2006/main">
              <a:ext uri="{FF2B5EF4-FFF2-40B4-BE49-F238E27FC236}">
                <a16:creationId xmlns:a16="http://schemas.microsoft.com/office/drawing/2014/main" id="{986C9E34-CB21-462A-B7DC-615E5459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2304A"/>
                </a:solidFill>
                <a:latin typeface="Microsoft YaHei"/>
                <a:ea typeface="Microsoft YaHei"/>
                <a:cs typeface="Microsoft YaHei"/>
              </a:rPr>
              <a:t>附录：主要公开来源与证据范围</a:t>
            </a:r>
          </a:p>
        </p:txBody>
      </p:sp>
      <p:sp>
        <p:nvSpPr>
          <p:cNvPr id="2" name="完整链接见各页备注与配套文档；访问日期 2026-10-03">
            <a:extLst xmlns:a="http://schemas.openxmlformats.org/drawingml/2006/main">
              <a:ext uri="{FF2B5EF4-FFF2-40B4-BE49-F238E27FC236}">
                <a16:creationId xmlns:a16="http://schemas.microsoft.com/office/drawing/2014/main" id="{3282636A-7756-49A2-806A-CA1FB14D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完整链接见各页备注与配套文档；访问日期 2026-10-03</a:t>
            </a:r>
          </a:p>
        </p:txBody>
      </p:sp>
      <p:sp>
        <p:nvSpPr>
          <p:cNvPr id="3" name="30   RSI 数据平台架构讨论稿 · 2026-10-03">
            <a:extLst xmlns:a="http://schemas.openxmlformats.org/drawingml/2006/main">
              <a:ext uri="{FF2B5EF4-FFF2-40B4-BE49-F238E27FC236}">
                <a16:creationId xmlns:a16="http://schemas.microsoft.com/office/drawing/2014/main" id="{9376EB46-42D7-4F72-A3F4-FEC1CBAD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11087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30   RSI 数据平台架构讨论稿 · 2026-10-03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724025"/>
          <a:ext xmlns:a="http://schemas.openxmlformats.org/drawingml/2006/main" cx="11087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905250"/>
                <a:gridCol w="356235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核查内容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使用范围</a:t>
                      </a:r>
                    </a:p>
                  </a:txBody>
                  <a:tcPr marL="114300" marR="114300" marT="85725" marB="85725" anchor="ctr">
                    <a:solidFill>
                      <a:srgbClr val="12304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NOMAD / AiiDA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ELN 文档 / 论文摘要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科学数据模型与来源追踪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AIMD-L / NIST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机构架构与标准化说明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后续自动实验及分层接口参考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Reflexion / EvoDS / EvoMaster v5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论文摘要与版本信息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未来记忆、技能与证据闭环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MLflow / OpenSearch / OceanBase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访问时官方文档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评测、检索、权限及兼容模式</a:t>
                      </a:r>
                    </a:p>
                  </a:txBody>
                  <a:tcPr marL="114300" marR="114300" marT="85725" marB="85725" anchor="ctr">
                    <a:solidFill>
                      <a:srgbClr val="F1F6FA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draw.io Desktop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官方离线安全说明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63C4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多页可编辑图文件，本地生成</a:t>
                      </a:r>
                    </a:p>
                  </a:txBody>
                  <a:tcPr marL="114300" marR="1143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研究框架不等于企业成熟产品。尚未完成代码适配、组件部署和内部数据验证，">
            <a:extLst xmlns:a="http://schemas.openxmlformats.org/drawingml/2006/main">
              <a:ext uri="{FF2B5EF4-FFF2-40B4-BE49-F238E27FC236}">
                <a16:creationId xmlns:a16="http://schemas.microsoft.com/office/drawing/2014/main" id="{68516399-033B-4F9C-AD78-7FF87CC4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17383"/>
                </a:solidFill>
                <a:latin typeface="Microsoft YaHei"/>
                <a:ea typeface="Microsoft YaHei"/>
                <a:cs typeface="Microsoft YaHei"/>
              </a:rPr>
              <a:t>研究框架不等于企业成熟产品。尚未完成代码适配、组件部署和内部数据验证，不引用基准数字作 ROI。</a:t>
            </a:r>
          </a:p>
        </p:txBody>
      </p:sp>
    </p:spTree>
    <p:extLst>
      <p:ext uri="{BB962C8B-B14F-4D97-AF65-F5344CB8AC3E}">
        <p14:creationId xmlns:p14="http://schemas.microsoft.com/office/powerpoint/2010/main" val="19784929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2026-10-03T08:45:31.8560000Z</dcterms:created>
  <dcterms:modified xsi:type="dcterms:W3CDTF">2026-10-03T08:45:31.8560000Z</dcterms:modified>
</coreProperties>
</file>