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0cb835a64ca4553" /><Relationship Type="http://schemas.openxmlformats.org/officeDocument/2006/relationships/extended-properties" Target="/docProps/app.xml" Id="Re3c9b30e17cf4cc4" /><Relationship Type="http://schemas.openxmlformats.org/officeDocument/2006/relationships/officeDocument" Target="/ppt/presentation.xml" Id="R6aaa37636e89419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43fd1e211814c62"/>
  </p:sldMasterIdLst>
  <p:notesMasterIdLst>
    <p:notesMasterId xmlns:r="http://schemas.openxmlformats.org/officeDocument/2006/relationships" r:id="Red51e53aa1cc4395"/>
  </p:notesMasterIdLst>
  <p:sldIdLst>
    <p:sldId xmlns:r="http://schemas.openxmlformats.org/officeDocument/2006/relationships" id="256" r:id="Rd6b8dc4579274552"/>
    <p:sldId xmlns:r="http://schemas.openxmlformats.org/officeDocument/2006/relationships" id="257" r:id="Rf94e59e4f958418c"/>
    <p:sldId xmlns:r="http://schemas.openxmlformats.org/officeDocument/2006/relationships" id="258" r:id="Rbba4adc66d244a9c"/>
    <p:sldId xmlns:r="http://schemas.openxmlformats.org/officeDocument/2006/relationships" id="259" r:id="R96c15af7eb0842ee"/>
    <p:sldId xmlns:r="http://schemas.openxmlformats.org/officeDocument/2006/relationships" id="260" r:id="R67bd53d65e7c4f4c"/>
    <p:sldId xmlns:r="http://schemas.openxmlformats.org/officeDocument/2006/relationships" id="261" r:id="R424685104e364c1f"/>
    <p:sldId xmlns:r="http://schemas.openxmlformats.org/officeDocument/2006/relationships" id="262" r:id="R82037b81bf4047a0"/>
    <p:sldId xmlns:r="http://schemas.openxmlformats.org/officeDocument/2006/relationships" id="263" r:id="R40a06417658e4ae6"/>
    <p:sldId xmlns:r="http://schemas.openxmlformats.org/officeDocument/2006/relationships" id="264" r:id="Rd9322b1a49a54b74"/>
    <p:sldId xmlns:r="http://schemas.openxmlformats.org/officeDocument/2006/relationships" id="265" r:id="Rf5684905c753473b"/>
    <p:sldId xmlns:r="http://schemas.openxmlformats.org/officeDocument/2006/relationships" id="266" r:id="R14c7705ae6c944d6"/>
    <p:sldId xmlns:r="http://schemas.openxmlformats.org/officeDocument/2006/relationships" id="267" r:id="R2eabf3ee7add4b41"/>
    <p:sldId xmlns:r="http://schemas.openxmlformats.org/officeDocument/2006/relationships" id="268" r:id="Rdd5e360d2fbc4b2b"/>
    <p:sldId xmlns:r="http://schemas.openxmlformats.org/officeDocument/2006/relationships" id="269" r:id="R1297a548db074c83"/>
    <p:sldId xmlns:r="http://schemas.openxmlformats.org/officeDocument/2006/relationships" id="270" r:id="R0d47abb102004046"/>
    <p:sldId xmlns:r="http://schemas.openxmlformats.org/officeDocument/2006/relationships" id="271" r:id="R03a2d17836c3463c"/>
    <p:sldId xmlns:r="http://schemas.openxmlformats.org/officeDocument/2006/relationships" id="272" r:id="R2e7d35a1aca9456b"/>
    <p:sldId xmlns:r="http://schemas.openxmlformats.org/officeDocument/2006/relationships" id="273" r:id="Ra24ee36ba1004648"/>
    <p:sldId xmlns:r="http://schemas.openxmlformats.org/officeDocument/2006/relationships" id="274" r:id="Rba9575c9ed6d4a1f"/>
    <p:sldId xmlns:r="http://schemas.openxmlformats.org/officeDocument/2006/relationships" id="275" r:id="Rcaa6748f855f4ffd"/>
    <p:sldId xmlns:r="http://schemas.openxmlformats.org/officeDocument/2006/relationships" id="276" r:id="R30a7ea098ca04fb0"/>
    <p:sldId xmlns:r="http://schemas.openxmlformats.org/officeDocument/2006/relationships" id="277" r:id="R2ccdc520183343b3"/>
    <p:sldId xmlns:r="http://schemas.openxmlformats.org/officeDocument/2006/relationships" id="278" r:id="R6d54abf3a6804089"/>
    <p:sldId xmlns:r="http://schemas.openxmlformats.org/officeDocument/2006/relationships" id="279" r:id="R2c824e24c17c4ad6"/>
    <p:sldId xmlns:r="http://schemas.openxmlformats.org/officeDocument/2006/relationships" id="280" r:id="Rad475eb7e07b4f81"/>
    <p:sldId xmlns:r="http://schemas.openxmlformats.org/officeDocument/2006/relationships" id="281" r:id="R20f4ee22e573472c"/>
    <p:sldId xmlns:r="http://schemas.openxmlformats.org/officeDocument/2006/relationships" id="282" r:id="R2004bc4050fd4bee"/>
    <p:sldId xmlns:r="http://schemas.openxmlformats.org/officeDocument/2006/relationships" id="283" r:id="R47aeff7ba63f487e"/>
    <p:sldId xmlns:r="http://schemas.openxmlformats.org/officeDocument/2006/relationships" id="284" r:id="R4ad75f3e881441cf"/>
    <p:sldId xmlns:r="http://schemas.openxmlformats.org/officeDocument/2006/relationships" id="285" r:id="Re90a7637bb224b2f"/>
    <p:sldId xmlns:r="http://schemas.openxmlformats.org/officeDocument/2006/relationships" id="286" r:id="R3caac58332514b03"/>
  </p:sldIdLst>
  <p:sldSz cx="17145000" cy="10477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6bbb1894e6546aa" /><Relationship Type="http://schemas.openxmlformats.org/officeDocument/2006/relationships/slideMaster" Target="/ppt/slideMasters/slideMaster1.xml" Id="Rd43fd1e211814c62" /><Relationship Type="http://schemas.openxmlformats.org/officeDocument/2006/relationships/notesMaster" Target="/ppt/notesMasters/notesMaster1.xml" Id="Red51e53aa1cc4395" /><Relationship Type="http://schemas.openxmlformats.org/officeDocument/2006/relationships/presProps" Target="/ppt/presProps.xml" Id="Ra262f7fd273a4289" /><Relationship Type="http://schemas.openxmlformats.org/officeDocument/2006/relationships/tableStyles" Target="/ppt/tableStyles.xml" Id="R124bd4accbc14cba" /><Relationship Type="http://schemas.openxmlformats.org/officeDocument/2006/relationships/slide" Target="/ppt/slides/slide1.xml" Id="Rd6b8dc4579274552" /><Relationship Type="http://schemas.openxmlformats.org/officeDocument/2006/relationships/slide" Target="/ppt/slides/slide2.xml" Id="Rf94e59e4f958418c" /><Relationship Type="http://schemas.openxmlformats.org/officeDocument/2006/relationships/slide" Target="/ppt/slides/slide3.xml" Id="Rbba4adc66d244a9c" /><Relationship Type="http://schemas.openxmlformats.org/officeDocument/2006/relationships/slide" Target="/ppt/slides/slide4.xml" Id="R96c15af7eb0842ee" /><Relationship Type="http://schemas.openxmlformats.org/officeDocument/2006/relationships/slide" Target="/ppt/slides/slide5.xml" Id="R67bd53d65e7c4f4c" /><Relationship Type="http://schemas.openxmlformats.org/officeDocument/2006/relationships/slide" Target="/ppt/slides/slide6.xml" Id="R424685104e364c1f" /><Relationship Type="http://schemas.openxmlformats.org/officeDocument/2006/relationships/slide" Target="/ppt/slides/slide7.xml" Id="R82037b81bf4047a0" /><Relationship Type="http://schemas.openxmlformats.org/officeDocument/2006/relationships/slide" Target="/ppt/slides/slide8.xml" Id="R40a06417658e4ae6" /><Relationship Type="http://schemas.openxmlformats.org/officeDocument/2006/relationships/slide" Target="/ppt/slides/slide9.xml" Id="Rd9322b1a49a54b74" /><Relationship Type="http://schemas.openxmlformats.org/officeDocument/2006/relationships/slide" Target="/ppt/slides/slide10.xml" Id="Rf5684905c753473b" /><Relationship Type="http://schemas.openxmlformats.org/officeDocument/2006/relationships/slide" Target="/ppt/slides/slide11.xml" Id="R14c7705ae6c944d6" /><Relationship Type="http://schemas.openxmlformats.org/officeDocument/2006/relationships/slide" Target="/ppt/slides/slide12.xml" Id="R2eabf3ee7add4b41" /><Relationship Type="http://schemas.openxmlformats.org/officeDocument/2006/relationships/slide" Target="/ppt/slides/slide13.xml" Id="Rdd5e360d2fbc4b2b" /><Relationship Type="http://schemas.openxmlformats.org/officeDocument/2006/relationships/slide" Target="/ppt/slides/slide14.xml" Id="R1297a548db074c83" /><Relationship Type="http://schemas.openxmlformats.org/officeDocument/2006/relationships/slide" Target="/ppt/slides/slide15.xml" Id="R0d47abb102004046" /><Relationship Type="http://schemas.openxmlformats.org/officeDocument/2006/relationships/slide" Target="/ppt/slides/slide16.xml" Id="R03a2d17836c3463c" /><Relationship Type="http://schemas.openxmlformats.org/officeDocument/2006/relationships/slide" Target="/ppt/slides/slide17.xml" Id="R2e7d35a1aca9456b" /><Relationship Type="http://schemas.openxmlformats.org/officeDocument/2006/relationships/slide" Target="/ppt/slides/slide18.xml" Id="Ra24ee36ba1004648" /><Relationship Type="http://schemas.openxmlformats.org/officeDocument/2006/relationships/slide" Target="/ppt/slides/slide19.xml" Id="Rba9575c9ed6d4a1f" /><Relationship Type="http://schemas.openxmlformats.org/officeDocument/2006/relationships/slide" Target="/ppt/slides/slide20.xml" Id="Rcaa6748f855f4ffd" /><Relationship Type="http://schemas.openxmlformats.org/officeDocument/2006/relationships/slide" Target="/ppt/slides/slide21.xml" Id="R30a7ea098ca04fb0" /><Relationship Type="http://schemas.openxmlformats.org/officeDocument/2006/relationships/slide" Target="/ppt/slides/slide22.xml" Id="R2ccdc520183343b3" /><Relationship Type="http://schemas.openxmlformats.org/officeDocument/2006/relationships/slide" Target="/ppt/slides/slide23.xml" Id="R6d54abf3a6804089" /><Relationship Type="http://schemas.openxmlformats.org/officeDocument/2006/relationships/slide" Target="/ppt/slides/slide24.xml" Id="R2c824e24c17c4ad6" /><Relationship Type="http://schemas.openxmlformats.org/officeDocument/2006/relationships/slide" Target="/ppt/slides/slide25.xml" Id="Rad475eb7e07b4f81" /><Relationship Type="http://schemas.openxmlformats.org/officeDocument/2006/relationships/slide" Target="/ppt/slides/slide26.xml" Id="R20f4ee22e573472c" /><Relationship Type="http://schemas.openxmlformats.org/officeDocument/2006/relationships/slide" Target="/ppt/slides/slide27.xml" Id="R2004bc4050fd4bee" /><Relationship Type="http://schemas.openxmlformats.org/officeDocument/2006/relationships/slide" Target="/ppt/slides/slide28.xml" Id="R47aeff7ba63f487e" /><Relationship Type="http://schemas.openxmlformats.org/officeDocument/2006/relationships/slide" Target="/ppt/slides/slide29.xml" Id="R4ad75f3e881441cf" /><Relationship Type="http://schemas.openxmlformats.org/officeDocument/2006/relationships/slide" Target="/ppt/slides/slide30.xml" Id="Re90a7637bb224b2f" /><Relationship Type="http://schemas.openxmlformats.org/officeDocument/2006/relationships/slide" Target="/ppt/slides/slide31.xml" Id="R3caac58332514b0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1d16f0fe660436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cdd4c48db2b42fe" /><Relationship Type="http://schemas.openxmlformats.org/officeDocument/2006/relationships/notesMaster" Target="/ppt/notesMasters/notesMaster1.xml" Id="R2b872255ec83411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492fbdae0e94cf4" /><Relationship Type="http://schemas.openxmlformats.org/officeDocument/2006/relationships/notesMaster" Target="/ppt/notesMasters/notesMaster1.xml" Id="R19518e876d6a42e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1324b08a1af4a28" /><Relationship Type="http://schemas.openxmlformats.org/officeDocument/2006/relationships/notesMaster" Target="/ppt/notesMasters/notesMaster1.xml" Id="R0ca843d4a1524dd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6da02ee91354cca" /><Relationship Type="http://schemas.openxmlformats.org/officeDocument/2006/relationships/notesMaster" Target="/ppt/notesMasters/notesMaster1.xml" Id="R075920e2977246f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4b0c7db101c494f" /><Relationship Type="http://schemas.openxmlformats.org/officeDocument/2006/relationships/notesMaster" Target="/ppt/notesMasters/notesMaster1.xml" Id="R003b2651914a40b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7890ea6a2c64929" /><Relationship Type="http://schemas.openxmlformats.org/officeDocument/2006/relationships/notesMaster" Target="/ppt/notesMasters/notesMaster1.xml" Id="R57f6752cd6cb45a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a5d2bd6b7b54821" /><Relationship Type="http://schemas.openxmlformats.org/officeDocument/2006/relationships/notesMaster" Target="/ppt/notesMasters/notesMaster1.xml" Id="R58a2bc2a73d143e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563007e06d24042" /><Relationship Type="http://schemas.openxmlformats.org/officeDocument/2006/relationships/notesMaster" Target="/ppt/notesMasters/notesMaster1.xml" Id="R0e00a35f782e4ef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fb21333a47c4ee7" /><Relationship Type="http://schemas.openxmlformats.org/officeDocument/2006/relationships/notesMaster" Target="/ppt/notesMasters/notesMaster1.xml" Id="R98193d396d4f4b3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98e7e0bb6724beb" /><Relationship Type="http://schemas.openxmlformats.org/officeDocument/2006/relationships/notesMaster" Target="/ppt/notesMasters/notesMaster1.xml" Id="Rc7fe64412d5147a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db1be91a9544652" /><Relationship Type="http://schemas.openxmlformats.org/officeDocument/2006/relationships/notesMaster" Target="/ppt/notesMasters/notesMaster1.xml" Id="Rc8e6d4e5ba4c445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0a200adbdf54c15" /><Relationship Type="http://schemas.openxmlformats.org/officeDocument/2006/relationships/notesMaster" Target="/ppt/notesMasters/notesMaster1.xml" Id="R69771dad8bb946e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d29bd21c52e49bc" /><Relationship Type="http://schemas.openxmlformats.org/officeDocument/2006/relationships/notesMaster" Target="/ppt/notesMasters/notesMaster1.xml" Id="R2e0ccf4f84fc4f5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960f54fc2424ae3" /><Relationship Type="http://schemas.openxmlformats.org/officeDocument/2006/relationships/notesMaster" Target="/ppt/notesMasters/notesMaster1.xml" Id="R3fd2f6705ea44fa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5f78f9b89264d9c" /><Relationship Type="http://schemas.openxmlformats.org/officeDocument/2006/relationships/notesMaster" Target="/ppt/notesMasters/notesMaster1.xml" Id="R820384ac4e7d487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b16212f12db4801" /><Relationship Type="http://schemas.openxmlformats.org/officeDocument/2006/relationships/notesMaster" Target="/ppt/notesMasters/notesMaster1.xml" Id="R839fc0df886c457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744458438a44d25" /><Relationship Type="http://schemas.openxmlformats.org/officeDocument/2006/relationships/notesMaster" Target="/ppt/notesMasters/notesMaster1.xml" Id="Rbeaa1f57cebe4d1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beb6bc0e5c7496c" /><Relationship Type="http://schemas.openxmlformats.org/officeDocument/2006/relationships/notesMaster" Target="/ppt/notesMasters/notesMaster1.xml" Id="R4a6c13979f3f441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9dfd2b9e4b34814" /><Relationship Type="http://schemas.openxmlformats.org/officeDocument/2006/relationships/notesMaster" Target="/ppt/notesMasters/notesMaster1.xml" Id="R612a470d40e04af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68f0f4febb842b4" /><Relationship Type="http://schemas.openxmlformats.org/officeDocument/2006/relationships/notesMaster" Target="/ppt/notesMasters/notesMaster1.xml" Id="R43f32db5852342fb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5b17f94616d4835" /><Relationship Type="http://schemas.openxmlformats.org/officeDocument/2006/relationships/notesMaster" Target="/ppt/notesMasters/notesMaster1.xml" Id="Rf5d1b29783f243a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6096439a6ad8473e" /><Relationship Type="http://schemas.openxmlformats.org/officeDocument/2006/relationships/notesMaster" Target="/ppt/notesMasters/notesMaster1.xml" Id="R589ed2985e034d3a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3d84a2047f1b40dd" /><Relationship Type="http://schemas.openxmlformats.org/officeDocument/2006/relationships/notesMaster" Target="/ppt/notesMasters/notesMaster1.xml" Id="Raced27501ab0439b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42d3798fc15e4f52" /><Relationship Type="http://schemas.openxmlformats.org/officeDocument/2006/relationships/notesMaster" Target="/ppt/notesMasters/notesMaster1.xml" Id="Ra65712a5311c46ab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d8691851b5744828" /><Relationship Type="http://schemas.openxmlformats.org/officeDocument/2006/relationships/notesMaster" Target="/ppt/notesMasters/notesMaster1.xml" Id="Rac9ede8613004eb3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bac3001ce18f42f2" /><Relationship Type="http://schemas.openxmlformats.org/officeDocument/2006/relationships/notesMaster" Target="/ppt/notesMasters/notesMaster1.xml" Id="R443a79375c8d4aa1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14d105abcc2e469b" /><Relationship Type="http://schemas.openxmlformats.org/officeDocument/2006/relationships/notesMaster" Target="/ppt/notesMasters/notesMaster1.xml" Id="R2732f43f00604c02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b6da9bee2b1c4fb7" /><Relationship Type="http://schemas.openxmlformats.org/officeDocument/2006/relationships/notesMaster" Target="/ppt/notesMasters/notesMaster1.xml" Id="R05cf9980b85941aa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6e2f5022292e453c" /><Relationship Type="http://schemas.openxmlformats.org/officeDocument/2006/relationships/notesMaster" Target="/ppt/notesMasters/notesMaster1.xml" Id="R5e0b819bcb7e49f7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3e7621b6dd9646c6" /><Relationship Type="http://schemas.openxmlformats.org/officeDocument/2006/relationships/notesMaster" Target="/ppt/notesMasters/notesMaster1.xml" Id="Rde2bd787bfa94fff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7cda846870134eba" /><Relationship Type="http://schemas.openxmlformats.org/officeDocument/2006/relationships/notesMaster" Target="/ppt/notesMasters/notesMaster1.xml" Id="R1f4156273d4a410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本页组件是项目设计建议，不表示已部署。已知 Excel、OceanBase、NAS、AD 与内网 LLM/embedding 存在，统一元数据目录及治理服务从零建设。原始数据表示文件和记录，元数据表示资产身份、版本、来源、权限及加工关系。推荐业务库继续使用 OceanBase，原件采用私有 S3，Ceph RGW 为 PoC 候选，已有 NAS 受控副本为过渡。Langfuse 为 Agent 观测优先 PoC，Phoenix 为替代，二者不要求同时部署。按官方当前自托管架构，Langfuse 使用 PostgreSQL、ClickHouse、Redis/Valkey 和 S3；其后端不强制替换成 OceanBase。目录保存外部轨迹引用，轨迹详情保留在产品后端。全文/向量和对象存储最终选择按 v4 对比及真实 PoC，内网视觉和 ASR 未确认。元数据目录由平台团队维护，业务负责人确认口径和权限。自建事件协议可映射 OpenLineage；它与 OpenTelemetry 分别承担数据加工血缘和运行观测，不能互相代替。</a:t>
            </a:r>
          </a:p>
          <a:p xmlns:a="http://schemas.openxmlformats.org/drawingml/2006/main">
            <a:r>
              <a:t>Langfuse self hosting | https://langfuse.com/self-hosting | 自托管应用与官方存储依赖</a:t>
            </a:r>
          </a:p>
          <a:p xmlns:a="http://schemas.openxmlformats.org/drawingml/2006/main">
            <a:r>
              <a:t>OpenLineage object model | https://openlineage.io/docs/spec/object-model/ | Dataset、Job、Run 和事件模型</a:t>
            </a:r>
          </a:p>
          <a:p xmlns:a="http://schemas.openxmlformats.org/drawingml/2006/main">
            <a:r>
              <a:t>JSON Schema validation | https://json-schema.org/draft/2020-12/json-schema-validation | 结构契约验证</a:t>
            </a:r>
          </a:p>
          <a:p xmlns:a="http://schemas.openxmlformats.org/drawingml/2006/main">
            <a:r>
              <a:t>Ceph RGW | https://docs.ceph.com/en/latest/radosgw/index.html | S3 兼容对象存储</a:t>
            </a:r>
          </a:p>
          <a:p xmlns:a="http://schemas.openxmlformats.org/drawingml/2006/main">
            <a:r>
              <a:t>OpenTelemetry Collector | https://opentelemetry.io/docs/collector/ | 遥测采集适配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已确认基础：内网部署，OceanBase MySQL 兼容，约 3000 张独立明细表、少量人工挂测总表，约 50 用户，公司 AD 和内网 LLM/embedding 可用。一期实验填报与自然语言统一查询；后续科研推理、技能和权重进化不属于一期。各组件为架构建议，兼容性和容量经内部 PoC 核验。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已确认基础：内网部署，OceanBase MySQL 兼容，约 3000 张独立明细表、少量人工挂测总表，约 50 用户，公司 AD 和内网 LLM/embedding 可用。一期实验填报与自然语言统一查询；后续科研推理、技能和权重进化不属于一期。各组件为架构建议，兼容性和容量经内部 PoC 核验。</a:t>
            </a:r>
          </a:p>
          <a:p xmlns:a="http://schemas.openxmlformats.org/drawingml/2006/main">
            <a:r>
              <a:t>OpenLineage | https://openlineage.io/docs/spec/examples/ | Job、Run、Dataset 与输入输出关系</a:t>
            </a:r>
          </a:p>
          <a:p xmlns:a="http://schemas.openxmlformats.org/drawingml/2006/main">
            <a:r>
              <a:t>AiiDA | https://arxiv.org/abs/2003.12476 | 科学计算自动化及数据来源追踪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已确认基础：内网部署，OceanBase MySQL 兼容，约 3000 张独立明细表、少量人工挂测总表，约 50 用户，公司 AD 和内网 LLM/embedding 可用。一期实验填报与自然语言统一查询；后续科研推理、技能和权重进化不属于一期。各组件为架构建议，兼容性和容量经内部 PoC 核验。</a:t>
            </a:r>
          </a:p>
          <a:p xmlns:a="http://schemas.openxmlformats.org/drawingml/2006/main">
            <a:r>
              <a:t>Great Expectations Checkpoints | https://docs.greatexpectations.io/docs/core/trigger_actions_based_on_results/create_a_checkpoint_with_actions/ | 数据验证和结果驱动动作</a:t>
            </a:r>
          </a:p>
          <a:p xmlns:a="http://schemas.openxmlformats.org/drawingml/2006/main">
            <a:r>
              <a:t>MLflow Evaluation Datasets | https://mlflow.org/docs/latest/genai/datasets/ | 评测数据集与运行记录关联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已确认基础：内网部署，OceanBase MySQL 兼容，约 3000 张独立明细表、少量人工挂测总表，约 50 用户，公司 AD 和内网 LLM/embedding 可用。一期实验填报与自然语言统一查询；后续科研推理、技能和权重进化不属于一期。各组件为架构建议，兼容性和容量经内部 PoC 核验。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已确认基础：内网部署，OceanBase MySQL 兼容，约 3000 张独立明细表、少量人工挂测总表，约 50 用户，公司 AD 和内网 LLM/embedding 可用。一期实验填报与自然语言统一查询；后续科研推理、技能和权重进化不属于一期。各组件为架构建议，兼容性和容量经内部 PoC 核验。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已确认基础：内网部署，OceanBase MySQL 兼容，约 3000 张独立明细表、少量人工挂测总表，约 50 用户，公司 AD 和内网 LLM/embedding 可用。一期实验填报与自然语言统一查询；后续科研推理、技能和权重进化不属于一期。各组件为架构建议，兼容性和容量经内部 PoC 核验。</a:t>
            </a:r>
          </a:p>
          <a:p xmlns:a="http://schemas.openxmlformats.org/drawingml/2006/main">
            <a:r>
              <a:t>DuckDB concurrency | https://duckdb.org/docs/current/connect/concurrency | 嵌入式写入模型；远程并发协议需按版本核验</a:t>
            </a:r>
          </a:p>
          <a:p xmlns:a="http://schemas.openxmlformats.org/drawingml/2006/main">
            <a:r>
              <a:t>Iceberg snapshots | https://iceberg.apache.org/docs/latest/branching/ | 分析数据快照与生命周期</a:t>
            </a:r>
          </a:p>
          <a:p xmlns:a="http://schemas.openxmlformats.org/drawingml/2006/main">
            <a:r>
              <a:t>OceanBase vector SQL | https://en.oceanbase.com/docs/common-oceanbase-database-10000000001976352 | 4.3.5 文档介绍 MySQL 租户向量 SQL，现网版本需核验</a:t>
            </a:r>
          </a:p>
          <a:p xmlns:a="http://schemas.openxmlformats.org/drawingml/2006/main">
            <a:r>
              <a:t>ClickHouse columnar | https://clickhouse.com/resources/engineering/when-to-use-columnar-database | 面向聚合分析的列式存储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已确认基础：内网部署，OceanBase MySQL 兼容，约 3000 张独立明细表、少量人工挂测总表，约 50 用户，公司 AD 和内网 LLM/embedding 可用。一期实验填报与自然语言统一查询；后续科研推理、技能和权重进化不属于一期。各组件为架构建议，兼容性和容量经内部 PoC 核验。</a:t>
            </a:r>
          </a:p>
          <a:p xmlns:a="http://schemas.openxmlformats.org/drawingml/2006/main">
            <a:r>
              <a:t>S3 Versioning | https://docs.aws.amazon.com/AmazonS3/latest/userguide/Versioning.html | 对象多版本与删除标记，作为接口能力参考，不推荐云端部署</a:t>
            </a:r>
          </a:p>
          <a:p xmlns:a="http://schemas.openxmlformats.org/drawingml/2006/main">
            <a:r>
              <a:t>Ceph RGW | https://docs.ceph.com/en/latest/radosgw/index.html | 内网对象存储的 S3 / Swift 接口</a:t>
            </a:r>
          </a:p>
          <a:p xmlns:a="http://schemas.openxmlformats.org/drawingml/2006/main">
            <a:r>
              <a:t>SeaweedFS | https://github.com/seaweedfs/seaweedfs | S3 与文件存储，可自部署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已确认基础：内网部署，OceanBase MySQL 兼容，约 3000 张独立明细表、少量人工挂测总表，约 50 用户，公司 AD 和内网 LLM/embedding 可用。一期实验填报与自然语言统一查询；后续科研推理、技能和权重进化不属于一期。各组件为架构建议，兼容性和容量经内部 PoC 核验。</a:t>
            </a:r>
          </a:p>
          <a:p xmlns:a="http://schemas.openxmlformats.org/drawingml/2006/main">
            <a:r>
              <a:t>Ceph RGW | https://docs.ceph.com/en/latest/radosgw/index.html | 内网对象存储的 S3 / Swift 接口</a:t>
            </a:r>
          </a:p>
          <a:p xmlns:a="http://schemas.openxmlformats.org/drawingml/2006/main">
            <a:r>
              <a:t>SeaweedFS | https://github.com/seaweedfs/seaweedfs | S3 与文件存储，可自部署</a:t>
            </a:r>
          </a:p>
          <a:p xmlns:a="http://schemas.openxmlformats.org/drawingml/2006/main">
            <a:r>
              <a:t>MinIO maintenance | https://www.min.io/legal | 官方声明开源产品已于 2025-09 停止维护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已确认基础：内网部署，OceanBase MySQL 兼容，约 3000 张独立明细表、少量人工挂测总表，约 50 用户，公司 AD 和内网 LLM/embedding 可用。一期实验填报与自然语言统一查询；后续科研推理、技能和权重进化不属于一期。各组件为架构建议，兼容性和容量经内部 PoC 核验。</a:t>
            </a:r>
          </a:p>
          <a:p xmlns:a="http://schemas.openxmlformats.org/drawingml/2006/main">
            <a:r>
              <a:t>DoclingDocument | https://docling-project.github.io/docling/concepts/docling_document/ | 统一文档表示与来源位置</a:t>
            </a:r>
          </a:p>
          <a:p xmlns:a="http://schemas.openxmlformats.org/drawingml/2006/main">
            <a:r>
              <a:t>Docling formats | https://docling-project.github.io/docling/usage/supported_formats/ | PDF / DOCX / PPTX 等解析支持，旧格式需转码验证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已确认基础：内网部署，OceanBase MySQL 兼容，约 3000 张独立明细表、少量人工挂测总表，约 50 用户，公司 AD 和内网 LLM/embedding 可用。一期实验填报与自然语言统一查询；后续科研推理、技能和权重进化不属于一期。各组件为架构建议，兼容性和容量经内部 PoC 核验。</a:t>
            </a:r>
          </a:p>
          <a:p xmlns:a="http://schemas.openxmlformats.org/drawingml/2006/main">
            <a:r>
              <a:t>Milvus multi-vector | https://milvus.io/docs/multi-vector-search.md | 多向量字段与融合检索</a:t>
            </a:r>
          </a:p>
          <a:p xmlns:a="http://schemas.openxmlformats.org/drawingml/2006/main">
            <a:r>
              <a:t>Qdrant vectors | https://qdrant.tech/documentation/manage-data/vectors/ | 命名向量及不同表示的管理</a:t>
            </a:r>
          </a:p>
          <a:p xmlns:a="http://schemas.openxmlformats.org/drawingml/2006/main">
            <a:r>
              <a:t>LanceDB | https://docs.lancedb.com/ | Lance 格式与多模态；OSS / Enterprise 边界需区分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已确认基础：内网部署，OceanBase MySQL 兼容，约 3000 张独立明细表、少量人工挂测总表，约 50 用户，公司 AD 和内网 LLM/embedding 可用。一期实验填报与自然语言统一查询；后续科研推理、技能和权重进化不属于一期。各组件为架构建议，兼容性和容量经内部 PoC 核验。</a:t>
            </a:r>
          </a:p>
          <a:p xmlns:a="http://schemas.openxmlformats.org/drawingml/2006/main">
            <a:r>
              <a:t>OpenSearch Hybrid Search | https://docs.opensearch.org/latest/vector-search/ai-search/hybrid-search/index/ | 全文与语义检索融合</a:t>
            </a:r>
          </a:p>
          <a:p xmlns:a="http://schemas.openxmlformats.org/drawingml/2006/main">
            <a:r>
              <a:t>pgvector | https://github.com/pgvector/pgvector | PostgreSQL 向量扩展，非 MySQL/OceanBase 插件</a:t>
            </a:r>
          </a:p>
          <a:p xmlns:a="http://schemas.openxmlformats.org/drawingml/2006/main">
            <a:r>
              <a:t>Milvus multi-vector | https://milvus.io/docs/multi-vector-search.md | 多向量字段与融合检索</a:t>
            </a:r>
          </a:p>
          <a:p xmlns:a="http://schemas.openxmlformats.org/drawingml/2006/main">
            <a:r>
              <a:t>Qdrant vectors | https://qdrant.tech/documentation/manage-data/vectors/ | 命名向量及不同表示的管理</a:t>
            </a:r>
          </a:p>
          <a:p xmlns:a="http://schemas.openxmlformats.org/drawingml/2006/main">
            <a:r>
              <a:t>LanceDB | https://docs.lancedb.com/ | Lance 格式与多模态；OSS / Enterprise 边界需区分</a:t>
            </a:r>
          </a:p>
          <a:p xmlns:a="http://schemas.openxmlformats.org/drawingml/2006/main">
            <a:r>
              <a:t>OceanBase vector SQL | https://en.oceanbase.com/docs/common-oceanbase-database-10000000001976352 | 4.3.5 文档介绍 MySQL 租户向量 SQL，现网版本需核验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已确认基础：内网部署，OceanBase MySQL 兼容，约 3000 张独立明细表、少量人工挂测总表，约 50 用户，公司 AD 和内网 LLM/embedding 可用。一期实验填报与自然语言统一查询；后续科研推理、技能和权重进化不属于一期。各组件为架构建议，兼容性和容量经内部 PoC 核验。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已确认基础：内网部署，OceanBase MySQL 兼容，约 3000 张独立明细表、少量人工挂测总表，约 50 用户，公司 AD 和内网 LLM/embedding 可用。一期实验填报与自然语言统一查询；后续科研推理、技能和权重进化不属于一期。各组件为架构建议，兼容性和容量经内部 PoC 核验。</a:t>
            </a:r>
          </a:p>
          <a:p xmlns:a="http://schemas.openxmlformats.org/drawingml/2006/main">
            <a:r>
              <a:t>Langfuse Self-hosting | https://langfuse.com/self-hosting | 本轮官方页面显示 v4，自托管涉及 Postgres、ClickHouse、Redis/Valkey、对象存储</a:t>
            </a:r>
          </a:p>
          <a:p xmlns:a="http://schemas.openxmlformats.org/drawingml/2006/main">
            <a:r>
              <a:t>Phoenix architecture | https://arize.com/docs/phoenix/self-hosting/architecture | 轨迹观测，SQLite 与 PostgreSQL 后端</a:t>
            </a:r>
          </a:p>
          <a:p xmlns:a="http://schemas.openxmlformats.org/drawingml/2006/main">
            <a:r>
              <a:t>OpenTelemetry Collector | https://opentelemetry.io/docs/collector/ | 采集、处理与导出遥测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已确认基础：内网部署，OceanBase MySQL 兼容，约 3000 张独立明细表、少量人工挂测总表，约 50 用户，公司 AD 和内网 LLM/embedding 可用。一期实验填报与自然语言统一查询；后续科研推理、技能和权重进化不属于一期。各组件为架构建议，兼容性和容量经内部 PoC 核验。</a:t>
            </a:r>
          </a:p>
          <a:p xmlns:a="http://schemas.openxmlformats.org/drawingml/2006/main">
            <a:r>
              <a:t>Langfuse Self-hosting | https://langfuse.com/self-hosting | 本轮官方页面显示 v4，自托管涉及 Postgres、ClickHouse、Redis/Valkey、对象存储</a:t>
            </a:r>
          </a:p>
          <a:p xmlns:a="http://schemas.openxmlformats.org/drawingml/2006/main">
            <a:r>
              <a:t>Phoenix architecture | https://arize.com/docs/phoenix/self-hosting/architecture | 轨迹观测，SQLite 与 PostgreSQL 后端</a:t>
            </a:r>
          </a:p>
          <a:p xmlns:a="http://schemas.openxmlformats.org/drawingml/2006/main">
            <a:r>
              <a:t>DuckDB concurrency | https://duckdb.org/docs/current/connect/concurrency | 嵌入式写入模型；远程并发协议需按版本核验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已确认基础：内网部署，OceanBase MySQL 兼容，约 3000 张独立明细表、少量人工挂测总表，约 50 用户，公司 AD 和内网 LLM/embedding 可用。一期实验填报与自然语言统一查询；后续科研推理、技能和权重进化不属于一期。各组件为架构建议，兼容性和容量经内部 PoC 核验。</a:t>
            </a:r>
          </a:p>
          <a:p xmlns:a="http://schemas.openxmlformats.org/drawingml/2006/main">
            <a:r>
              <a:t>Mem0 OSS | https://docs.mem0.ai/open-source/overview | 库或自托管服务，配置模型与向量后端</a:t>
            </a:r>
          </a:p>
          <a:p xmlns:a="http://schemas.openxmlformats.org/drawingml/2006/main">
            <a:r>
              <a:t>LangGraph persistence | https://docs.langchain.com/oss/python/langgraph/persistence | 线程状态、Checkpoint 与运行恢复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已确认基础：内网部署，OceanBase MySQL 兼容，约 3000 张独立明细表、少量人工挂测总表，约 50 用户，公司 AD 和内网 LLM/embedding 可用。一期实验填报与自然语言统一查询；后续科研推理、技能和权重进化不属于一期。各组件为架构建议，兼容性和容量经内部 PoC 核验。</a:t>
            </a:r>
          </a:p>
          <a:p xmlns:a="http://schemas.openxmlformats.org/drawingml/2006/main">
            <a:r>
              <a:t>Mem0 OSS | https://docs.mem0.ai/open-source/overview | 库或自托管服务，配置模型与向量后端</a:t>
            </a:r>
          </a:p>
          <a:p xmlns:a="http://schemas.openxmlformats.org/drawingml/2006/main">
            <a:r>
              <a:t>LangGraph persistence | https://docs.langchain.com/oss/python/langgraph/persistence | 线程状态、Checkpoint 与运行恢复</a:t>
            </a:r>
          </a:p>
          <a:p xmlns:a="http://schemas.openxmlformats.org/drawingml/2006/main">
            <a:r>
              <a:t>OpenAI conversation state | https://developers.openai.com/api/docs/guides/conversation-state | 托管会话状态接口，非公司内网记忆数据库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已确认基础：内网部署，OceanBase MySQL 兼容，约 3000 张独立明细表、少量人工挂测总表，约 50 用户，公司 AD 和内网 LLM/embedding 可用。一期实验填报与自然语言统一查询；后续科研推理、技能和权重进化不属于一期。各组件为架构建议，兼容性和容量经内部 PoC 核验。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已确认基础：内网部署，OceanBase MySQL 兼容，约 3000 张独立明细表、少量人工挂测总表，约 50 用户，公司 AD 和内网 LLM/embedding 可用。一期实验填报与自然语言统一查询；后续科研推理、技能和权重进化不属于一期。各组件为架构建议，兼容性和容量经内部 PoC 核验。</a:t>
            </a:r>
          </a:p>
          <a:p xmlns:a="http://schemas.openxmlformats.org/drawingml/2006/main">
            <a:r>
              <a:t>Langfuse Self-hosting | https://langfuse.com/self-hosting | 本轮官方页面显示 v4，自托管涉及 Postgres、ClickHouse、Redis/Valkey、对象存储</a:t>
            </a:r>
          </a:p>
          <a:p xmlns:a="http://schemas.openxmlformats.org/drawingml/2006/main">
            <a:r>
              <a:t>MLflow Prompt Registry | https://mlflow.org/docs/latest/genai/prompt-registry/ | Prompt 版本与注册管理</a:t>
            </a:r>
          </a:p>
          <a:p xmlns:a="http://schemas.openxmlformats.org/drawingml/2006/main">
            <a:r>
              <a:t>GitLab Registry | https://docs.gitlab.com/user/packages/package_registry/ | 制品发布与流水线、Commit 关联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已确认基础：内网部署，OceanBase MySQL 兼容，约 3000 张独立明细表、少量人工挂测总表，约 50 用户，公司 AD 和内网 LLM/embedding 可用。一期实验填报与自然语言统一查询；后续科研推理、技能和权重进化不属于一期。各组件为架构建议，兼容性和容量经内部 PoC 核验。</a:t>
            </a:r>
          </a:p>
          <a:p xmlns:a="http://schemas.openxmlformats.org/drawingml/2006/main">
            <a:r>
              <a:t>MLflow artifacts | https://mlflow.org/docs/latest/self-hosting/architecture/artifact-store/ | 元数据与大文件存储分离，支持 S3 兼容与 NFS</a:t>
            </a:r>
          </a:p>
          <a:p xmlns:a="http://schemas.openxmlformats.org/drawingml/2006/main">
            <a:r>
              <a:t>DVC | https://doc.dvc.org/user-guide | Git 中记录大文件版本引用，实际数据另存</a:t>
            </a:r>
          </a:p>
          <a:p xmlns:a="http://schemas.openxmlformats.org/drawingml/2006/main">
            <a:r>
              <a:t>PyTorch Checkpoint | https://docs.pytorch.org/tutorials/beginner/saving_loading_models.html | 续训快照包含权重之外的优化器与训练状态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已确认基础：内网部署，OceanBase MySQL 兼容，约 3000 张独立明细表、少量人工挂测总表，约 50 用户，公司 AD 和内网 LLM/embedding 可用。一期实验填报与自然语言统一查询；后续科研推理、技能和权重进化不属于一期。各组件为架构建议，兼容性和容量经内部 PoC 核验。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已确认基础：内网部署，OceanBase MySQL 兼容，约 3000 张独立明细表、少量人工挂测总表，约 50 用户，公司 AD 和内网 LLM/embedding 可用。一期实验填报与自然语言统一查询；后续科研推理、技能和权重进化不属于一期。各组件为架构建议，兼容性和容量经内部 PoC 核验。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已确认基础：内网部署，OceanBase MySQL 兼容，约 3000 张独立明细表、少量人工挂测总表，约 50 用户，公司 AD 和内网 LLM/embedding 可用。一期实验填报与自然语言统一查询；后续科研推理、技能和权重进化不属于一期。各组件为架构建议，兼容性和容量经内部 PoC 核验。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已确认基础：内网部署，OceanBase MySQL 兼容，约 3000 张独立明细表、少量人工挂测总表，约 50 用户，公司 AD 和内网 LLM/embedding 可用。一期实验填报与自然语言统一查询；后续科研推理、技能和权重进化不属于一期。各组件为架构建议，兼容性和容量经内部 PoC 核验。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已确认基础：内网部署，OceanBase MySQL 兼容，约 3000 张独立明细表、少量人工挂测总表，约 50 用户，公司 AD 和内网 LLM/embedding 可用。一期实验填报与自然语言统一查询；后续科研推理、技能和权重进化不属于一期。各组件为架构建议，兼容性和容量经内部 PoC 核验。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已确认基础：内网部署，OceanBase MySQL 兼容，约 3000 张独立明细表、少量人工挂测总表，约 50 用户，公司 AD 和内网 LLM/embedding 可用。一期实验填报与自然语言统一查询；后续科研推理、技能和权重进化不属于一期。各组件为架构建议，兼容性和容量经内部 PoC 核验。</a:t>
            </a:r>
          </a:p>
          <a:p xmlns:a="http://schemas.openxmlformats.org/drawingml/2006/main">
            <a:r>
              <a:t>Phoenix architecture | https://arize.com/docs/phoenix/self-hosting/architecture | 轨迹观测，SQLite 与 PostgreSQL 后端</a:t>
            </a:r>
          </a:p>
          <a:p xmlns:a="http://schemas.openxmlformats.org/drawingml/2006/main">
            <a:r>
              <a:t>DuckDB concurrency | https://duckdb.org/docs/current/connect/concurrency | 嵌入式写入模型；远程并发协议需按版本核验</a:t>
            </a:r>
          </a:p>
          <a:p xmlns:a="http://schemas.openxmlformats.org/drawingml/2006/main">
            <a:r>
              <a:t>Ceph RGW | https://docs.ceph.com/en/latest/radosgw/index.html | 内网对象存储的 S3 / Swift 接口</a:t>
            </a:r>
          </a:p>
          <a:p xmlns:a="http://schemas.openxmlformats.org/drawingml/2006/main">
            <a:r>
              <a:t>SeaweedFS | https://github.com/seaweedfs/seaweedfs | S3 与文件存储，可自部署</a:t>
            </a:r>
          </a:p>
          <a:p xmlns:a="http://schemas.openxmlformats.org/drawingml/2006/main">
            <a:r>
              <a:t>MinIO maintenance | https://www.min.io/legal | 官方声明开源产品已于 2025-09 停止维护</a:t>
            </a:r>
          </a:p>
          <a:p xmlns:a="http://schemas.openxmlformats.org/drawingml/2006/main">
            <a:r>
              <a:t>Milvus multi-vector | https://milvus.io/docs/multi-vector-search.md | 多向量字段与融合检索</a:t>
            </a:r>
          </a:p>
          <a:p xmlns:a="http://schemas.openxmlformats.org/drawingml/2006/main">
            <a:r>
              <a:t>Qdrant vectors | https://qdrant.tech/documentation/manage-data/vectors/ | 命名向量及不同表示的管理</a:t>
            </a:r>
          </a:p>
          <a:p xmlns:a="http://schemas.openxmlformats.org/drawingml/2006/main">
            <a:r>
              <a:t>LanceDB | https://docs.lancedb.com/ | Lance 格式与多模态；OSS / Enterprise 边界需区分</a:t>
            </a:r>
          </a:p>
          <a:p xmlns:a="http://schemas.openxmlformats.org/drawingml/2006/main">
            <a:r>
              <a:t>Mem0 OSS | https://docs.mem0.ai/open-source/overview | 库或自托管服务，配置模型与向量后端</a:t>
            </a:r>
          </a:p>
          <a:p xmlns:a="http://schemas.openxmlformats.org/drawingml/2006/main">
            <a:r>
              <a:t>LangGraph persistence | https://docs.langchain.com/oss/python/langgraph/persistence | 线程状态、Checkpoint 与运行恢复</a:t>
            </a:r>
          </a:p>
          <a:p xmlns:a="http://schemas.openxmlformats.org/drawingml/2006/main">
            <a:r>
              <a:t>OpenAI conversation state | https://developers.openai.com/api/docs/guides/conversation-state | 托管会话状态接口，非公司内网记忆数据库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已确认基础：内网部署，OceanBase MySQL 兼容，约 3000 张独立明细表、少量人工挂测总表，约 50 用户，公司 AD 和内网 LLM/embedding 可用。一期实验填报与自然语言统一查询；后续科研推理、技能和权重进化不属于一期。各组件为架构建议，兼容性和容量经内部 PoC 核验。</a:t>
            </a:r>
          </a:p>
          <a:p xmlns:a="http://schemas.openxmlformats.org/drawingml/2006/main">
            <a:r>
              <a:t>MLflow artifacts | https://mlflow.org/docs/latest/self-hosting/architecture/artifact-store/ | 元数据与大文件存储分离，支持 S3 兼容与 NFS</a:t>
            </a:r>
          </a:p>
          <a:p xmlns:a="http://schemas.openxmlformats.org/drawingml/2006/main">
            <a:r>
              <a:t>DVC | https://doc.dvc.org/user-guide | Git 中记录大文件版本引用，实际数据另存</a:t>
            </a:r>
          </a:p>
          <a:p xmlns:a="http://schemas.openxmlformats.org/drawingml/2006/main">
            <a:r>
              <a:t>MLflow Prompt Registry | https://mlflow.org/docs/latest/genai/prompt-registry/ | Prompt 版本与注册管理</a:t>
            </a:r>
          </a:p>
          <a:p xmlns:a="http://schemas.openxmlformats.org/drawingml/2006/main">
            <a:r>
              <a:t>GitLab Registry | https://docs.gitlab.com/user/packages/package_registry/ | 制品发布与流水线、Commit 关联</a:t>
            </a:r>
          </a:p>
          <a:p xmlns:a="http://schemas.openxmlformats.org/drawingml/2006/main">
            <a:r>
              <a:t>OpenTelemetry Collector | https://opentelemetry.io/docs/collector/ | 采集、处理与导出遥测</a:t>
            </a:r>
          </a:p>
          <a:p xmlns:a="http://schemas.openxmlformats.org/drawingml/2006/main">
            <a:r>
              <a:t>Docling formats | https://docling-project.github.io/docling/usage/supported_formats/ | PDF / DOCX / PPTX 等解析支持，旧格式需转码验证</a:t>
            </a:r>
          </a:p>
          <a:p xmlns:a="http://schemas.openxmlformats.org/drawingml/2006/main">
            <a:r>
              <a:t>Iceberg snapshots | https://iceberg.apache.org/docs/latest/branching/ | 分析数据快照与生命周期</a:t>
            </a:r>
          </a:p>
          <a:p xmlns:a="http://schemas.openxmlformats.org/drawingml/2006/main">
            <a:r>
              <a:t>OceanBase vector SQL | https://en.oceanbase.com/docs/common-oceanbase-database-10000000001976352 | 4.3.5 文档介绍 MySQL 租户向量 SQL，现网版本需核验</a:t>
            </a:r>
          </a:p>
          <a:p xmlns:a="http://schemas.openxmlformats.org/drawingml/2006/main">
            <a:r>
              <a:t>PyTorch Checkpoint | https://docs.pytorch.org/tutorials/beginner/saving_loading_models.html | 续训快照包含权重之外的优化器与训练状态</a:t>
            </a:r>
          </a:p>
          <a:p xmlns:a="http://schemas.openxmlformats.org/drawingml/2006/main">
            <a:r>
              <a:t>ClickHouse columnar | https://clickhouse.com/resources/engineering/when-to-use-columnar-database | 面向聚合分析的列式存储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已确认基础：内网部署，OceanBase MySQL 兼容，约 3000 张独立明细表、少量人工挂测总表，约 50 用户，公司 AD 和内网 LLM/embedding 可用。一期实验填报与自然语言统一查询；后续科研推理、技能和权重进化不属于一期。各组件为架构建议，兼容性和容量经内部 PoC 核验。</a:t>
            </a:r>
          </a:p>
          <a:p xmlns:a="http://schemas.openxmlformats.org/drawingml/2006/main">
            <a:r>
              <a:t>OpenLineage object model | https://openlineage.io/docs/spec/object-model/ | Dataset、Job、Run 和事件模型</a:t>
            </a:r>
          </a:p>
          <a:p xmlns:a="http://schemas.openxmlformats.org/drawingml/2006/main">
            <a:r>
              <a:t>JSON Schema validation | https://json-schema.org/draft/2020-12/json-schema-validation | 结构契约验证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已确认基础：内网部署，OceanBase MySQL 兼容，约 3000 张独立明细表、少量人工挂测总表，约 50 用户，公司 AD 和内网 LLM/embedding 可用。一期实验填报与自然语言统一查询；后续科研推理、技能和权重进化不属于一期。各组件为架构建议，兼容性和容量经内部 PoC 核验。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已确认基础：内网部署，OceanBase MySQL 兼容，约 3000 张独立明细表、少量人工挂测总表，约 50 用户，公司 AD 和内网 LLM/embedding 可用。一期实验填报与自然语言统一查询；后续科研推理、技能和权重进化不属于一期。各组件为架构建议，兼容性和容量经内部 PoC 核验。</a:t>
            </a:r>
          </a:p>
          <a:p xmlns:a="http://schemas.openxmlformats.org/drawingml/2006/main">
            <a:r>
              <a:t>JSON Schema validation | https://json-schema.org/draft/2020-12/json-schema-validation | 结构契约验证</a:t>
            </a:r>
          </a:p>
          <a:p xmlns:a="http://schemas.openxmlformats.org/drawingml/2006/main">
            <a:r>
              <a:t>CloudEvents specification | https://github.com/cloudevents/spec/blob/v1.0.2/cloudevents/spec.md | 跨平台事件信封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已确认基础：内网部署，OceanBase MySQL 兼容，约 3000 张独立明细表、少量人工挂测总表，约 50 用户，公司 AD 和内网 LLM/embedding 可用。一期实验填报与自然语言统一查询；后续科研推理、技能和权重进化不属于一期。各组件为架构建议，兼容性和容量经内部 PoC 核验。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ffda3fb353497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18fc0f82c124b1d" /><Relationship Type="http://schemas.openxmlformats.org/officeDocument/2006/relationships/slideLayout" Target="/ppt/slideLayouts/slideLayout1.xml" Id="R674c8ea3a4a0426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74c8ea3a4a0426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6a9fcc29b5419f" /><Relationship Type="http://schemas.openxmlformats.org/officeDocument/2006/relationships/notesSlide" Target="/ppt/notesSlides/notesSlide1.xml" Id="R2cf923e4ddc54c6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8573b322184f7d" /><Relationship Type="http://schemas.openxmlformats.org/officeDocument/2006/relationships/notesSlide" Target="/ppt/notesSlides/notesSlide2.xml" Id="R659d459450ca496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8ef18ccb744aa3" /><Relationship Type="http://schemas.openxmlformats.org/officeDocument/2006/relationships/notesSlide" Target="/ppt/notesSlides/notesSlide3.xml" Id="R3606faa3424743d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2b3b0424a8495c" /><Relationship Type="http://schemas.openxmlformats.org/officeDocument/2006/relationships/notesSlide" Target="/ppt/notesSlides/notesSlide4.xml" Id="Rffff90eeaec448a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21986d85d545d2" /><Relationship Type="http://schemas.openxmlformats.org/officeDocument/2006/relationships/notesSlide" Target="/ppt/notesSlides/notesSlide5.xml" Id="R837e63d96cbe4c5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f5156cec55407b" /><Relationship Type="http://schemas.openxmlformats.org/officeDocument/2006/relationships/notesSlide" Target="/ppt/notesSlides/notesSlide6.xml" Id="R9204fb96c1ea4e0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0588f18fd94abb" /><Relationship Type="http://schemas.openxmlformats.org/officeDocument/2006/relationships/notesSlide" Target="/ppt/notesSlides/notesSlide7.xml" Id="R76456bdf7e3d4cf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823f8b66534ba9" /><Relationship Type="http://schemas.openxmlformats.org/officeDocument/2006/relationships/notesSlide" Target="/ppt/notesSlides/notesSlide8.xml" Id="R6966220da956465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8113c7761e4fb9" /><Relationship Type="http://schemas.openxmlformats.org/officeDocument/2006/relationships/notesSlide" Target="/ppt/notesSlides/notesSlide9.xml" Id="R8a85d75fad8f400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921fdbd4e2468c" /><Relationship Type="http://schemas.openxmlformats.org/officeDocument/2006/relationships/notesSlide" Target="/ppt/notesSlides/notesSlide10.xml" Id="R3384854a94f54df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6030015d0241eb" /><Relationship Type="http://schemas.openxmlformats.org/officeDocument/2006/relationships/notesSlide" Target="/ppt/notesSlides/notesSlide11.xml" Id="R32d3279632e5475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e00f0e57854fa0" /><Relationship Type="http://schemas.openxmlformats.org/officeDocument/2006/relationships/notesSlide" Target="/ppt/notesSlides/notesSlide12.xml" Id="Rd447dd2214f6420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4e36779bc24185" /><Relationship Type="http://schemas.openxmlformats.org/officeDocument/2006/relationships/notesSlide" Target="/ppt/notesSlides/notesSlide13.xml" Id="Rea6e8bc151b44a5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3353c5e60e468a" /><Relationship Type="http://schemas.openxmlformats.org/officeDocument/2006/relationships/notesSlide" Target="/ppt/notesSlides/notesSlide14.xml" Id="R7dd7128eb42a454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4d531c4ed743a6" /><Relationship Type="http://schemas.openxmlformats.org/officeDocument/2006/relationships/notesSlide" Target="/ppt/notesSlides/notesSlide15.xml" Id="R108c9a2d2a4b408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eab1dc1e644e3b" /><Relationship Type="http://schemas.openxmlformats.org/officeDocument/2006/relationships/notesSlide" Target="/ppt/notesSlides/notesSlide16.xml" Id="R3b7d0eb57e0947f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363d3ed2344772" /><Relationship Type="http://schemas.openxmlformats.org/officeDocument/2006/relationships/notesSlide" Target="/ppt/notesSlides/notesSlide17.xml" Id="R12ce8d3bc688427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bbe6f96afa49a1" /><Relationship Type="http://schemas.openxmlformats.org/officeDocument/2006/relationships/notesSlide" Target="/ppt/notesSlides/notesSlide18.xml" Id="R86aff885584d4b6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13796e7e684db8" /><Relationship Type="http://schemas.openxmlformats.org/officeDocument/2006/relationships/notesSlide" Target="/ppt/notesSlides/notesSlide19.xml" Id="R5e591faa1257405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f609feb33e4433" /><Relationship Type="http://schemas.openxmlformats.org/officeDocument/2006/relationships/notesSlide" Target="/ppt/notesSlides/notesSlide20.xml" Id="Rbbf59732eacb4de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536d97ca594c8c" /><Relationship Type="http://schemas.openxmlformats.org/officeDocument/2006/relationships/notesSlide" Target="/ppt/notesSlides/notesSlide21.xml" Id="Rd6d7598ebe1f43d9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13e9b8da1947b1" /><Relationship Type="http://schemas.openxmlformats.org/officeDocument/2006/relationships/notesSlide" Target="/ppt/notesSlides/notesSlide22.xml" Id="R7878cc970132478f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4dde2afc7646b2" /><Relationship Type="http://schemas.openxmlformats.org/officeDocument/2006/relationships/notesSlide" Target="/ppt/notesSlides/notesSlide23.xml" Id="R6c291e118361416c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2c596e89954083" /><Relationship Type="http://schemas.openxmlformats.org/officeDocument/2006/relationships/notesSlide" Target="/ppt/notesSlides/notesSlide24.xml" Id="R536d5955973940a5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158fcf547045a0" /><Relationship Type="http://schemas.openxmlformats.org/officeDocument/2006/relationships/notesSlide" Target="/ppt/notesSlides/notesSlide25.xml" Id="R2bfa43ba88c84fa4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2996a374ca4bfa" /><Relationship Type="http://schemas.openxmlformats.org/officeDocument/2006/relationships/notesSlide" Target="/ppt/notesSlides/notesSlide26.xml" Id="Rbe134fa1fa854968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aef0af7a6b450e" /><Relationship Type="http://schemas.openxmlformats.org/officeDocument/2006/relationships/notesSlide" Target="/ppt/notesSlides/notesSlide27.xml" Id="Ra8de33fbdc0948d8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51807ee8094228" /><Relationship Type="http://schemas.openxmlformats.org/officeDocument/2006/relationships/notesSlide" Target="/ppt/notesSlides/notesSlide28.xml" Id="R8b388486919040be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41968c0654442a" /><Relationship Type="http://schemas.openxmlformats.org/officeDocument/2006/relationships/notesSlide" Target="/ppt/notesSlides/notesSlide29.xml" Id="Rf22de0f573214ad3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1b40d579a24923" /><Relationship Type="http://schemas.openxmlformats.org/officeDocument/2006/relationships/notesSlide" Target="/ppt/notesSlides/notesSlide30.xml" Id="Recf106ce22d94ac2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e51994b15f49b4" /><Relationship Type="http://schemas.openxmlformats.org/officeDocument/2006/relationships/notesSlide" Target="/ppt/notesSlides/notesSlide31.xml" Id="R32f65bf1c4324b7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901B352-3ADC-45CB-BDF2-29AF398EF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"/>
            <a:ext cx="1609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RSI 数据平台系统架构与组件选型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FC48DC-CE96-4C9F-9805-16429704B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14400"/>
            <a:ext cx="1609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已有业务数据与统一元数据建设分开表示。复用组件、拟建服务和待验证选型均在图中标明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B6CAB3-5629-44E3-B08A-7B94D2872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096500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宁德时代香港研究院 · RSI 数据平台架构建议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9429B8-4968-438A-BCBF-04C5B2FF8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1009650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6C59C2-31F1-41EA-A335-A4CD1BE7B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571625"/>
            <a:ext cx="11239500" cy="933450"/>
          </a:xfrm>
          <a:prstGeom xmlns:a="http://schemas.openxmlformats.org/drawingml/2006/main" prst="roundRect">
            <a:avLst>
              <a:gd name="adj" fmla="val 5102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用户&#10;应用层">
            <a:extLst xmlns:a="http://schemas.openxmlformats.org/drawingml/2006/main">
              <a:ext uri="{FF2B5EF4-FFF2-40B4-BE49-F238E27FC236}">
                <a16:creationId xmlns:a16="http://schemas.microsoft.com/office/drawing/2014/main" id="{D2641F28-5B97-41D6-AC1B-8A814A86A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71625"/>
            <a:ext cx="1219200" cy="933450"/>
          </a:xfrm>
          <a:prstGeom xmlns:a="http://schemas.openxmlformats.org/drawingml/2006/main" prst="roundRect">
            <a:avLst>
              <a:gd name="adj" fmla="val 5102"/>
            </a:avLst>
          </a:prstGeom>
          <a:solidFill xmlns:a="http://schemas.openxmlformats.org/drawingml/2006/main">
            <a:srgbClr val="1268AE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用户</a:t>
            </a:r>
          </a:p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应用层</a:t>
            </a:r>
          </a:p>
        </p:txBody>
      </p:sp>
      <p:sp>
        <p:nvSpPr>
          <p:cNvPr id="7" name="实验员&#10;填报 / Excel 导入">
            <a:extLst xmlns:a="http://schemas.openxmlformats.org/drawingml/2006/main">
              <a:ext uri="{FF2B5EF4-FFF2-40B4-BE49-F238E27FC236}">
                <a16:creationId xmlns:a16="http://schemas.microsoft.com/office/drawing/2014/main" id="{4DAC7BE3-B2F7-4111-ABBB-7A3F3BF14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1743075"/>
            <a:ext cx="3517900" cy="59055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实验员</a:t>
            </a:r>
          </a:p>
          <a:p xmlns:a="http://schemas.openxmlformats.org/drawingml/2006/main">
            <a:pPr algn="ctr">
              <a:def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填报 / Excel 导入</a:t>
            </a:r>
          </a:p>
        </p:txBody>
      </p:sp>
      <p:sp>
        <p:nvSpPr>
          <p:cNvPr id="8" name="化学专家&#10;统一查询 / 证据核验">
            <a:extLst xmlns:a="http://schemas.openxmlformats.org/drawingml/2006/main">
              <a:ext uri="{FF2B5EF4-FFF2-40B4-BE49-F238E27FC236}">
                <a16:creationId xmlns:a16="http://schemas.microsoft.com/office/drawing/2014/main" id="{BE6F3A7D-9DFD-4549-8CD2-C48742AA0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5800" y="1743075"/>
            <a:ext cx="3517900" cy="59055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化学专家</a:t>
            </a:r>
          </a:p>
          <a:p xmlns:a="http://schemas.openxmlformats.org/drawingml/2006/main">
            <a:pPr algn="ctr">
              <a:def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统一查询 / 证据核验</a:t>
            </a:r>
          </a:p>
        </p:txBody>
      </p:sp>
      <p:sp>
        <p:nvSpPr>
          <p:cNvPr id="9" name="其他团队 / 平台&#10;业务适配器 / Agent SDK">
            <a:extLst xmlns:a="http://schemas.openxmlformats.org/drawingml/2006/main">
              <a:ext uri="{FF2B5EF4-FFF2-40B4-BE49-F238E27FC236}">
                <a16:creationId xmlns:a16="http://schemas.microsoft.com/office/drawing/2014/main" id="{4DF5955D-C64C-4C2A-B588-1174577E2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5150" y="1743075"/>
            <a:ext cx="3517900" cy="59055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其他团队 / 平台</a:t>
            </a:r>
          </a:p>
          <a:p xmlns:a="http://schemas.openxmlformats.org/drawingml/2006/main">
            <a:pPr algn="ctr">
              <a:def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业务适配器 / Agent SDK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421AAE-A2D3-4F7D-B233-32E06F6B8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705100"/>
            <a:ext cx="11239500" cy="990600"/>
          </a:xfrm>
          <a:prstGeom xmlns:a="http://schemas.openxmlformats.org/drawingml/2006/main" prst="roundRect">
            <a:avLst>
              <a:gd name="adj" fmla="val 4808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统一&#10;服务层">
            <a:extLst xmlns:a="http://schemas.openxmlformats.org/drawingml/2006/main">
              <a:ext uri="{FF2B5EF4-FFF2-40B4-BE49-F238E27FC236}">
                <a16:creationId xmlns:a16="http://schemas.microsoft.com/office/drawing/2014/main" id="{27F86EBB-8D9D-4FB4-A51D-A4635AA03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705100"/>
            <a:ext cx="1219200" cy="990600"/>
          </a:xfrm>
          <a:prstGeom xmlns:a="http://schemas.openxmlformats.org/drawingml/2006/main" prst="roundRect">
            <a:avLst>
              <a:gd name="adj" fmla="val 4808"/>
            </a:avLst>
          </a:prstGeom>
          <a:solidFill xmlns:a="http://schemas.openxmlformats.org/drawingml/2006/main">
            <a:srgbClr val="1268AE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统一</a:t>
            </a:r>
          </a:p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服务层</a:t>
            </a:r>
          </a:p>
        </p:txBody>
      </p:sp>
      <p:sp>
        <p:nvSpPr>
          <p:cNvPr id="12" name="公司 AD〔复用〕&#10;服务身份 / 项目授权">
            <a:extLst xmlns:a="http://schemas.openxmlformats.org/drawingml/2006/main">
              <a:ext uri="{FF2B5EF4-FFF2-40B4-BE49-F238E27FC236}">
                <a16:creationId xmlns:a16="http://schemas.microsoft.com/office/drawing/2014/main" id="{B3A3364F-ECA8-40E8-AD34-3C43A1FA1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876550"/>
            <a:ext cx="3517900" cy="647700"/>
          </a:xfrm>
          <a:prstGeom xmlns:a="http://schemas.openxmlformats.org/drawingml/2006/main" prst="roundRect">
            <a:avLst>
              <a:gd name="adj" fmla="val 7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公司 AD〔复用〕</a:t>
            </a:r>
          </a:p>
          <a:p xmlns:a="http://schemas.openxmlformats.org/drawingml/2006/main">
            <a:pPr algn="ctr">
              <a:def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服务身份 / 项目授权</a:t>
            </a:r>
          </a:p>
        </p:txBody>
      </p:sp>
      <p:sp>
        <p:nvSpPr>
          <p:cNvPr id="13" name="接入网关与数据契约〔拟建〕&#10;Schema 校验 / 幂等 / 配额">
            <a:extLst xmlns:a="http://schemas.openxmlformats.org/drawingml/2006/main">
              <a:ext uri="{FF2B5EF4-FFF2-40B4-BE49-F238E27FC236}">
                <a16:creationId xmlns:a16="http://schemas.microsoft.com/office/drawing/2014/main" id="{91C42F40-CB50-47A8-8E05-2BEEA3B12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5800" y="2876550"/>
            <a:ext cx="3517900" cy="647700"/>
          </a:xfrm>
          <a:prstGeom xmlns:a="http://schemas.openxmlformats.org/drawingml/2006/main" prst="roundRect">
            <a:avLst>
              <a:gd name="adj" fmla="val 7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接入网关与数据契约〔拟建〕</a:t>
            </a:r>
          </a:p>
          <a:p xmlns:a="http://schemas.openxmlformats.org/drawingml/2006/main">
            <a:pPr algn="ctr">
              <a:def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Schema 校验 / 幂等 / 配额</a:t>
            </a:r>
          </a:p>
        </p:txBody>
      </p:sp>
      <p:sp>
        <p:nvSpPr>
          <p:cNvPr id="14" name="查询与资产 API〔拟建〕&#10;只读 SQL / 证据 / 受控下载">
            <a:extLst xmlns:a="http://schemas.openxmlformats.org/drawingml/2006/main">
              <a:ext uri="{FF2B5EF4-FFF2-40B4-BE49-F238E27FC236}">
                <a16:creationId xmlns:a16="http://schemas.microsoft.com/office/drawing/2014/main" id="{CA2C1CCF-3DA9-42F1-878C-661A977BB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5150" y="2876550"/>
            <a:ext cx="3517900" cy="647700"/>
          </a:xfrm>
          <a:prstGeom xmlns:a="http://schemas.openxmlformats.org/drawingml/2006/main" prst="roundRect">
            <a:avLst>
              <a:gd name="adj" fmla="val 7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查询与资产 API〔拟建〕</a:t>
            </a:r>
          </a:p>
          <a:p xmlns:a="http://schemas.openxmlformats.org/drawingml/2006/main">
            <a:pPr algn="ctr">
              <a:def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只读 SQL / 证据 / 受控下载</a:t>
            </a:r>
          </a:p>
        </p:txBody>
      </p:sp>
      <p:sp>
        <p:nvSpPr>
          <p:cNvPr id="15" name="业务侧数据平面">
            <a:extLst xmlns:a="http://schemas.openxmlformats.org/drawingml/2006/main">
              <a:ext uri="{FF2B5EF4-FFF2-40B4-BE49-F238E27FC236}">
                <a16:creationId xmlns:a16="http://schemas.microsoft.com/office/drawing/2014/main" id="{A6F77FAB-9DEC-4753-AF2F-01DFCE16A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914775"/>
            <a:ext cx="5476875" cy="447675"/>
          </a:xfrm>
          <a:prstGeom xmlns:a="http://schemas.openxmlformats.org/drawingml/2006/main" prst="roundRect">
            <a:avLst>
              <a:gd name="adj" fmla="val 10638"/>
            </a:avLst>
          </a:prstGeom>
          <a:solidFill xmlns:a="http://schemas.openxmlformats.org/drawingml/2006/main">
            <a:srgbClr val="128D89"/>
          </a:solidFill>
          <a:ln xmlns:a="http://schemas.openxmlformats.org/drawingml/2006/main" w="13335">
            <a:solidFill>
              <a:srgbClr val="128D89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业务侧数据平面</a:t>
            </a:r>
          </a:p>
        </p:txBody>
      </p:sp>
      <p:sp>
        <p:nvSpPr>
          <p:cNvPr id="16" name="Agent 侧数据平面">
            <a:extLst xmlns:a="http://schemas.openxmlformats.org/drawingml/2006/main">
              <a:ext uri="{FF2B5EF4-FFF2-40B4-BE49-F238E27FC236}">
                <a16:creationId xmlns:a16="http://schemas.microsoft.com/office/drawing/2014/main" id="{EF25E9D0-F509-487A-A624-F4E367DBF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914775"/>
            <a:ext cx="5476875" cy="447675"/>
          </a:xfrm>
          <a:prstGeom xmlns:a="http://schemas.openxmlformats.org/drawingml/2006/main" prst="roundRect">
            <a:avLst>
              <a:gd name="adj" fmla="val 10638"/>
            </a:avLst>
          </a:prstGeom>
          <a:solidFill xmlns:a="http://schemas.openxmlformats.org/drawingml/2006/main">
            <a:srgbClr val="7253AF"/>
          </a:solidFill>
          <a:ln xmlns:a="http://schemas.openxmlformats.org/drawingml/2006/main" w="13335">
            <a:solidFill>
              <a:srgbClr val="7253AF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Agent 侧数据平面</a:t>
            </a:r>
          </a:p>
        </p:txBody>
      </p:sp>
      <p:sp>
        <p:nvSpPr>
          <p:cNvPr id="17" name="已有来源：Excel / OceanBase / NAS&#10;填报与扫描适配器〔拟建">
            <a:extLst xmlns:a="http://schemas.openxmlformats.org/drawingml/2006/main">
              <a:ext uri="{FF2B5EF4-FFF2-40B4-BE49-F238E27FC236}">
                <a16:creationId xmlns:a16="http://schemas.microsoft.com/office/drawing/2014/main" id="{4C4F5F08-C67B-42B5-BDCC-D2EA598AB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524375"/>
            <a:ext cx="5476875" cy="1476375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EAF6F1"/>
          </a:solidFill>
          <a:ln xmlns:a="http://schemas.openxmlformats.org/drawingml/2006/main" w="13335">
            <a:solidFill>
              <a:srgbClr val="128D89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已有来源：Excel / OceanBase / NAS</a:t>
            </a:r>
          </a:p>
          <a:p xmlns:a="http://schemas.openxmlformats.org/drawingml/2006/main">
            <a:pPr algn="ctr">
              <a:def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填报与扫描适配器〔拟建〕</a:t>
            </a:r>
          </a:p>
          <a:p xmlns:a="http://schemas.openxmlformats.org/drawingml/2006/main">
            <a:pPr algn="ctr">
              <a:def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Docling / OCR / ASR〔按任务验证〕</a:t>
            </a:r>
          </a:p>
          <a:p xmlns:a="http://schemas.openxmlformats.org/drawingml/2006/main">
            <a:pPr algn="ctr">
              <a:def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标准映射、文档片段、原件版本</a:t>
            </a:r>
          </a:p>
        </p:txBody>
      </p:sp>
      <p:sp>
        <p:nvSpPr>
          <p:cNvPr id="18" name="SDK / OTel 采集适配〔拟建〕&#10;Langfuse 自托管〔优先 PoC〕">
            <a:extLst xmlns:a="http://schemas.openxmlformats.org/drawingml/2006/main">
              <a:ext uri="{FF2B5EF4-FFF2-40B4-BE49-F238E27FC236}">
                <a16:creationId xmlns:a16="http://schemas.microsoft.com/office/drawing/2014/main" id="{CA435C04-64E2-4B10-9C40-22E5FE1E2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524375"/>
            <a:ext cx="5476875" cy="1476375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F4F0FB"/>
          </a:solidFill>
          <a:ln xmlns:a="http://schemas.openxmlformats.org/drawingml/2006/main" w="13335">
            <a:solidFill>
              <a:srgbClr val="7253AF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SDK / OTel 采集适配〔拟建〕</a:t>
            </a:r>
          </a:p>
          <a:p xmlns:a="http://schemas.openxmlformats.org/drawingml/2006/main">
            <a:pPr algn="ctr">
              <a:def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Langfuse 自托管〔优先 PoC〕</a:t>
            </a:r>
          </a:p>
          <a:p xmlns:a="http://schemas.openxmlformats.org/drawingml/2006/main">
            <a:pPr algn="ctr">
              <a:def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轨迹、Prompt、反馈与评测</a:t>
            </a:r>
          </a:p>
          <a:p xmlns:a="http://schemas.openxmlformats.org/drawingml/2006/main">
            <a:pPr algn="ctr">
              <a:def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Phoenix 替代，DuckDB 离线分析</a:t>
            </a:r>
          </a:p>
        </p:txBody>
      </p:sp>
      <p:sp>
        <p:nvSpPr>
          <p:cNvPr id="19" name="统一元数据与治理服务〔从零拟建，平台团队维护〕&#10;OceanBase 目录表：资产">
            <a:extLst xmlns:a="http://schemas.openxmlformats.org/drawingml/2006/main">
              <a:ext uri="{FF2B5EF4-FFF2-40B4-BE49-F238E27FC236}">
                <a16:creationId xmlns:a16="http://schemas.microsoft.com/office/drawing/2014/main" id="{D7FD119E-D9EA-402C-9175-5376E016A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6429375"/>
            <a:ext cx="11239500" cy="1028700"/>
          </a:xfrm>
          <a:prstGeom xmlns:a="http://schemas.openxmlformats.org/drawingml/2006/main" prst="roundRect">
            <a:avLst>
              <a:gd name="adj" fmla="val 4630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统一元数据与治理服务〔从零拟建，平台团队维护〕</a:t>
            </a:r>
          </a:p>
          <a:p xmlns:a="http://schemas.openxmlformats.org/drawingml/2006/main">
            <a:pPr algn="ctr">
              <a:def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OceanBase 目录表：资产 / 版本 / 数据契约 / 血缘 / 质量 / 权限 / Agent 版本清单</a:t>
            </a:r>
          </a:p>
          <a:p xmlns:a="http://schemas.openxmlformats.org/drawingml/2006/main">
            <a:pPr algn="ctr">
              <a:def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REST API + JSON Schema 校验，运行血缘映射 OpenLineage，事件可靠落库与对账</a:t>
            </a:r>
          </a:p>
        </p:txBody>
      </p:sp>
      <p:cxnSp>
        <p:nvCxnSpPr>
          <p:cNvPr id="67" name=""/>
          <p:cNvCxnSpPr>
            <a:stCxn xmlns:a="http://schemas.openxmlformats.org/drawingml/2006/main" id="17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>
            <a:off x="4643438" y="6000750"/>
            <a:ext cx="2881313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8D89"/>
            </a:solidFill>
            <a:prstDash val="solid"/>
            <a:tailEnd type="triangle" w="sm" len="sm"/>
          </a:ln>
        </p:spPr>
      </p:cxnSp>
      <p:cxnSp>
        <p:nvCxnSpPr>
          <p:cNvPr id="68" name=""/>
          <p:cNvCxnSpPr>
            <a:stCxn xmlns:a="http://schemas.openxmlformats.org/drawingml/2006/main" id="18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 flipH="1">
            <a:off x="7524750" y="6000750"/>
            <a:ext cx="2881313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253AF"/>
            </a:solidFill>
            <a:prstDash val="solid"/>
            <a:tailEnd type="triangle" w="sm" len="sm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92F15E-DAE6-4232-8814-877E5A9FE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781925"/>
            <a:ext cx="12192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存储与</a:t>
            </a:r>
          </a:p>
          <a:p xmlns:a="http://schemas.openxmlformats.org/drawingml/2006/main">
            <a:pPr>
              <a:defRPr sz="1800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权威资产</a:t>
            </a:r>
          </a:p>
        </p:txBody>
      </p:sp>
      <p:sp>
        <p:nvSpPr>
          <p:cNvPr id="23" name="业务记录与元数据&#10;OceanBase〔复用 + 新表〕&#10;团队隔离 / 记录修订">
            <a:extLst xmlns:a="http://schemas.openxmlformats.org/drawingml/2006/main">
              <a:ext uri="{FF2B5EF4-FFF2-40B4-BE49-F238E27FC236}">
                <a16:creationId xmlns:a16="http://schemas.microsoft.com/office/drawing/2014/main" id="{493F4CA3-01F3-4AAE-AD9F-88B6B493B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7743825"/>
            <a:ext cx="3571875" cy="1190625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业务记录与元数据</a:t>
            </a:r>
          </a:p>
          <a:p xmlns:a="http://schemas.openxmlformats.org/drawingml/2006/main">
            <a:pPr algn="ctr">
              <a:defRPr sz="17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OceanBase〔复用 + 新表〕</a:t>
            </a:r>
          </a:p>
          <a:p xmlns:a="http://schemas.openxmlformats.org/drawingml/2006/main">
            <a:pPr algn="ctr">
              <a:defRPr sz="17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团队隔离 / 记录修订</a:t>
            </a:r>
          </a:p>
        </p:txBody>
      </p:sp>
      <p:sp>
        <p:nvSpPr>
          <p:cNvPr id="24" name="业务原件与派生文件&#10;私有 S3〔PoC：Ceph RGW〕&#10;NAS 受控副本作为">
            <a:extLst xmlns:a="http://schemas.openxmlformats.org/drawingml/2006/main">
              <a:ext uri="{FF2B5EF4-FFF2-40B4-BE49-F238E27FC236}">
                <a16:creationId xmlns:a16="http://schemas.microsoft.com/office/drawing/2014/main" id="{16C4200B-D6E0-4EBD-B857-A00A74A1C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7743825"/>
            <a:ext cx="3571875" cy="1190625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AF6F1"/>
          </a:solidFill>
          <a:ln xmlns:a="http://schemas.openxmlformats.org/drawingml/2006/main" w="13335">
            <a:solidFill>
              <a:srgbClr val="128D89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业务原件与派生文件</a:t>
            </a:r>
          </a:p>
          <a:p xmlns:a="http://schemas.openxmlformats.org/drawingml/2006/main">
            <a:pPr algn="ctr">
              <a:defRPr sz="17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私有 S3〔PoC：Ceph RGW〕</a:t>
            </a:r>
          </a:p>
          <a:p xmlns:a="http://schemas.openxmlformats.org/drawingml/2006/main">
            <a:pPr algn="ctr">
              <a:defRPr sz="17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NAS 受控副本作为过渡</a:t>
            </a:r>
          </a:p>
        </p:txBody>
      </p:sp>
      <p:sp>
        <p:nvSpPr>
          <p:cNvPr id="25" name="Agent 专用后端〔随选型建〕&#10;Langfuse：PG / ClickHous">
            <a:extLst xmlns:a="http://schemas.openxmlformats.org/drawingml/2006/main">
              <a:ext uri="{FF2B5EF4-FFF2-40B4-BE49-F238E27FC236}">
                <a16:creationId xmlns:a16="http://schemas.microsoft.com/office/drawing/2014/main" id="{1BAD9876-A139-444A-9196-771329060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7743825"/>
            <a:ext cx="3714750" cy="1190625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4F0FB"/>
          </a:solidFill>
          <a:ln xmlns:a="http://schemas.openxmlformats.org/drawingml/2006/main" w="13335">
            <a:solidFill>
              <a:srgbClr val="7253AF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Agent 专用后端〔随选型建〕</a:t>
            </a:r>
          </a:p>
          <a:p xmlns:a="http://schemas.openxmlformats.org/drawingml/2006/main">
            <a:pPr algn="ctr">
              <a:defRPr sz="17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Langfuse：PG / ClickHouse</a:t>
            </a:r>
          </a:p>
          <a:p xmlns:a="http://schemas.openxmlformats.org/drawingml/2006/main">
            <a:pPr algn="ctr">
              <a:defRPr sz="17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Redis / S3，依赖按版本核验</a:t>
            </a:r>
          </a:p>
        </p:txBody>
      </p:sp>
      <p:sp>
        <p:nvSpPr>
          <p:cNvPr id="26" name="可重建检索：OpenSearch / Qdrant〔PoC 择需〕    记忆：">
            <a:extLst xmlns:a="http://schemas.openxmlformats.org/drawingml/2006/main">
              <a:ext uri="{FF2B5EF4-FFF2-40B4-BE49-F238E27FC236}">
                <a16:creationId xmlns:a16="http://schemas.microsoft.com/office/drawing/2014/main" id="{053B7C84-1CCE-4AC8-8C06-05B0FEC28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9124950"/>
            <a:ext cx="11239500" cy="723900"/>
          </a:xfrm>
          <a:prstGeom xmlns:a="http://schemas.openxmlformats.org/drawingml/2006/main" prst="roundRect">
            <a:avLst>
              <a:gd name="adj" fmla="val 65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可重建检索：OpenSearch / Qdrant〔PoC 择需〕    记忆：OceanBase 审核条目 + 索引〔拟建〕</a:t>
            </a:r>
          </a:p>
          <a:p xmlns:a="http://schemas.openxmlformats.org/drawingml/2006/main">
            <a:pPr algn="ctr">
              <a:defRPr sz="17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进化资产〔后续〕：Git 源码与配置，S3 模型 / Checkpoint，MLflow 注册与评测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B8FA964-6A5C-48A3-8D39-34EAC9933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1571625"/>
            <a:ext cx="1000125" cy="8277225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8" name="血缘">
            <a:extLst xmlns:a="http://schemas.openxmlformats.org/drawingml/2006/main">
              <a:ext uri="{FF2B5EF4-FFF2-40B4-BE49-F238E27FC236}">
                <a16:creationId xmlns:a16="http://schemas.microsoft.com/office/drawing/2014/main" id="{35C0A0D2-797C-410E-8EC0-387A0FB17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1571625"/>
            <a:ext cx="1000125" cy="809625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268AE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血缘</a:t>
            </a:r>
          </a:p>
        </p:txBody>
      </p:sp>
      <p:sp>
        <p:nvSpPr>
          <p:cNvPr id="29" name="输入版本">
            <a:extLst xmlns:a="http://schemas.openxmlformats.org/drawingml/2006/main">
              <a:ext uri="{FF2B5EF4-FFF2-40B4-BE49-F238E27FC236}">
                <a16:creationId xmlns:a16="http://schemas.microsoft.com/office/drawing/2014/main" id="{9EE4FA2F-42EF-40FC-A95F-4A3683FC4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7400" y="2647950"/>
            <a:ext cx="885825" cy="1114425"/>
          </a:xfrm>
          <a:prstGeom xmlns:a="http://schemas.openxmlformats.org/drawingml/2006/main" prst="roundRect">
            <a:avLst>
              <a:gd name="adj" fmla="val 53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输入版本</a:t>
            </a:r>
          </a:p>
        </p:txBody>
      </p:sp>
      <p:sp>
        <p:nvSpPr>
          <p:cNvPr id="30" name="加工 Run">
            <a:extLst xmlns:a="http://schemas.openxmlformats.org/drawingml/2006/main">
              <a:ext uri="{FF2B5EF4-FFF2-40B4-BE49-F238E27FC236}">
                <a16:creationId xmlns:a16="http://schemas.microsoft.com/office/drawing/2014/main" id="{6BE4F3BB-3B9D-47B1-8AEA-EDA0C4F7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7400" y="4038600"/>
            <a:ext cx="885825" cy="1114425"/>
          </a:xfrm>
          <a:prstGeom xmlns:a="http://schemas.openxmlformats.org/drawingml/2006/main" prst="roundRect">
            <a:avLst>
              <a:gd name="adj" fmla="val 53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加工 Run</a:t>
            </a:r>
          </a:p>
        </p:txBody>
      </p:sp>
      <p:sp>
        <p:nvSpPr>
          <p:cNvPr id="31" name="原件定位">
            <a:extLst xmlns:a="http://schemas.openxmlformats.org/drawingml/2006/main">
              <a:ext uri="{FF2B5EF4-FFF2-40B4-BE49-F238E27FC236}">
                <a16:creationId xmlns:a16="http://schemas.microsoft.com/office/drawing/2014/main" id="{2AC6B45B-0291-4F34-BB46-C151356C2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7400" y="5429250"/>
            <a:ext cx="885825" cy="1114425"/>
          </a:xfrm>
          <a:prstGeom xmlns:a="http://schemas.openxmlformats.org/drawingml/2006/main" prst="roundRect">
            <a:avLst>
              <a:gd name="adj" fmla="val 53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原件定位</a:t>
            </a:r>
          </a:p>
        </p:txBody>
      </p:sp>
      <p:sp>
        <p:nvSpPr>
          <p:cNvPr id="32" name="引用证据">
            <a:extLst xmlns:a="http://schemas.openxmlformats.org/drawingml/2006/main">
              <a:ext uri="{FF2B5EF4-FFF2-40B4-BE49-F238E27FC236}">
                <a16:creationId xmlns:a16="http://schemas.microsoft.com/office/drawing/2014/main" id="{227F2946-EBF2-4AF6-B859-E3D081F38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7400" y="6819900"/>
            <a:ext cx="885825" cy="1114425"/>
          </a:xfrm>
          <a:prstGeom xmlns:a="http://schemas.openxmlformats.org/drawingml/2006/main" prst="roundRect">
            <a:avLst>
              <a:gd name="adj" fmla="val 53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引用证据</a:t>
            </a:r>
          </a:p>
        </p:txBody>
      </p:sp>
      <p:sp>
        <p:nvSpPr>
          <p:cNvPr id="33" name="撤回传播">
            <a:extLst xmlns:a="http://schemas.openxmlformats.org/drawingml/2006/main">
              <a:ext uri="{FF2B5EF4-FFF2-40B4-BE49-F238E27FC236}">
                <a16:creationId xmlns:a16="http://schemas.microsoft.com/office/drawing/2014/main" id="{EDEF50DD-6677-4287-9C37-00F66897C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7400" y="8210550"/>
            <a:ext cx="885825" cy="1114425"/>
          </a:xfrm>
          <a:prstGeom xmlns:a="http://schemas.openxmlformats.org/drawingml/2006/main" prst="roundRect">
            <a:avLst>
              <a:gd name="adj" fmla="val 53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撤回传播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925AA32-0B61-4EC6-9453-11AC5F9E4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06575" y="1571625"/>
            <a:ext cx="1000125" cy="8277225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28D89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5" name="质量">
            <a:extLst xmlns:a="http://schemas.openxmlformats.org/drawingml/2006/main">
              <a:ext uri="{FF2B5EF4-FFF2-40B4-BE49-F238E27FC236}">
                <a16:creationId xmlns:a16="http://schemas.microsoft.com/office/drawing/2014/main" id="{59DC0390-D3D9-4422-A442-FE0E4215E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06575" y="1571625"/>
            <a:ext cx="1000125" cy="809625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28D89"/>
          </a:solidFill>
          <a:ln xmlns:a="http://schemas.openxmlformats.org/drawingml/2006/main" w="13335">
            <a:solidFill>
              <a:srgbClr val="128D89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质量</a:t>
            </a:r>
          </a:p>
        </p:txBody>
      </p:sp>
      <p:sp>
        <p:nvSpPr>
          <p:cNvPr id="36" name="契约校验">
            <a:extLst xmlns:a="http://schemas.openxmlformats.org/drawingml/2006/main">
              <a:ext uri="{FF2B5EF4-FFF2-40B4-BE49-F238E27FC236}">
                <a16:creationId xmlns:a16="http://schemas.microsoft.com/office/drawing/2014/main" id="{577BEBC9-4914-4383-A261-722FA81BC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63725" y="2647950"/>
            <a:ext cx="885825" cy="1114425"/>
          </a:xfrm>
          <a:prstGeom xmlns:a="http://schemas.openxmlformats.org/drawingml/2006/main" prst="roundRect">
            <a:avLst>
              <a:gd name="adj" fmla="val 53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28D89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契约校验</a:t>
            </a:r>
          </a:p>
        </p:txBody>
      </p:sp>
      <p:sp>
        <p:nvSpPr>
          <p:cNvPr id="37" name="规则版本">
            <a:extLst xmlns:a="http://schemas.openxmlformats.org/drawingml/2006/main">
              <a:ext uri="{FF2B5EF4-FFF2-40B4-BE49-F238E27FC236}">
                <a16:creationId xmlns:a16="http://schemas.microsoft.com/office/drawing/2014/main" id="{848EB91C-2E31-4B6D-B3BA-1F916BB99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63725" y="4038600"/>
            <a:ext cx="885825" cy="1114425"/>
          </a:xfrm>
          <a:prstGeom xmlns:a="http://schemas.openxmlformats.org/drawingml/2006/main" prst="roundRect">
            <a:avLst>
              <a:gd name="adj" fmla="val 53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28D89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规则版本</a:t>
            </a:r>
          </a:p>
        </p:txBody>
      </p:sp>
      <p:sp>
        <p:nvSpPr>
          <p:cNvPr id="38" name="解析验证">
            <a:extLst xmlns:a="http://schemas.openxmlformats.org/drawingml/2006/main">
              <a:ext uri="{FF2B5EF4-FFF2-40B4-BE49-F238E27FC236}">
                <a16:creationId xmlns:a16="http://schemas.microsoft.com/office/drawing/2014/main" id="{F135D356-41C9-4B6D-9D9C-FFC9BD65A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63725" y="5429250"/>
            <a:ext cx="885825" cy="1114425"/>
          </a:xfrm>
          <a:prstGeom xmlns:a="http://schemas.openxmlformats.org/drawingml/2006/main" prst="roundRect">
            <a:avLst>
              <a:gd name="adj" fmla="val 53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28D89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解析验证</a:t>
            </a:r>
          </a:p>
        </p:txBody>
      </p:sp>
      <p:sp>
        <p:nvSpPr>
          <p:cNvPr id="39" name="专家复核">
            <a:extLst xmlns:a="http://schemas.openxmlformats.org/drawingml/2006/main">
              <a:ext uri="{FF2B5EF4-FFF2-40B4-BE49-F238E27FC236}">
                <a16:creationId xmlns:a16="http://schemas.microsoft.com/office/drawing/2014/main" id="{39C36B18-1E21-4B13-931C-DB393D607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63725" y="6819900"/>
            <a:ext cx="885825" cy="1114425"/>
          </a:xfrm>
          <a:prstGeom xmlns:a="http://schemas.openxmlformats.org/drawingml/2006/main" prst="roundRect">
            <a:avLst>
              <a:gd name="adj" fmla="val 53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28D89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专家复核</a:t>
            </a:r>
          </a:p>
        </p:txBody>
      </p:sp>
      <p:sp>
        <p:nvSpPr>
          <p:cNvPr id="40" name="隔离重验">
            <a:extLst xmlns:a="http://schemas.openxmlformats.org/drawingml/2006/main">
              <a:ext uri="{FF2B5EF4-FFF2-40B4-BE49-F238E27FC236}">
                <a16:creationId xmlns:a16="http://schemas.microsoft.com/office/drawing/2014/main" id="{A5A3ADEF-9FAD-4BE9-B03E-86E779D98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63725" y="8210550"/>
            <a:ext cx="885825" cy="1114425"/>
          </a:xfrm>
          <a:prstGeom xmlns:a="http://schemas.openxmlformats.org/drawingml/2006/main" prst="roundRect">
            <a:avLst>
              <a:gd name="adj" fmla="val 53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28D89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隔离重验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765088D-FDD0-4375-A78A-E1A64EBD6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82900" y="1571625"/>
            <a:ext cx="1000125" cy="8277225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7253AF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2" name="安全运维">
            <a:extLst xmlns:a="http://schemas.openxmlformats.org/drawingml/2006/main">
              <a:ext uri="{FF2B5EF4-FFF2-40B4-BE49-F238E27FC236}">
                <a16:creationId xmlns:a16="http://schemas.microsoft.com/office/drawing/2014/main" id="{A6460236-BC0E-44C2-A3EA-3306E0EFA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82900" y="1571625"/>
            <a:ext cx="1000125" cy="809625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7253AF"/>
          </a:solidFill>
          <a:ln xmlns:a="http://schemas.openxmlformats.org/drawingml/2006/main" w="13335">
            <a:solidFill>
              <a:srgbClr val="7253AF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安全运维</a:t>
            </a:r>
          </a:p>
        </p:txBody>
      </p:sp>
      <p:sp>
        <p:nvSpPr>
          <p:cNvPr id="43" name="身份绑定">
            <a:extLst xmlns:a="http://schemas.openxmlformats.org/drawingml/2006/main">
              <a:ext uri="{FF2B5EF4-FFF2-40B4-BE49-F238E27FC236}">
                <a16:creationId xmlns:a16="http://schemas.microsoft.com/office/drawing/2014/main" id="{CA3C496D-8F9A-41BE-AADE-1CAD5DF37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40050" y="2647950"/>
            <a:ext cx="885825" cy="1114425"/>
          </a:xfrm>
          <a:prstGeom xmlns:a="http://schemas.openxmlformats.org/drawingml/2006/main" prst="roundRect">
            <a:avLst>
              <a:gd name="adj" fmla="val 53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7253AF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身份绑定</a:t>
            </a:r>
          </a:p>
        </p:txBody>
      </p:sp>
      <p:sp>
        <p:nvSpPr>
          <p:cNvPr id="44" name="跨团队授权">
            <a:extLst xmlns:a="http://schemas.openxmlformats.org/drawingml/2006/main">
              <a:ext uri="{FF2B5EF4-FFF2-40B4-BE49-F238E27FC236}">
                <a16:creationId xmlns:a16="http://schemas.microsoft.com/office/drawing/2014/main" id="{72C0E81E-0D08-45E5-9768-DC87E21F6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40050" y="4038600"/>
            <a:ext cx="885825" cy="1114425"/>
          </a:xfrm>
          <a:prstGeom xmlns:a="http://schemas.openxmlformats.org/drawingml/2006/main" prst="roundRect">
            <a:avLst>
              <a:gd name="adj" fmla="val 53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7253AF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跨团队授权</a:t>
            </a:r>
          </a:p>
        </p:txBody>
      </p:sp>
      <p:sp>
        <p:nvSpPr>
          <p:cNvPr id="45" name="下载鉴权">
            <a:extLst xmlns:a="http://schemas.openxmlformats.org/drawingml/2006/main">
              <a:ext uri="{FF2B5EF4-FFF2-40B4-BE49-F238E27FC236}">
                <a16:creationId xmlns:a16="http://schemas.microsoft.com/office/drawing/2014/main" id="{8B83598C-656A-41E6-8683-E5A76F8B3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40050" y="5429250"/>
            <a:ext cx="885825" cy="1114425"/>
          </a:xfrm>
          <a:prstGeom xmlns:a="http://schemas.openxmlformats.org/drawingml/2006/main" prst="roundRect">
            <a:avLst>
              <a:gd name="adj" fmla="val 53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7253AF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下载鉴权</a:t>
            </a:r>
          </a:p>
        </p:txBody>
      </p:sp>
      <p:sp>
        <p:nvSpPr>
          <p:cNvPr id="46" name="可靠对账">
            <a:extLst xmlns:a="http://schemas.openxmlformats.org/drawingml/2006/main">
              <a:ext uri="{FF2B5EF4-FFF2-40B4-BE49-F238E27FC236}">
                <a16:creationId xmlns:a16="http://schemas.microsoft.com/office/drawing/2014/main" id="{2723D1E4-9AEB-4708-BD5E-A37D3A3AD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40050" y="6819900"/>
            <a:ext cx="885825" cy="1114425"/>
          </a:xfrm>
          <a:prstGeom xmlns:a="http://schemas.openxmlformats.org/drawingml/2006/main" prst="roundRect">
            <a:avLst>
              <a:gd name="adj" fmla="val 53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7253AF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可靠对账</a:t>
            </a:r>
          </a:p>
        </p:txBody>
      </p:sp>
      <p:sp>
        <p:nvSpPr>
          <p:cNvPr id="47" name="恢复回滚">
            <a:extLst xmlns:a="http://schemas.openxmlformats.org/drawingml/2006/main">
              <a:ext uri="{FF2B5EF4-FFF2-40B4-BE49-F238E27FC236}">
                <a16:creationId xmlns:a16="http://schemas.microsoft.com/office/drawing/2014/main" id="{B07F7069-B5BF-491D-8642-E67F2A0A2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40050" y="8210550"/>
            <a:ext cx="885825" cy="1114425"/>
          </a:xfrm>
          <a:prstGeom xmlns:a="http://schemas.openxmlformats.org/drawingml/2006/main" prst="roundRect">
            <a:avLst>
              <a:gd name="adj" fmla="val 53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7253AF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恢复回滚</a:t>
            </a:r>
          </a:p>
        </p:txBody>
      </p:sp>
    </p:spTree>
    <p:extLst>
      <p:ext uri="{BB962C8B-B14F-4D97-AF65-F5344CB8AC3E}">
        <p14:creationId xmlns:p14="http://schemas.microsoft.com/office/powerpoint/2010/main" val="14730004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25DE743-3D17-4326-858E-89ADC8665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"/>
            <a:ext cx="1609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业务侧与 Agent 侧的数据流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9BD69D-FF28-4977-8D75-20002E4CB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14400"/>
            <a:ext cx="1609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写入、查询与反馈使用不同权限；相同资产 ID、版本和运行 ID 将两侧联接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E6EAD0-D850-444F-BADD-6C91FF03A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096500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宁德时代香港研究院 · RSI 数据平台架构建议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44260F-4493-4DE0-A0FB-823953D4D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1009650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" name="业务数据入库链路">
            <a:extLst xmlns:a="http://schemas.openxmlformats.org/drawingml/2006/main">
              <a:ext uri="{FF2B5EF4-FFF2-40B4-BE49-F238E27FC236}">
                <a16:creationId xmlns:a16="http://schemas.microsoft.com/office/drawing/2014/main" id="{379DDC56-C8CC-435C-9B5D-5A03B6207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66875"/>
            <a:ext cx="16097250" cy="4572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128D89"/>
          </a:solidFill>
          <a:ln xmlns:a="http://schemas.openxmlformats.org/drawingml/2006/main" w="13335">
            <a:solidFill>
              <a:srgbClr val="128D89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业务数据入库链路</a:t>
            </a:r>
          </a:p>
        </p:txBody>
      </p:sp>
      <p:sp>
        <p:nvSpPr>
          <p:cNvPr id="6" name="数据入口&#10;填报 / Excel / 共享盘">
            <a:extLst xmlns:a="http://schemas.openxmlformats.org/drawingml/2006/main">
              <a:ext uri="{FF2B5EF4-FFF2-40B4-BE49-F238E27FC236}">
                <a16:creationId xmlns:a16="http://schemas.microsoft.com/office/drawing/2014/main" id="{12395D40-F2B2-4B0F-8FC8-42D9C93CD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428875"/>
            <a:ext cx="2952750" cy="123825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EAF6F1"/>
          </a:solidFill>
          <a:ln xmlns:a="http://schemas.openxmlformats.org/drawingml/2006/main" w="13335">
            <a:solidFill>
              <a:srgbClr val="128D89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数据入口</a:t>
            </a:r>
          </a:p>
          <a:p xmlns:a="http://schemas.openxmlformats.org/drawingml/2006/main">
            <a:pPr algn="ctr">
              <a:defRPr sz="20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填报 / Excel / 共享盘</a:t>
            </a:r>
          </a:p>
        </p:txBody>
      </p:sp>
      <p:sp>
        <p:nvSpPr>
          <p:cNvPr id="7" name="接入登记&#10;批次 / 身份 / 原件版本">
            <a:extLst xmlns:a="http://schemas.openxmlformats.org/drawingml/2006/main">
              <a:ext uri="{FF2B5EF4-FFF2-40B4-BE49-F238E27FC236}">
                <a16:creationId xmlns:a16="http://schemas.microsoft.com/office/drawing/2014/main" id="{C23DF346-D101-4412-84BF-5ABA8B589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428875"/>
            <a:ext cx="2952750" cy="123825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EAF6F1"/>
          </a:solidFill>
          <a:ln xmlns:a="http://schemas.openxmlformats.org/drawingml/2006/main" w="13335">
            <a:solidFill>
              <a:srgbClr val="128D89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接入登记</a:t>
            </a:r>
          </a:p>
          <a:p xmlns:a="http://schemas.openxmlformats.org/drawingml/2006/main">
            <a:pPr algn="ctr">
              <a:defRPr sz="20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批次 / 身份 / 原件版本</a:t>
            </a:r>
          </a:p>
        </p:txBody>
      </p:sp>
      <p:sp>
        <p:nvSpPr>
          <p:cNvPr id="8" name="加工校验&#10;字段 / 解析 / 单位 / 关联">
            <a:extLst xmlns:a="http://schemas.openxmlformats.org/drawingml/2006/main">
              <a:ext uri="{FF2B5EF4-FFF2-40B4-BE49-F238E27FC236}">
                <a16:creationId xmlns:a16="http://schemas.microsoft.com/office/drawing/2014/main" id="{3C53FA0B-498D-4DC2-BE05-4F2CA84A0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428875"/>
            <a:ext cx="2952750" cy="123825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EAF6F1"/>
          </a:solidFill>
          <a:ln xmlns:a="http://schemas.openxmlformats.org/drawingml/2006/main" w="13335">
            <a:solidFill>
              <a:srgbClr val="128D89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加工校验</a:t>
            </a:r>
          </a:p>
          <a:p xmlns:a="http://schemas.openxmlformats.org/drawingml/2006/main">
            <a:pPr algn="ctr">
              <a:defRPr sz="20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字段 / 解析 / 单位 / 关联</a:t>
            </a:r>
          </a:p>
        </p:txBody>
      </p:sp>
      <p:sp>
        <p:nvSpPr>
          <p:cNvPr id="9" name="发布资产&#10;实验视图 / 片段 / 索引">
            <a:extLst xmlns:a="http://schemas.openxmlformats.org/drawingml/2006/main">
              <a:ext uri="{FF2B5EF4-FFF2-40B4-BE49-F238E27FC236}">
                <a16:creationId xmlns:a16="http://schemas.microsoft.com/office/drawing/2014/main" id="{CAAB407E-0358-4A90-8D1E-EA5090BEA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428875"/>
            <a:ext cx="2952750" cy="123825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EAF6F1"/>
          </a:solidFill>
          <a:ln xmlns:a="http://schemas.openxmlformats.org/drawingml/2006/main" w="13335">
            <a:solidFill>
              <a:srgbClr val="128D89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发布资产</a:t>
            </a:r>
          </a:p>
          <a:p xmlns:a="http://schemas.openxmlformats.org/drawingml/2006/main">
            <a:pPr algn="ctr">
              <a:defRPr sz="20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实验视图 / 片段 / 索引</a:t>
            </a:r>
          </a:p>
        </p:txBody>
      </p:sp>
      <p:sp>
        <p:nvSpPr>
          <p:cNvPr id="10" name="统一查询&#10;表格 / 摘要 / 来源证据">
            <a:extLst xmlns:a="http://schemas.openxmlformats.org/drawingml/2006/main">
              <a:ext uri="{FF2B5EF4-FFF2-40B4-BE49-F238E27FC236}">
                <a16:creationId xmlns:a16="http://schemas.microsoft.com/office/drawing/2014/main" id="{C72E93BA-A0DC-4520-8074-D2A313890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68375" y="2428875"/>
            <a:ext cx="2952750" cy="123825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EAF6F1"/>
          </a:solidFill>
          <a:ln xmlns:a="http://schemas.openxmlformats.org/drawingml/2006/main" w="13335">
            <a:solidFill>
              <a:srgbClr val="128D89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统一查询</a:t>
            </a:r>
          </a:p>
          <a:p xmlns:a="http://schemas.openxmlformats.org/drawingml/2006/main">
            <a:pPr algn="ctr">
              <a:defRPr sz="20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表格 / 摘要 / 来源证据</a:t>
            </a:r>
          </a:p>
        </p:txBody>
      </p:sp>
      <p:cxnSp>
        <p:nvCxnSpPr>
          <p:cNvPr id="40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476625" y="304800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8D89"/>
            </a:solidFill>
            <a:prstDash val="solid"/>
            <a:tailEnd type="triangle" w="sm" len="sm"/>
          </a:ln>
        </p:spPr>
      </p:cxnSp>
      <p:cxnSp>
        <p:nvCxnSpPr>
          <p:cNvPr id="41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6762750" y="304800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8D89"/>
            </a:solidFill>
            <a:prstDash val="solid"/>
            <a:tailEnd type="triangle" w="sm" len="sm"/>
          </a:ln>
        </p:spPr>
      </p:cxnSp>
      <p:cxnSp>
        <p:nvCxnSpPr>
          <p:cNvPr id="42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10048875" y="304800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8D89"/>
            </a:solidFill>
            <a:prstDash val="solid"/>
            <a:tailEnd type="triangle" w="sm" len="sm"/>
          </a:ln>
        </p:spPr>
      </p:cxnSp>
      <p:cxnSp>
        <p:nvCxnSpPr>
          <p:cNvPr id="43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13335000" y="304800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8D89"/>
            </a:solidFill>
            <a:prstDash val="solid"/>
            <a:tailEnd type="triangle" w="sm" len="sm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201BC4-BE5F-4A9E-847D-CEC3DA9C0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876675"/>
            <a:ext cx="16097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28D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28D89"/>
                </a:solidFill>
                <a:latin typeface="Microsoft YaHei"/>
                <a:ea typeface="Microsoft YaHei"/>
                <a:cs typeface="Microsoft YaHei"/>
              </a:rPr>
              <a:t>输入：项目、批次、电芯、实验标识及原件  ｜  挂测总表保留人工口径，关联明细而不默认自动重算</a:t>
            </a:r>
          </a:p>
        </p:txBody>
      </p:sp>
      <p:sp>
        <p:nvSpPr>
          <p:cNvPr id="16" name="Agent 运行与反馈链路">
            <a:extLst xmlns:a="http://schemas.openxmlformats.org/drawingml/2006/main">
              <a:ext uri="{FF2B5EF4-FFF2-40B4-BE49-F238E27FC236}">
                <a16:creationId xmlns:a16="http://schemas.microsoft.com/office/drawing/2014/main" id="{6B2C05C2-2B32-4047-9E1F-B6CC48701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762500"/>
            <a:ext cx="16097250" cy="4572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7253AF"/>
          </a:solidFill>
          <a:ln xmlns:a="http://schemas.openxmlformats.org/drawingml/2006/main" w="13335">
            <a:solidFill>
              <a:srgbClr val="7253AF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Agent 运行与反馈链路</a:t>
            </a:r>
          </a:p>
        </p:txBody>
      </p:sp>
      <p:sp>
        <p:nvSpPr>
          <p:cNvPr id="17" name="任务与上下文&#10;用户 / 项目 / query_id">
            <a:extLst xmlns:a="http://schemas.openxmlformats.org/drawingml/2006/main">
              <a:ext uri="{FF2B5EF4-FFF2-40B4-BE49-F238E27FC236}">
                <a16:creationId xmlns:a16="http://schemas.microsoft.com/office/drawing/2014/main" id="{A01DDD42-7B98-445D-9057-577C9004E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524500"/>
            <a:ext cx="2952750" cy="142875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4F0FB"/>
          </a:solidFill>
          <a:ln xmlns:a="http://schemas.openxmlformats.org/drawingml/2006/main" w="13335">
            <a:solidFill>
              <a:srgbClr val="7253AF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任务与上下文</a:t>
            </a:r>
          </a:p>
          <a:p xmlns:a="http://schemas.openxmlformats.org/drawingml/2006/main">
            <a:pPr algn="ctr">
              <a:def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用户 / 项目 / query_id</a:t>
            </a:r>
          </a:p>
        </p:txBody>
      </p:sp>
      <p:sp>
        <p:nvSpPr>
          <p:cNvPr id="18" name="受控执行&#10;选表 / SQL / 检索 / LLM">
            <a:extLst xmlns:a="http://schemas.openxmlformats.org/drawingml/2006/main">
              <a:ext uri="{FF2B5EF4-FFF2-40B4-BE49-F238E27FC236}">
                <a16:creationId xmlns:a16="http://schemas.microsoft.com/office/drawing/2014/main" id="{EEFB4218-6B50-4617-9162-1027125F1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524500"/>
            <a:ext cx="2952750" cy="142875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4F0FB"/>
          </a:solidFill>
          <a:ln xmlns:a="http://schemas.openxmlformats.org/drawingml/2006/main" w="13335">
            <a:solidFill>
              <a:srgbClr val="7253AF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受控执行</a:t>
            </a:r>
          </a:p>
          <a:p xmlns:a="http://schemas.openxmlformats.org/drawingml/2006/main">
            <a:pPr algn="ctr">
              <a:def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选表 / SQL / 检索 / LLM</a:t>
            </a:r>
          </a:p>
        </p:txBody>
      </p:sp>
      <p:sp>
        <p:nvSpPr>
          <p:cNvPr id="19" name="运行记录&#10;Trace / 工具输入输出&#10;证据引用 / 版本清单">
            <a:extLst xmlns:a="http://schemas.openxmlformats.org/drawingml/2006/main">
              <a:ext uri="{FF2B5EF4-FFF2-40B4-BE49-F238E27FC236}">
                <a16:creationId xmlns:a16="http://schemas.microsoft.com/office/drawing/2014/main" id="{245D1034-3142-4CE1-BE9F-6C285A921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5524500"/>
            <a:ext cx="2952750" cy="142875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4F0FB"/>
          </a:solidFill>
          <a:ln xmlns:a="http://schemas.openxmlformats.org/drawingml/2006/main" w="13335">
            <a:solidFill>
              <a:srgbClr val="7253AF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运行记录</a:t>
            </a:r>
          </a:p>
          <a:p xmlns:a="http://schemas.openxmlformats.org/drawingml/2006/main">
            <a:pPr algn="ctr">
              <a:def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Trace / 工具输入输出</a:t>
            </a:r>
          </a:p>
          <a:p xmlns:a="http://schemas.openxmlformats.org/drawingml/2006/main">
            <a:pPr algn="ctr">
              <a:def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证据引用 / 版本清单</a:t>
            </a:r>
          </a:p>
        </p:txBody>
      </p:sp>
      <p:sp>
        <p:nvSpPr>
          <p:cNvPr id="20" name="专家反馈&#10;错误类型 / 纠正依据&#10;经验候选 / 复核状态">
            <a:extLst xmlns:a="http://schemas.openxmlformats.org/drawingml/2006/main">
              <a:ext uri="{FF2B5EF4-FFF2-40B4-BE49-F238E27FC236}">
                <a16:creationId xmlns:a16="http://schemas.microsoft.com/office/drawing/2014/main" id="{A88421DD-C670-4413-A867-0F3910AC1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524500"/>
            <a:ext cx="2952750" cy="142875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4F0FB"/>
          </a:solidFill>
          <a:ln xmlns:a="http://schemas.openxmlformats.org/drawingml/2006/main" w="13335">
            <a:solidFill>
              <a:srgbClr val="7253AF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专家反馈</a:t>
            </a:r>
          </a:p>
          <a:p xmlns:a="http://schemas.openxmlformats.org/drawingml/2006/main">
            <a:pPr algn="ctr">
              <a:def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错误类型 / 纠正依据</a:t>
            </a:r>
          </a:p>
          <a:p xmlns:a="http://schemas.openxmlformats.org/drawingml/2006/main">
            <a:pPr algn="ctr">
              <a:def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经验候选 / 复核状态</a:t>
            </a:r>
          </a:p>
        </p:txBody>
      </p:sp>
      <p:sp>
        <p:nvSpPr>
          <p:cNvPr id="21" name="评测与发布&#10;冻结测试 / 基线对比&#10;批准版本 / 回滚依据">
            <a:extLst xmlns:a="http://schemas.openxmlformats.org/drawingml/2006/main">
              <a:ext uri="{FF2B5EF4-FFF2-40B4-BE49-F238E27FC236}">
                <a16:creationId xmlns:a16="http://schemas.microsoft.com/office/drawing/2014/main" id="{E8792420-5202-435A-8EB2-9CF72E1CE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68375" y="5524500"/>
            <a:ext cx="2952750" cy="142875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4F0FB"/>
          </a:solidFill>
          <a:ln xmlns:a="http://schemas.openxmlformats.org/drawingml/2006/main" w="13335">
            <a:solidFill>
              <a:srgbClr val="7253AF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评测与发布</a:t>
            </a:r>
          </a:p>
          <a:p xmlns:a="http://schemas.openxmlformats.org/drawingml/2006/main">
            <a:pPr algn="ctr">
              <a:def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冻结测试 / 基线对比</a:t>
            </a:r>
          </a:p>
          <a:p xmlns:a="http://schemas.openxmlformats.org/drawingml/2006/main">
            <a:pPr algn="ctr">
              <a:def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批准版本 / 回滚依据</a:t>
            </a:r>
          </a:p>
        </p:txBody>
      </p:sp>
      <p:cxnSp>
        <p:nvCxnSpPr>
          <p:cNvPr id="51" name=""/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3476625" y="6238875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253AF"/>
            </a:solidFill>
            <a:prstDash val="solid"/>
            <a:tailEnd type="triangle" w="sm" len="sm"/>
          </a:ln>
        </p:spPr>
      </p:cxnSp>
      <p:cxnSp>
        <p:nvCxnSpPr>
          <p:cNvPr id="52" name=""/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6762750" y="6238875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253AF"/>
            </a:solidFill>
            <a:prstDash val="solid"/>
            <a:tailEnd type="triangle" w="sm" len="sm"/>
          </a:ln>
        </p:spPr>
      </p:cxnSp>
      <p:cxnSp>
        <p:nvCxnSpPr>
          <p:cNvPr id="53" name=""/>
          <p:cNvCxnSpPr>
            <a:stCxn xmlns:a="http://schemas.openxmlformats.org/drawingml/2006/main" id="19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10048875" y="6238875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253AF"/>
            </a:solidFill>
            <a:prstDash val="solid"/>
            <a:tailEnd type="triangle" w="sm" len="sm"/>
          </a:ln>
        </p:spPr>
      </p:cxnSp>
      <p:cxnSp>
        <p:nvCxnSpPr>
          <p:cNvPr id="54" name=""/>
          <p:cNvCxnSpPr>
            <a:stCxn xmlns:a="http://schemas.openxmlformats.org/drawingml/2006/main" id="2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13335000" y="6238875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253AF"/>
            </a:solidFill>
            <a:prstDash val="solid"/>
            <a:tailEnd type="triangle" w="sm" len="sm"/>
          </a:ln>
        </p:spPr>
      </p:cxnSp>
      <p:cxnSp>
        <p:nvCxnSpPr>
          <p:cNvPr id="55" name=""/>
          <p:cNvCxnSpPr>
            <a:stCxn xmlns:a="http://schemas.openxmlformats.org/drawingml/2006/main" id="10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 flipH="1">
            <a:off x="8572500" y="3667125"/>
            <a:ext cx="6572250" cy="18573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526A7C"/>
            </a:solidFill>
            <a:prstDash val="dash"/>
            <a:tailEnd type="triangle" w="sm" len="sm"/>
          </a:ln>
        </p:spPr>
      </p:cxnSp>
      <p:sp>
        <p:nvSpPr>
          <p:cNvPr id="27" name="统一关联键：asset_id / asset_version · experim">
            <a:extLst xmlns:a="http://schemas.openxmlformats.org/drawingml/2006/main">
              <a:ext uri="{FF2B5EF4-FFF2-40B4-BE49-F238E27FC236}">
                <a16:creationId xmlns:a16="http://schemas.microsoft.com/office/drawing/2014/main" id="{9F260DA6-ECAA-4702-946F-87359846D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620000"/>
            <a:ext cx="16097250" cy="762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统一关联键：asset_id / asset_version · experiment_id / batch_id · query_id / trace_id · policy_version</a:t>
            </a:r>
          </a:p>
        </p:txBody>
      </p:sp>
      <p:sp>
        <p:nvSpPr>
          <p:cNvPr id="28" name="一期：更新目录、检索、Prompt 与确认知识&#10;反馈经审核和评测后发布">
            <a:extLst xmlns:a="http://schemas.openxmlformats.org/drawingml/2006/main">
              <a:ext uri="{FF2B5EF4-FFF2-40B4-BE49-F238E27FC236}">
                <a16:creationId xmlns:a16="http://schemas.microsoft.com/office/drawing/2014/main" id="{1928F9D1-915E-4EBD-B2CF-394311E73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763000"/>
            <a:ext cx="7667625" cy="914400"/>
          </a:xfrm>
          <a:prstGeom xmlns:a="http://schemas.openxmlformats.org/drawingml/2006/main" prst="roundRect">
            <a:avLst>
              <a:gd name="adj" fmla="val 5208"/>
            </a:avLst>
          </a:prstGeom>
          <a:solidFill xmlns:a="http://schemas.openxmlformats.org/drawingml/2006/main">
            <a:srgbClr val="EAF6F1"/>
          </a:solidFill>
          <a:ln xmlns:a="http://schemas.openxmlformats.org/drawingml/2006/main" w="13335">
            <a:solidFill>
              <a:srgbClr val="128D89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一期：更新目录、检索、Prompt 与确认知识</a:t>
            </a:r>
          </a:p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反馈经审核和评测后发布</a:t>
            </a:r>
          </a:p>
        </p:txBody>
      </p:sp>
      <p:sp>
        <p:nvSpPr>
          <p:cNvPr id="29" name="后续：代码 / 技能 / 权重候选 → 沙箱 → 测试 → 审批&#10;新增训练快照、">
            <a:extLst xmlns:a="http://schemas.openxmlformats.org/drawingml/2006/main">
              <a:ext uri="{FF2B5EF4-FFF2-40B4-BE49-F238E27FC236}">
                <a16:creationId xmlns:a16="http://schemas.microsoft.com/office/drawing/2014/main" id="{4C181A22-7970-45AA-96B9-7531D7754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8763000"/>
            <a:ext cx="7858125" cy="914400"/>
          </a:xfrm>
          <a:prstGeom xmlns:a="http://schemas.openxmlformats.org/drawingml/2006/main" prst="roundRect">
            <a:avLst>
              <a:gd name="adj" fmla="val 5208"/>
            </a:avLst>
          </a:prstGeom>
          <a:solidFill xmlns:a="http://schemas.openxmlformats.org/drawingml/2006/main">
            <a:srgbClr val="F4F0FB"/>
          </a:solidFill>
          <a:ln xmlns:a="http://schemas.openxmlformats.org/drawingml/2006/main" w="13335">
            <a:solidFill>
              <a:srgbClr val="7253AF"/>
            </a:solidFill>
            <a:prstDash val="dash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后续：代码 / 技能 / 权重候选 → 沙箱 → 测试 → 审批</a:t>
            </a:r>
          </a:p>
          <a:p xmlns:a="http://schemas.openxmlformats.org/drawingml/2006/main">
            <a:pPr algn="ctr">
              <a:def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新增训练快照、Git / 制品和发布门禁</a:t>
            </a:r>
          </a:p>
        </p:txBody>
      </p:sp>
    </p:spTree>
    <p:extLst>
      <p:ext uri="{BB962C8B-B14F-4D97-AF65-F5344CB8AC3E}">
        <p14:creationId xmlns:p14="http://schemas.microsoft.com/office/powerpoint/2010/main" val="29806754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C0ACD66-DEA9-438A-B0BF-26081727E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"/>
            <a:ext cx="1609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数据血缘实现架构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5CFB7F-7D94-4DD7-A31C-E3742DFF2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14400"/>
            <a:ext cx="1609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服务主动记录来源，数据库结构采集补充目录；LLM 生成的 SQL 仅作候选，实际执行与引用结果才形成运行证据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F656C2-1DEA-4479-9102-EF870B3D9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096500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宁德时代香港研究院 · RSI 数据平台架构建议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A99442-0284-423D-B681-E2A5CE8B9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1009650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5" name="采集点">
            <a:extLst xmlns:a="http://schemas.openxmlformats.org/drawingml/2006/main">
              <a:ext uri="{FF2B5EF4-FFF2-40B4-BE49-F238E27FC236}">
                <a16:creationId xmlns:a16="http://schemas.microsoft.com/office/drawing/2014/main" id="{41101403-2A86-460B-8E28-9726B0511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19250"/>
            <a:ext cx="2381250" cy="523875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268AE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采集点</a:t>
            </a:r>
          </a:p>
        </p:txBody>
      </p:sp>
      <p:sp>
        <p:nvSpPr>
          <p:cNvPr id="6" name="Excel 入库 / 填报事务&#10;源文件、映射、记录修订">
            <a:extLst xmlns:a="http://schemas.openxmlformats.org/drawingml/2006/main">
              <a:ext uri="{FF2B5EF4-FFF2-40B4-BE49-F238E27FC236}">
                <a16:creationId xmlns:a16="http://schemas.microsoft.com/office/drawing/2014/main" id="{782ADD80-40BD-48A8-B7EB-2DBE9E875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381250"/>
            <a:ext cx="2952750" cy="1190625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Excel 入库 / 填报事务</a:t>
            </a:r>
          </a:p>
          <a:p xmlns:a="http://schemas.openxmlformats.org/drawingml/2006/main">
            <a:pPr algn="ctr">
              <a:def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源文件、映射、记录修订</a:t>
            </a:r>
          </a:p>
        </p:txBody>
      </p:sp>
      <p:sp>
        <p:nvSpPr>
          <p:cNvPr id="7" name="解析 / OCR / 切分任务&#10;原件页码、处理版本、片段">
            <a:extLst xmlns:a="http://schemas.openxmlformats.org/drawingml/2006/main">
              <a:ext uri="{FF2B5EF4-FFF2-40B4-BE49-F238E27FC236}">
                <a16:creationId xmlns:a16="http://schemas.microsoft.com/office/drawing/2014/main" id="{F86398D2-EFF4-48A2-B4AC-F94CC9BD7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981450"/>
            <a:ext cx="2952750" cy="1190625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解析 / OCR / 切分任务</a:t>
            </a:r>
          </a:p>
          <a:p xmlns:a="http://schemas.openxmlformats.org/drawingml/2006/main">
            <a:pPr algn="ctr">
              <a:def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原件页码、处理版本、片段</a:t>
            </a:r>
          </a:p>
        </p:txBody>
      </p:sp>
      <p:sp>
        <p:nvSpPr>
          <p:cNvPr id="8" name="SQL 执行 / 检索 / 模型调用&#10;实际来源、公开工具输入输出">
            <a:extLst xmlns:a="http://schemas.openxmlformats.org/drawingml/2006/main">
              <a:ext uri="{FF2B5EF4-FFF2-40B4-BE49-F238E27FC236}">
                <a16:creationId xmlns:a16="http://schemas.microsoft.com/office/drawing/2014/main" id="{7B4F9E06-38FB-4630-86F1-4CB39AC65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581650"/>
            <a:ext cx="2952750" cy="1190625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SQL 执行 / 检索 / 模型调用</a:t>
            </a:r>
          </a:p>
          <a:p xmlns:a="http://schemas.openxmlformats.org/drawingml/2006/main">
            <a:pPr algn="ctr">
              <a:def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实际来源、公开工具输入输出</a:t>
            </a:r>
          </a:p>
        </p:txBody>
      </p:sp>
      <p:sp>
        <p:nvSpPr>
          <p:cNvPr id="9" name="评测 / 发布 / 撤回操作&#10;快照、候选、策略和状态">
            <a:extLst xmlns:a="http://schemas.openxmlformats.org/drawingml/2006/main">
              <a:ext uri="{FF2B5EF4-FFF2-40B4-BE49-F238E27FC236}">
                <a16:creationId xmlns:a16="http://schemas.microsoft.com/office/drawing/2014/main" id="{380C3093-E6B9-45E4-9579-2EF3ADEC1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181850"/>
            <a:ext cx="2952750" cy="1190625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评测 / 发布 / 撤回操作</a:t>
            </a:r>
          </a:p>
          <a:p xmlns:a="http://schemas.openxmlformats.org/drawingml/2006/main">
            <a:pPr algn="ctr">
              <a:def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快照、候选、策略和状态</a:t>
            </a:r>
          </a:p>
        </p:txBody>
      </p:sp>
      <p:sp>
        <p:nvSpPr>
          <p:cNvPr id="10" name="统一事件接口&#10;START / COMPLETE / FAIL&#10;run_id + ">
            <a:extLst xmlns:a="http://schemas.openxmlformats.org/drawingml/2006/main">
              <a:ext uri="{FF2B5EF4-FFF2-40B4-BE49-F238E27FC236}">
                <a16:creationId xmlns:a16="http://schemas.microsoft.com/office/drawing/2014/main" id="{07C167D0-C15A-4F81-8BC7-956310D55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67000"/>
            <a:ext cx="3429000" cy="1952625"/>
          </a:xfrm>
          <a:prstGeom xmlns:a="http://schemas.openxmlformats.org/drawingml/2006/main" prst="roundRect">
            <a:avLst>
              <a:gd name="adj" fmla="val 2439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统一事件接口</a:t>
            </a:r>
          </a:p>
          <a:p xmlns:a="http://schemas.openxmlformats.org/drawingml/2006/main">
            <a:pPr algn="ctr">
              <a:defRPr sz="21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START / COMPLETE / FAIL</a:t>
            </a:r>
          </a:p>
          <a:p xmlns:a="http://schemas.openxmlformats.org/drawingml/2006/main">
            <a:pPr algn="ctr">
              <a:defRPr sz="21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run_id + 输入输出引用</a:t>
            </a:r>
          </a:p>
          <a:p xmlns:a="http://schemas.openxmlformats.org/drawingml/2006/main">
            <a:pPr algn="ctr">
              <a:defRPr sz="21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事件幂等 / 重试 / 错误队列</a:t>
            </a:r>
          </a:p>
        </p:txBody>
      </p:sp>
      <p:sp>
        <p:nvSpPr>
          <p:cNvPr id="11" name="血缘与版本目录&#10;资产 / 字段 / Run / Job&#10;输入 → 处理 → 输出">
            <a:extLst xmlns:a="http://schemas.openxmlformats.org/drawingml/2006/main">
              <a:ext uri="{FF2B5EF4-FFF2-40B4-BE49-F238E27FC236}">
                <a16:creationId xmlns:a16="http://schemas.microsoft.com/office/drawing/2014/main" id="{FBB33044-8091-4DDA-B70E-E3DC2EB30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667000"/>
            <a:ext cx="3810000" cy="1952625"/>
          </a:xfrm>
          <a:prstGeom xmlns:a="http://schemas.openxmlformats.org/drawingml/2006/main" prst="roundRect">
            <a:avLst>
              <a:gd name="adj" fmla="val 2439"/>
            </a:avLst>
          </a:prstGeom>
          <a:solidFill xmlns:a="http://schemas.openxmlformats.org/drawingml/2006/main">
            <a:srgbClr val="EAF6F1"/>
          </a:solidFill>
          <a:ln xmlns:a="http://schemas.openxmlformats.org/drawingml/2006/main" w="13335">
            <a:solidFill>
              <a:srgbClr val="128D89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血缘与版本目录</a:t>
            </a:r>
          </a:p>
          <a:p xmlns:a="http://schemas.openxmlformats.org/drawingml/2006/main">
            <a:pPr algn="ctr">
              <a:defRPr sz="21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资产 / 字段 / Run / Job</a:t>
            </a:r>
          </a:p>
          <a:p xmlns:a="http://schemas.openxmlformats.org/drawingml/2006/main">
            <a:pPr algn="ctr">
              <a:defRPr sz="21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输入 → 处理 → 输出关系</a:t>
            </a:r>
          </a:p>
          <a:p xmlns:a="http://schemas.openxmlformats.org/drawingml/2006/main">
            <a:pPr algn="ctr">
              <a:defRPr sz="21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记录不可静默覆盖</a:t>
            </a:r>
          </a:p>
        </p:txBody>
      </p:sp>
      <p:sp>
        <p:nvSpPr>
          <p:cNvPr id="12" name="追溯与影响分析&#10;证据回原件 / 字段&#10;变更影响范围&#10;过期标记与重建任务">
            <a:extLst xmlns:a="http://schemas.openxmlformats.org/drawingml/2006/main">
              <a:ext uri="{FF2B5EF4-FFF2-40B4-BE49-F238E27FC236}">
                <a16:creationId xmlns:a16="http://schemas.microsoft.com/office/drawing/2014/main" id="{B0FF5E42-4A89-4829-9E18-B0AD4C9D7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7375" y="2667000"/>
            <a:ext cx="3333750" cy="1952625"/>
          </a:xfrm>
          <a:prstGeom xmlns:a="http://schemas.openxmlformats.org/drawingml/2006/main" prst="roundRect">
            <a:avLst>
              <a:gd name="adj" fmla="val 2439"/>
            </a:avLst>
          </a:prstGeom>
          <a:solidFill xmlns:a="http://schemas.openxmlformats.org/drawingml/2006/main">
            <a:srgbClr val="F4F0FB"/>
          </a:solidFill>
          <a:ln xmlns:a="http://schemas.openxmlformats.org/drawingml/2006/main" w="13335">
            <a:solidFill>
              <a:srgbClr val="7253AF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追溯与影响分析</a:t>
            </a:r>
          </a:p>
          <a:p xmlns:a="http://schemas.openxmlformats.org/drawingml/2006/main">
            <a:pPr algn="ctr">
              <a:defRPr sz="20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证据回原件 / 字段</a:t>
            </a:r>
          </a:p>
          <a:p xmlns:a="http://schemas.openxmlformats.org/drawingml/2006/main">
            <a:pPr algn="ctr">
              <a:defRPr sz="20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变更影响范围</a:t>
            </a:r>
          </a:p>
          <a:p xmlns:a="http://schemas.openxmlformats.org/drawingml/2006/main">
            <a:pPr algn="ctr">
              <a:defRPr sz="20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过期标记与重建任务</a:t>
            </a:r>
          </a:p>
        </p:txBody>
      </p:sp>
      <p:cxnSp>
        <p:nvCxnSpPr>
          <p:cNvPr id="41" name=""/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476625" y="2976563"/>
            <a:ext cx="809625" cy="6667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1268AE"/>
            </a:solidFill>
            <a:prstDash val="solid"/>
            <a:tailEnd type="triangle" w="sm" len="sm"/>
          </a:ln>
        </p:spPr>
      </p:cxnSp>
      <p:cxnSp>
        <p:nvCxnSpPr>
          <p:cNvPr id="42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1">
            <a:off x="3476625" y="3643313"/>
            <a:ext cx="809625" cy="9334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1268AE"/>
            </a:solidFill>
            <a:prstDash val="solid"/>
            <a:tailEnd type="triangle" w="sm" len="sm"/>
          </a:ln>
        </p:spPr>
      </p:cxnSp>
      <p:cxnSp>
        <p:nvCxnSpPr>
          <p:cNvPr id="43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1">
            <a:off x="3476625" y="3643313"/>
            <a:ext cx="809625" cy="25336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1268AE"/>
            </a:solidFill>
            <a:prstDash val="solid"/>
            <a:tailEnd type="triangle" w="sm" len="sm"/>
          </a:ln>
        </p:spPr>
      </p:cxnSp>
      <p:cxnSp>
        <p:nvCxnSpPr>
          <p:cNvPr id="44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1">
            <a:off x="3476625" y="3643313"/>
            <a:ext cx="809625" cy="41338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1268AE"/>
            </a:solidFill>
            <a:prstDash val="solid"/>
            <a:tailEnd type="triangle" w="sm" len="sm"/>
          </a:ln>
        </p:spPr>
      </p:cxnSp>
      <p:cxnSp>
        <p:nvCxnSpPr>
          <p:cNvPr id="45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7715250" y="3643313"/>
            <a:ext cx="904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68AE"/>
            </a:solidFill>
            <a:prstDash val="solid"/>
            <a:tailEnd type="triangle" w="sm" len="sm"/>
          </a:ln>
        </p:spPr>
      </p:cxnSp>
      <p:cxnSp>
        <p:nvCxnSpPr>
          <p:cNvPr id="46" name="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12430125" y="3643313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68AE"/>
            </a:solidFill>
            <a:prstDash val="solid"/>
            <a:tailEnd type="triangle" w="sm" len="sm"/>
          </a:ln>
        </p:spPr>
      </p:cxnSp>
      <p:sp>
        <p:nvSpPr>
          <p:cNvPr id="19" name="字段事件契约：project / asset_id / version / ru">
            <a:extLst xmlns:a="http://schemas.openxmlformats.org/drawingml/2006/main">
              <a:ext uri="{FF2B5EF4-FFF2-40B4-BE49-F238E27FC236}">
                <a16:creationId xmlns:a16="http://schemas.microsoft.com/office/drawing/2014/main" id="{E92A327B-ABD7-4BDF-B86F-C1447C616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143500"/>
            <a:ext cx="12334875" cy="1000125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字段事件契约：project / asset_id / version / run_id / job_id / inputs / outputs / code_or_config_version / status / timestamp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67752A-6131-4B3D-8276-304102E5B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438900"/>
            <a:ext cx="12334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实例：报告文件 → 解析片段 → 检索运行 → 查询答案 → 专家反馈 → 评测用例</a:t>
            </a:r>
          </a:p>
        </p:txBody>
      </p:sp>
      <p:sp>
        <p:nvSpPr>
          <p:cNvPr id="21" name="报告 V2&#10;asset_id + hash">
            <a:extLst xmlns:a="http://schemas.openxmlformats.org/drawingml/2006/main">
              <a:ext uri="{FF2B5EF4-FFF2-40B4-BE49-F238E27FC236}">
                <a16:creationId xmlns:a16="http://schemas.microsoft.com/office/drawing/2014/main" id="{A6B227CD-3886-4868-848C-A331C7999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7239000"/>
            <a:ext cx="2847975" cy="1104900"/>
          </a:xfrm>
          <a:prstGeom xmlns:a="http://schemas.openxmlformats.org/drawingml/2006/main" prst="roundRect">
            <a:avLst>
              <a:gd name="adj" fmla="val 43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报告 V2</a:t>
            </a:r>
          </a:p>
          <a:p xmlns:a="http://schemas.openxmlformats.org/drawingml/2006/main">
            <a:pPr algn="ctr">
              <a:def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asset_id + hash</a:t>
            </a:r>
          </a:p>
        </p:txBody>
      </p:sp>
      <p:sp>
        <p:nvSpPr>
          <p:cNvPr id="22" name="片段 C17&#10;页码 / 表格位置">
            <a:extLst xmlns:a="http://schemas.openxmlformats.org/drawingml/2006/main">
              <a:ext uri="{FF2B5EF4-FFF2-40B4-BE49-F238E27FC236}">
                <a16:creationId xmlns:a16="http://schemas.microsoft.com/office/drawing/2014/main" id="{F8C17D10-7C48-4391-8F3F-DEA16905B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7239000"/>
            <a:ext cx="2847975" cy="1104900"/>
          </a:xfrm>
          <a:prstGeom xmlns:a="http://schemas.openxmlformats.org/drawingml/2006/main" prst="roundRect">
            <a:avLst>
              <a:gd name="adj" fmla="val 43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片段 C17</a:t>
            </a:r>
          </a:p>
          <a:p xmlns:a="http://schemas.openxmlformats.org/drawingml/2006/main">
            <a:pPr algn="ctr">
              <a:def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页码 / 表格位置</a:t>
            </a:r>
          </a:p>
        </p:txBody>
      </p:sp>
      <p:sp>
        <p:nvSpPr>
          <p:cNvPr id="23" name="查询 Q93&#10;SQL / 证据引用">
            <a:extLst xmlns:a="http://schemas.openxmlformats.org/drawingml/2006/main">
              <a:ext uri="{FF2B5EF4-FFF2-40B4-BE49-F238E27FC236}">
                <a16:creationId xmlns:a16="http://schemas.microsoft.com/office/drawing/2014/main" id="{A99F7A18-A0C5-4B15-9978-284006F0B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7239000"/>
            <a:ext cx="2847975" cy="1104900"/>
          </a:xfrm>
          <a:prstGeom xmlns:a="http://schemas.openxmlformats.org/drawingml/2006/main" prst="roundRect">
            <a:avLst>
              <a:gd name="adj" fmla="val 43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查询 Q93</a:t>
            </a:r>
          </a:p>
          <a:p xmlns:a="http://schemas.openxmlformats.org/drawingml/2006/main">
            <a:pPr algn="ctr">
              <a:def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SQL / 证据引用</a:t>
            </a:r>
          </a:p>
        </p:txBody>
      </p:sp>
      <p:sp>
        <p:nvSpPr>
          <p:cNvPr id="24" name="评测 E12&#10;冻结资产快照">
            <a:extLst xmlns:a="http://schemas.openxmlformats.org/drawingml/2006/main">
              <a:ext uri="{FF2B5EF4-FFF2-40B4-BE49-F238E27FC236}">
                <a16:creationId xmlns:a16="http://schemas.microsoft.com/office/drawing/2014/main" id="{D4BF4B80-F70D-4574-BFFB-EE7296DC8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73150" y="7239000"/>
            <a:ext cx="2847975" cy="1104900"/>
          </a:xfrm>
          <a:prstGeom xmlns:a="http://schemas.openxmlformats.org/drawingml/2006/main" prst="roundRect">
            <a:avLst>
              <a:gd name="adj" fmla="val 43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评测 E12</a:t>
            </a:r>
          </a:p>
          <a:p xmlns:a="http://schemas.openxmlformats.org/drawingml/2006/main">
            <a:pPr algn="ctr">
              <a:def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冻结资产快照</a:t>
            </a:r>
          </a:p>
        </p:txBody>
      </p:sp>
      <p:cxnSp>
        <p:nvCxnSpPr>
          <p:cNvPr id="53" name=""/>
          <p:cNvCxnSpPr>
            <a:stCxn xmlns:a="http://schemas.openxmlformats.org/drawingml/2006/main" id="21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7134225" y="7791450"/>
            <a:ext cx="3143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68AE"/>
            </a:solidFill>
            <a:prstDash val="solid"/>
            <a:tailEnd type="triangle" w="sm" len="sm"/>
          </a:ln>
        </p:spPr>
      </p:cxnSp>
      <p:cxnSp>
        <p:nvCxnSpPr>
          <p:cNvPr id="54" name=""/>
          <p:cNvCxnSpPr>
            <a:stCxn xmlns:a="http://schemas.openxmlformats.org/drawingml/2006/main" id="22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10296525" y="7791450"/>
            <a:ext cx="3143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68AE"/>
            </a:solidFill>
            <a:prstDash val="solid"/>
            <a:tailEnd type="triangle" w="sm" len="sm"/>
          </a:ln>
        </p:spPr>
      </p:cxnSp>
      <p:cxnSp>
        <p:nvCxnSpPr>
          <p:cNvPr id="55" name=""/>
          <p:cNvCxnSpPr>
            <a:stCxn xmlns:a="http://schemas.openxmlformats.org/drawingml/2006/main" id="23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13458825" y="7791450"/>
            <a:ext cx="3143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68AE"/>
            </a:solidFill>
            <a:prstDash val="solid"/>
            <a:tailEnd type="triangle" w="sm" len="sm"/>
          </a:ln>
        </p:spPr>
      </p:cxnSp>
      <p:sp>
        <p:nvSpPr>
          <p:cNvPr id="28" name="实施建议：一期在 OceanBase 保存节点 / 关系 / 事件与版本清单；用">
            <a:extLst xmlns:a="http://schemas.openxmlformats.org/drawingml/2006/main">
              <a:ext uri="{FF2B5EF4-FFF2-40B4-BE49-F238E27FC236}">
                <a16:creationId xmlns:a16="http://schemas.microsoft.com/office/drawing/2014/main" id="{3721C54C-1245-49B5-B5C5-797006842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8763000"/>
            <a:ext cx="12334875" cy="1019175"/>
          </a:xfrm>
          <a:prstGeom xmlns:a="http://schemas.openxmlformats.org/drawingml/2006/main" prst="roundRect">
            <a:avLst>
              <a:gd name="adj" fmla="val 4673"/>
            </a:avLst>
          </a:prstGeom>
          <a:solidFill xmlns:a="http://schemas.openxmlformats.org/drawingml/2006/main">
            <a:srgbClr val="FFF3D9"/>
          </a:solidFill>
          <a:ln xmlns:a="http://schemas.openxmlformats.org/drawingml/2006/main" w="13335">
            <a:solidFill>
              <a:srgbClr val="C79332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实施建议：一期在 OceanBase 保存节点 / 关系 / 事件与版本清单；用现有服务埋点。复杂跨系统再接 OpenLineage / 专用目录。</a:t>
            </a:r>
          </a:p>
          <a:p xmlns:a="http://schemas.openxmlformats.org/drawingml/2006/main">
            <a:pPr algn="ctr">
              <a:def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表级自动采集 + 实际 SQL 解析 + 应用映射形成字段候选；动态 SQL、UDF 与人工总表关系保留“未确认”状态。</a:t>
            </a:r>
          </a:p>
        </p:txBody>
      </p:sp>
    </p:spTree>
    <p:extLst>
      <p:ext uri="{BB962C8B-B14F-4D97-AF65-F5344CB8AC3E}">
        <p14:creationId xmlns:p14="http://schemas.microsoft.com/office/powerpoint/2010/main" val="89122927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8D52B02-B1C1-4799-BBC0-CD7D8EBEE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"/>
            <a:ext cx="1609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数据质量实现架构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BB6132-6F37-4558-97D6-F1273C632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14400"/>
            <a:ext cx="1609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入库质量、加工质量、科学复核和 Agent 答案质量分别管理；质量结果也登记为可追溯资产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67AFA9-5BB2-4D78-8C6F-48A30D50C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096500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宁德时代香港研究院 · RSI 数据平台架构建议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D38FCE-9F34-46C6-91F7-C2A6F4417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1009650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1F655F-385F-4797-BB50-25D61447B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19250"/>
            <a:ext cx="16097250" cy="9525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E918BA-12F8-4E72-81CF-3E6ADBCD6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1562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规则库与标准样本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A15D03-C08B-4384-9B13-5E0BCD13E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24075"/>
            <a:ext cx="1562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模板 / 表族规则 · 必填 / 类型 / 范围 · 单位 / 标识 / 关联 · 文档标注样本 · 专家口径 · Benchmark 评分规则</a:t>
            </a:r>
          </a:p>
        </p:txBody>
      </p:sp>
      <p:sp>
        <p:nvSpPr>
          <p:cNvPr id="8" name="G1 接入门禁">
            <a:extLst xmlns:a="http://schemas.openxmlformats.org/drawingml/2006/main">
              <a:ext uri="{FF2B5EF4-FFF2-40B4-BE49-F238E27FC236}">
                <a16:creationId xmlns:a16="http://schemas.microsoft.com/office/drawing/2014/main" id="{A144DB3B-2A1B-4BCD-829D-972D8B390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000375"/>
            <a:ext cx="3667125" cy="55245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128D89"/>
          </a:solidFill>
          <a:ln xmlns:a="http://schemas.openxmlformats.org/drawingml/2006/main" w="13335">
            <a:solidFill>
              <a:srgbClr val="128D89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G1 接入门禁</a:t>
            </a:r>
          </a:p>
        </p:txBody>
      </p:sp>
      <p:sp>
        <p:nvSpPr>
          <p:cNvPr id="9" name="必填 / 类型 / 重复&#10;单位 / 项目权限&#10;幂等 / 并发版本">
            <a:extLst xmlns:a="http://schemas.openxmlformats.org/drawingml/2006/main">
              <a:ext uri="{FF2B5EF4-FFF2-40B4-BE49-F238E27FC236}">
                <a16:creationId xmlns:a16="http://schemas.microsoft.com/office/drawing/2014/main" id="{B7A74A4C-583C-4006-AED3-1B0EB7EB7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638550"/>
            <a:ext cx="3667125" cy="1381125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EAF6F1"/>
          </a:solidFill>
          <a:ln xmlns:a="http://schemas.openxmlformats.org/drawingml/2006/main" w="13335">
            <a:solidFill>
              <a:srgbClr val="128D89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必填 / 类型 / 重复</a:t>
            </a:r>
          </a:p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单位 / 项目权限</a:t>
            </a:r>
          </a:p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幂等 / 并发版本</a:t>
            </a:r>
          </a:p>
        </p:txBody>
      </p:sp>
      <p:sp>
        <p:nvSpPr>
          <p:cNvPr id="10" name="G2 加工验证">
            <a:extLst xmlns:a="http://schemas.openxmlformats.org/drawingml/2006/main">
              <a:ext uri="{FF2B5EF4-FFF2-40B4-BE49-F238E27FC236}">
                <a16:creationId xmlns:a16="http://schemas.microsoft.com/office/drawing/2014/main" id="{CEF24F7C-8C42-4A4C-BF89-F31F9CB41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000375"/>
            <a:ext cx="3667125" cy="55245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128D89"/>
          </a:solidFill>
          <a:ln xmlns:a="http://schemas.openxmlformats.org/drawingml/2006/main" w="13335">
            <a:solidFill>
              <a:srgbClr val="128D89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G2 加工验证</a:t>
            </a:r>
          </a:p>
        </p:txBody>
      </p:sp>
      <p:sp>
        <p:nvSpPr>
          <p:cNvPr id="11" name="页码 / 表格完整性&#10;原值与规范值&#10;实体与关联置信度">
            <a:extLst xmlns:a="http://schemas.openxmlformats.org/drawingml/2006/main">
              <a:ext uri="{FF2B5EF4-FFF2-40B4-BE49-F238E27FC236}">
                <a16:creationId xmlns:a16="http://schemas.microsoft.com/office/drawing/2014/main" id="{CE9C686A-F01B-478E-AADF-91EBC1F27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638550"/>
            <a:ext cx="3667125" cy="1381125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EAF6F1"/>
          </a:solidFill>
          <a:ln xmlns:a="http://schemas.openxmlformats.org/drawingml/2006/main" w="13335">
            <a:solidFill>
              <a:srgbClr val="128D89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页码 / 表格完整性</a:t>
            </a:r>
          </a:p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原值与规范值</a:t>
            </a:r>
          </a:p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实体与关联置信度</a:t>
            </a:r>
          </a:p>
        </p:txBody>
      </p:sp>
      <p:sp>
        <p:nvSpPr>
          <p:cNvPr id="12" name="G3 科学复核">
            <a:extLst xmlns:a="http://schemas.openxmlformats.org/drawingml/2006/main">
              <a:ext uri="{FF2B5EF4-FFF2-40B4-BE49-F238E27FC236}">
                <a16:creationId xmlns:a16="http://schemas.microsoft.com/office/drawing/2014/main" id="{BB6CEF95-DFC5-48D6-A898-8CB13502D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000375"/>
            <a:ext cx="3667125" cy="55245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128D89"/>
          </a:solidFill>
          <a:ln xmlns:a="http://schemas.openxmlformats.org/drawingml/2006/main" w="13335">
            <a:solidFill>
              <a:srgbClr val="128D89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G3 科学复核</a:t>
            </a:r>
          </a:p>
        </p:txBody>
      </p:sp>
      <p:sp>
        <p:nvSpPr>
          <p:cNvPr id="13" name="异常值与实验条件&#10;明细 / 总表口径&#10;专家经验冲突">
            <a:extLst xmlns:a="http://schemas.openxmlformats.org/drawingml/2006/main">
              <a:ext uri="{FF2B5EF4-FFF2-40B4-BE49-F238E27FC236}">
                <a16:creationId xmlns:a16="http://schemas.microsoft.com/office/drawing/2014/main" id="{98900618-9BDB-4D26-81EC-ED2FAEAA0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638550"/>
            <a:ext cx="3667125" cy="1381125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EAF6F1"/>
          </a:solidFill>
          <a:ln xmlns:a="http://schemas.openxmlformats.org/drawingml/2006/main" w="13335">
            <a:solidFill>
              <a:srgbClr val="128D89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异常值与实验条件</a:t>
            </a:r>
          </a:p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明细 / 总表口径</a:t>
            </a:r>
          </a:p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专家经验冲突</a:t>
            </a:r>
          </a:p>
        </p:txBody>
      </p:sp>
      <p:sp>
        <p:nvSpPr>
          <p:cNvPr id="14" name="G4 查询评测">
            <a:extLst xmlns:a="http://schemas.openxmlformats.org/drawingml/2006/main">
              <a:ext uri="{FF2B5EF4-FFF2-40B4-BE49-F238E27FC236}">
                <a16:creationId xmlns:a16="http://schemas.microsoft.com/office/drawing/2014/main" id="{FA328BDF-35B0-4C59-A5AA-16E6AA1AC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3000375"/>
            <a:ext cx="3667125" cy="55245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7253AF"/>
          </a:solidFill>
          <a:ln xmlns:a="http://schemas.openxmlformats.org/drawingml/2006/main" w="13335">
            <a:solidFill>
              <a:srgbClr val="7253AF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G4 查询评测</a:t>
            </a:r>
          </a:p>
        </p:txBody>
      </p:sp>
      <p:sp>
        <p:nvSpPr>
          <p:cNvPr id="15" name="SQL 结果与粒度&#10;引用位置与证据支持&#10;越权拒绝 / 空结果">
            <a:extLst xmlns:a="http://schemas.openxmlformats.org/drawingml/2006/main">
              <a:ext uri="{FF2B5EF4-FFF2-40B4-BE49-F238E27FC236}">
                <a16:creationId xmlns:a16="http://schemas.microsoft.com/office/drawing/2014/main" id="{38BBD744-5C63-422F-AC04-D275883EC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3638550"/>
            <a:ext cx="3667125" cy="1381125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4F0FB"/>
          </a:solidFill>
          <a:ln xmlns:a="http://schemas.openxmlformats.org/drawingml/2006/main" w="13335">
            <a:solidFill>
              <a:srgbClr val="7253AF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SQL 结果与粒度</a:t>
            </a:r>
          </a:p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引用位置与证据支持</a:t>
            </a:r>
          </a:p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越权拒绝 / 空结果</a:t>
            </a:r>
          </a:p>
        </p:txBody>
      </p:sp>
      <p:cxnSp>
        <p:nvCxnSpPr>
          <p:cNvPr id="49" name=""/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4191000" y="4329113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A7C"/>
            </a:solidFill>
            <a:prstDash val="solid"/>
            <a:tailEnd type="triangle" w="sm" len="sm"/>
          </a:ln>
        </p:spPr>
      </p:cxnSp>
      <p:cxnSp>
        <p:nvCxnSpPr>
          <p:cNvPr id="50" name=""/>
          <p:cNvCxnSpPr>
            <a:stCxn xmlns:a="http://schemas.openxmlformats.org/drawingml/2006/main" id="11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8334375" y="4329113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A7C"/>
            </a:solidFill>
            <a:prstDash val="solid"/>
            <a:tailEnd type="triangle" w="sm" len="sm"/>
          </a:ln>
        </p:spPr>
      </p:cxnSp>
      <p:cxnSp>
        <p:nvCxnSpPr>
          <p:cNvPr id="51" name=""/>
          <p:cNvCxnSpPr>
            <a:stCxn xmlns:a="http://schemas.openxmlformats.org/drawingml/2006/main" id="13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12477750" y="4329113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A7C"/>
            </a:solidFill>
            <a:prstDash val="solid"/>
            <a:tailEnd type="triangle" w="sm" len="sm"/>
          </a:ln>
        </p:spPr>
      </p:cxnSp>
      <p:sp>
        <p:nvSpPr>
          <p:cNvPr id="19" name="统一质量结果&#10;rule_id / rule_version · asset_ve">
            <a:extLst xmlns:a="http://schemas.openxmlformats.org/drawingml/2006/main">
              <a:ext uri="{FF2B5EF4-FFF2-40B4-BE49-F238E27FC236}">
                <a16:creationId xmlns:a16="http://schemas.microsoft.com/office/drawing/2014/main" id="{3BD669B0-A992-402A-8AA1-F7A590FD6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553075"/>
            <a:ext cx="16097250" cy="1028700"/>
          </a:xfrm>
          <a:prstGeom xmlns:a="http://schemas.openxmlformats.org/drawingml/2006/main" prst="roundRect">
            <a:avLst>
              <a:gd name="adj" fmla="val 4630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统一质量结果</a:t>
            </a:r>
          </a:p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rule_id / rule_version · asset_version / run_id · PASS / FAIL / WARN · severity · 原因 / 证据位置</a:t>
            </a:r>
          </a:p>
        </p:txBody>
      </p:sp>
      <p:cxnSp>
        <p:nvCxnSpPr>
          <p:cNvPr id="53" name=""/>
          <p:cNvCxnSpPr>
            <a:stCxn xmlns:a="http://schemas.openxmlformats.org/drawingml/2006/main" id="9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>
            <a:off x="2357438" y="5019675"/>
            <a:ext cx="6215063" cy="5334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A7C"/>
            </a:solidFill>
            <a:prstDash val="dash"/>
            <a:tailEnd type="triangle" w="sm" len="sm"/>
          </a:ln>
        </p:spPr>
      </p:cxnSp>
      <p:cxnSp>
        <p:nvCxnSpPr>
          <p:cNvPr id="54" name=""/>
          <p:cNvCxnSpPr>
            <a:stCxn xmlns:a="http://schemas.openxmlformats.org/drawingml/2006/main" id="11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>
            <a:off x="6500813" y="5019675"/>
            <a:ext cx="2071688" cy="5334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A7C"/>
            </a:solidFill>
            <a:prstDash val="dash"/>
            <a:tailEnd type="triangle" w="sm" len="sm"/>
          </a:ln>
        </p:spPr>
      </p:cxnSp>
      <p:cxnSp>
        <p:nvCxnSpPr>
          <p:cNvPr id="55" name=""/>
          <p:cNvCxnSpPr>
            <a:stCxn xmlns:a="http://schemas.openxmlformats.org/drawingml/2006/main" id="13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 flipH="1">
            <a:off x="8572500" y="5019675"/>
            <a:ext cx="2071688" cy="5334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A7C"/>
            </a:solidFill>
            <a:prstDash val="dash"/>
            <a:tailEnd type="triangle" w="sm" len="sm"/>
          </a:ln>
        </p:spPr>
      </p:cxnSp>
      <p:cxnSp>
        <p:nvCxnSpPr>
          <p:cNvPr id="56" name=""/>
          <p:cNvCxnSpPr>
            <a:stCxn xmlns:a="http://schemas.openxmlformats.org/drawingml/2006/main" id="15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 flipH="1">
            <a:off x="8572500" y="5019675"/>
            <a:ext cx="6215063" cy="5334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A7C"/>
            </a:solidFill>
            <a:prstDash val="dash"/>
            <a:tailEnd type="triangle" w="sm" len="sm"/>
          </a:ln>
        </p:spPr>
      </p:cxnSp>
      <p:sp>
        <p:nvSpPr>
          <p:cNvPr id="24" name="通过&#10;发布可用资产&#10;查询呈现质量状态">
            <a:extLst xmlns:a="http://schemas.openxmlformats.org/drawingml/2006/main">
              <a:ext uri="{FF2B5EF4-FFF2-40B4-BE49-F238E27FC236}">
                <a16:creationId xmlns:a16="http://schemas.microsoft.com/office/drawing/2014/main" id="{B1A33B63-AE9B-481C-9079-10F2467DF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191375"/>
            <a:ext cx="3667125" cy="1285875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通过</a:t>
            </a:r>
          </a:p>
          <a:p xmlns:a="http://schemas.openxmlformats.org/drawingml/2006/main">
            <a:pPr algn="ctr">
              <a:def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发布可用资产</a:t>
            </a:r>
          </a:p>
          <a:p xmlns:a="http://schemas.openxmlformats.org/drawingml/2006/main">
            <a:pPr algn="ctr">
              <a:def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查询呈现质量状态</a:t>
            </a:r>
          </a:p>
        </p:txBody>
      </p:sp>
      <p:sp>
        <p:nvSpPr>
          <p:cNvPr id="25" name="阻断&#10;隔离异常 / 禁止发布&#10;字段或行错误报告">
            <a:extLst xmlns:a="http://schemas.openxmlformats.org/drawingml/2006/main">
              <a:ext uri="{FF2B5EF4-FFF2-40B4-BE49-F238E27FC236}">
                <a16:creationId xmlns:a16="http://schemas.microsoft.com/office/drawing/2014/main" id="{280D7ED6-7F15-4C9E-9653-A0D64FE45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7191375"/>
            <a:ext cx="3667125" cy="1285875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3D9"/>
          </a:solidFill>
          <a:ln xmlns:a="http://schemas.openxmlformats.org/drawingml/2006/main" w="13335">
            <a:solidFill>
              <a:srgbClr val="C79332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阻断</a:t>
            </a:r>
          </a:p>
          <a:p xmlns:a="http://schemas.openxmlformats.org/drawingml/2006/main">
            <a:pPr algn="ctr">
              <a:def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隔离异常 / 禁止发布</a:t>
            </a:r>
          </a:p>
          <a:p xmlns:a="http://schemas.openxmlformats.org/drawingml/2006/main">
            <a:pPr algn="ctr">
              <a:def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字段或行错误报告</a:t>
            </a:r>
          </a:p>
        </p:txBody>
      </p:sp>
      <p:sp>
        <p:nvSpPr>
          <p:cNvPr id="26" name="警告 / 待复核&#10;保留科学异常&#10;负责人确认适用条件">
            <a:extLst xmlns:a="http://schemas.openxmlformats.org/drawingml/2006/main">
              <a:ext uri="{FF2B5EF4-FFF2-40B4-BE49-F238E27FC236}">
                <a16:creationId xmlns:a16="http://schemas.microsoft.com/office/drawing/2014/main" id="{3F3A58C9-F508-45C3-A9E5-EFD7A9966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7191375"/>
            <a:ext cx="3667125" cy="1285875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警告 / 待复核</a:t>
            </a:r>
          </a:p>
          <a:p xmlns:a="http://schemas.openxmlformats.org/drawingml/2006/main">
            <a:pPr algn="ctr">
              <a:def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保留科学异常</a:t>
            </a:r>
          </a:p>
          <a:p xmlns:a="http://schemas.openxmlformats.org/drawingml/2006/main">
            <a:pPr algn="ctr">
              <a:def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负责人确认适用条件</a:t>
            </a:r>
          </a:p>
        </p:txBody>
      </p:sp>
      <p:sp>
        <p:nvSpPr>
          <p:cNvPr id="27" name="修复闭环&#10;纠正 → 新版本 → 重验&#10;更新索引 / 缓存 / 总表状态">
            <a:extLst xmlns:a="http://schemas.openxmlformats.org/drawingml/2006/main">
              <a:ext uri="{FF2B5EF4-FFF2-40B4-BE49-F238E27FC236}">
                <a16:creationId xmlns:a16="http://schemas.microsoft.com/office/drawing/2014/main" id="{C1D97372-8212-4784-8032-A63FF38E0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7191375"/>
            <a:ext cx="3667125" cy="1285875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修复闭环</a:t>
            </a:r>
          </a:p>
          <a:p xmlns:a="http://schemas.openxmlformats.org/drawingml/2006/main">
            <a:pPr algn="ctr">
              <a:def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纠正 → 新版本 → 重验</a:t>
            </a:r>
          </a:p>
          <a:p xmlns:a="http://schemas.openxmlformats.org/drawingml/2006/main">
            <a:pPr algn="ctr">
              <a:def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更新索引 / 缓存 / 总表状态</a:t>
            </a:r>
          </a:p>
        </p:txBody>
      </p:sp>
      <p:cxnSp>
        <p:nvCxnSpPr>
          <p:cNvPr id="61" name=""/>
          <p:cNvCxnSpPr>
            <a:stCxn xmlns:a="http://schemas.openxmlformats.org/drawingml/2006/main" id="19" idx="2"/>
            <a:endCxn xmlns:a="http://schemas.openxmlformats.org/drawingml/2006/main" id="24" idx="0"/>
          </p:cNvCxnSpPr>
          <p:nvPr/>
        </p:nvCxnSpPr>
        <p:spPr>
          <a:xfrm xmlns:a="http://schemas.openxmlformats.org/drawingml/2006/main" flipH="1">
            <a:off x="2357438" y="6581775"/>
            <a:ext cx="6215063" cy="6096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A7C"/>
            </a:solidFill>
            <a:prstDash val="solid"/>
            <a:tailEnd type="triangle" w="sm" len="sm"/>
          </a:ln>
        </p:spPr>
      </p:cxnSp>
      <p:cxnSp>
        <p:nvCxnSpPr>
          <p:cNvPr id="62" name=""/>
          <p:cNvCxnSpPr>
            <a:stCxn xmlns:a="http://schemas.openxmlformats.org/drawingml/2006/main" id="19" idx="2"/>
            <a:endCxn xmlns:a="http://schemas.openxmlformats.org/drawingml/2006/main" id="25" idx="0"/>
          </p:cNvCxnSpPr>
          <p:nvPr/>
        </p:nvCxnSpPr>
        <p:spPr>
          <a:xfrm xmlns:a="http://schemas.openxmlformats.org/drawingml/2006/main" flipH="1">
            <a:off x="6500813" y="6581775"/>
            <a:ext cx="2071688" cy="6096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A7C"/>
            </a:solidFill>
            <a:prstDash val="solid"/>
            <a:tailEnd type="triangle" w="sm" len="sm"/>
          </a:ln>
        </p:spPr>
      </p:cxnSp>
      <p:cxnSp>
        <p:nvCxnSpPr>
          <p:cNvPr id="63" name=""/>
          <p:cNvCxnSpPr>
            <a:stCxn xmlns:a="http://schemas.openxmlformats.org/drawingml/2006/main" id="19" idx="2"/>
            <a:endCxn xmlns:a="http://schemas.openxmlformats.org/drawingml/2006/main" id="26" idx="0"/>
          </p:cNvCxnSpPr>
          <p:nvPr/>
        </p:nvCxnSpPr>
        <p:spPr>
          <a:xfrm xmlns:a="http://schemas.openxmlformats.org/drawingml/2006/main">
            <a:off x="8572500" y="6581775"/>
            <a:ext cx="2071688" cy="6096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A7C"/>
            </a:solidFill>
            <a:prstDash val="solid"/>
            <a:tailEnd type="triangle" w="sm" len="sm"/>
          </a:ln>
        </p:spPr>
      </p:cxnSp>
      <p:cxnSp>
        <p:nvCxnSpPr>
          <p:cNvPr id="64" name=""/>
          <p:cNvCxnSpPr>
            <a:stCxn xmlns:a="http://schemas.openxmlformats.org/drawingml/2006/main" id="19" idx="2"/>
            <a:endCxn xmlns:a="http://schemas.openxmlformats.org/drawingml/2006/main" id="27" idx="0"/>
          </p:cNvCxnSpPr>
          <p:nvPr/>
        </p:nvCxnSpPr>
        <p:spPr>
          <a:xfrm xmlns:a="http://schemas.openxmlformats.org/drawingml/2006/main">
            <a:off x="8572500" y="6581775"/>
            <a:ext cx="6215063" cy="6096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A7C"/>
            </a:solidFill>
            <a:prstDash val="solid"/>
            <a:tailEnd type="triangle" w="sm" len="sm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E356C51-DB5F-4FC4-853C-4B38AB760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877300"/>
            <a:ext cx="1609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执行方式：普通字段规则用服务 / SQL 校验；规则规模较大时评估 GX。科学异常由专家处理，开放答案以专家评分为主。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891BB30-29E7-4CB7-910C-D91CADA98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458325"/>
            <a:ext cx="1609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监控：失败率、解析抽取准确性、关联待确认率、索引延迟、分题型结果正确率；指标按真实样本与内部 SLA 确定。</a:t>
            </a:r>
          </a:p>
        </p:txBody>
      </p:sp>
    </p:spTree>
    <p:extLst>
      <p:ext uri="{BB962C8B-B14F-4D97-AF65-F5344CB8AC3E}">
        <p14:creationId xmlns:p14="http://schemas.microsoft.com/office/powerpoint/2010/main" val="33737072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662B0F9-F801-4DD0-9A6D-5FECB1283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"/>
            <a:ext cx="1609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私有化部署与组件边界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620328-07E2-44B5-8C5A-36CA14C2E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14400"/>
            <a:ext cx="1609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复用公司已具备的数据库、身份和模型服务；查询凭据、写入凭据与平台管理权限分别配置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5489A9-0FF9-45BD-9D75-5551F44D9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096500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宁德时代香港研究院 · RSI 数据平台架构建议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CE7C01-AA39-49DC-AE1B-B159B89C3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1009650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A95D74-BD40-4B7E-83B3-90532CC2B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14500"/>
            <a:ext cx="16097250" cy="104775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B2029C-F5AE-4367-B5EC-9059E8939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1562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用户与身份区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22B409-2594-4BFF-BE87-ADFC25B9B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1562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内部浏览器 / 现有 Agent 客户端    →    公司 AD / SSO    →    平台网关：身份、项目、接口权限与配额</a:t>
            </a:r>
          </a:p>
        </p:txBody>
      </p:sp>
      <p:sp>
        <p:nvSpPr>
          <p:cNvPr id="8" name="应用服务区">
            <a:extLst xmlns:a="http://schemas.openxmlformats.org/drawingml/2006/main">
              <a:ext uri="{FF2B5EF4-FFF2-40B4-BE49-F238E27FC236}">
                <a16:creationId xmlns:a16="http://schemas.microsoft.com/office/drawing/2014/main" id="{4BA2F224-DF9A-4BA9-B044-E99FFEB95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190875"/>
            <a:ext cx="7810500" cy="3048000"/>
          </a:xfrm>
          <a:prstGeom xmlns:a="http://schemas.openxmlformats.org/drawingml/2006/main" prst="roundRect">
            <a:avLst>
              <a:gd name="adj" fmla="val 15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应用服务区</a:t>
            </a:r>
          </a:p>
        </p:txBody>
      </p:sp>
      <p:sp>
        <p:nvSpPr>
          <p:cNvPr id="9" name="平台业务服务">
            <a:extLst xmlns:a="http://schemas.openxmlformats.org/drawingml/2006/main">
              <a:ext uri="{FF2B5EF4-FFF2-40B4-BE49-F238E27FC236}">
                <a16:creationId xmlns:a16="http://schemas.microsoft.com/office/drawing/2014/main" id="{D634A8FC-2E11-4CCB-B554-291DA2943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190875"/>
            <a:ext cx="7810500" cy="523875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268AE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平台业务服务</a:t>
            </a:r>
          </a:p>
        </p:txBody>
      </p:sp>
      <p:sp>
        <p:nvSpPr>
          <p:cNvPr id="10" name="填报 / 导入服务｜受限事务写入">
            <a:extLst xmlns:a="http://schemas.openxmlformats.org/drawingml/2006/main">
              <a:ext uri="{FF2B5EF4-FFF2-40B4-BE49-F238E27FC236}">
                <a16:creationId xmlns:a16="http://schemas.microsoft.com/office/drawing/2014/main" id="{2FFAF74C-8FEE-4199-AEF2-F67D79B86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43350"/>
            <a:ext cx="7334250" cy="4191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填报 / 导入服务｜受限事务写入</a:t>
            </a:r>
          </a:p>
        </p:txBody>
      </p:sp>
      <p:sp>
        <p:nvSpPr>
          <p:cNvPr id="11" name="目录 / 语义服务｜批准视图与关联">
            <a:extLst xmlns:a="http://schemas.openxmlformats.org/drawingml/2006/main">
              <a:ext uri="{FF2B5EF4-FFF2-40B4-BE49-F238E27FC236}">
                <a16:creationId xmlns:a16="http://schemas.microsoft.com/office/drawing/2014/main" id="{098DDDB0-8080-42BC-A031-DBA1C0E94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67225"/>
            <a:ext cx="7334250" cy="4191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目录 / 语义服务｜批准视图与关联</a:t>
            </a:r>
          </a:p>
        </p:txBody>
      </p:sp>
      <p:sp>
        <p:nvSpPr>
          <p:cNvPr id="12" name="查询 / 检索服务｜只读执行、结果授权">
            <a:extLst xmlns:a="http://schemas.openxmlformats.org/drawingml/2006/main">
              <a:ext uri="{FF2B5EF4-FFF2-40B4-BE49-F238E27FC236}">
                <a16:creationId xmlns:a16="http://schemas.microsoft.com/office/drawing/2014/main" id="{E4344460-AC03-4ED0-9FD8-A4E7C867A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91100"/>
            <a:ext cx="7334250" cy="4191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查询 / 检索服务｜只读执行、结果授权</a:t>
            </a:r>
          </a:p>
        </p:txBody>
      </p:sp>
      <p:sp>
        <p:nvSpPr>
          <p:cNvPr id="13" name="知识 / 评测服务｜专家审核与版本对比">
            <a:extLst xmlns:a="http://schemas.openxmlformats.org/drawingml/2006/main">
              <a:ext uri="{FF2B5EF4-FFF2-40B4-BE49-F238E27FC236}">
                <a16:creationId xmlns:a16="http://schemas.microsoft.com/office/drawing/2014/main" id="{517F4691-074B-4AA6-B042-E9482DD45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14975"/>
            <a:ext cx="7334250" cy="4191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知识 / 评测服务｜专家审核与版本对比</a:t>
            </a:r>
          </a:p>
        </p:txBody>
      </p:sp>
      <p:sp>
        <p:nvSpPr>
          <p:cNvPr id="14" name="后台处理与治理区">
            <a:extLst xmlns:a="http://schemas.openxmlformats.org/drawingml/2006/main">
              <a:ext uri="{FF2B5EF4-FFF2-40B4-BE49-F238E27FC236}">
                <a16:creationId xmlns:a16="http://schemas.microsoft.com/office/drawing/2014/main" id="{7613A06C-1C7B-404D-A18F-DEA6DF7B7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190875"/>
            <a:ext cx="7810500" cy="3048000"/>
          </a:xfrm>
          <a:prstGeom xmlns:a="http://schemas.openxmlformats.org/drawingml/2006/main" prst="roundRect">
            <a:avLst>
              <a:gd name="adj" fmla="val 15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28D89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后台处理与治理区</a:t>
            </a:r>
          </a:p>
        </p:txBody>
      </p:sp>
      <p:sp>
        <p:nvSpPr>
          <p:cNvPr id="15" name="异步任务与控制服务">
            <a:extLst xmlns:a="http://schemas.openxmlformats.org/drawingml/2006/main">
              <a:ext uri="{FF2B5EF4-FFF2-40B4-BE49-F238E27FC236}">
                <a16:creationId xmlns:a16="http://schemas.microsoft.com/office/drawing/2014/main" id="{3CCCB4EB-2574-4822-9CEF-768FED00D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190875"/>
            <a:ext cx="7810500" cy="523875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28D89"/>
          </a:solidFill>
          <a:ln xmlns:a="http://schemas.openxmlformats.org/drawingml/2006/main" w="13335">
            <a:solidFill>
              <a:srgbClr val="128D89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异步任务与控制服务</a:t>
            </a:r>
          </a:p>
        </p:txBody>
      </p:sp>
      <p:sp>
        <p:nvSpPr>
          <p:cNvPr id="16" name="接入 / 解析 / OCR / 切分 / 索引任务">
            <a:extLst xmlns:a="http://schemas.openxmlformats.org/drawingml/2006/main">
              <a:ext uri="{FF2B5EF4-FFF2-40B4-BE49-F238E27FC236}">
                <a16:creationId xmlns:a16="http://schemas.microsoft.com/office/drawing/2014/main" id="{225BC1F5-30AD-4801-AE46-4D372509E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943350"/>
            <a:ext cx="7334250" cy="4191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EAF6F1"/>
          </a:solidFill>
          <a:ln xmlns:a="http://schemas.openxmlformats.org/drawingml/2006/main" w="13335">
            <a:solidFill>
              <a:srgbClr val="128D89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接入 / 解析 / OCR / 切分 / 索引任务</a:t>
            </a:r>
          </a:p>
        </p:txBody>
      </p:sp>
      <p:sp>
        <p:nvSpPr>
          <p:cNvPr id="17" name="质量检查 / 人工问题队列 / 重验">
            <a:extLst xmlns:a="http://schemas.openxmlformats.org/drawingml/2006/main">
              <a:ext uri="{FF2B5EF4-FFF2-40B4-BE49-F238E27FC236}">
                <a16:creationId xmlns:a16="http://schemas.microsoft.com/office/drawing/2014/main" id="{2ED013F6-B278-4D18-A1ED-6BB47E188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467225"/>
            <a:ext cx="7334250" cy="4191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EAF6F1"/>
          </a:solidFill>
          <a:ln xmlns:a="http://schemas.openxmlformats.org/drawingml/2006/main" w="13335">
            <a:solidFill>
              <a:srgbClr val="128D89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质量检查 / 人工问题队列 / 重验</a:t>
            </a:r>
          </a:p>
        </p:txBody>
      </p:sp>
      <p:sp>
        <p:nvSpPr>
          <p:cNvPr id="18" name="血缘事件 / 版本清单 / 审计与告警">
            <a:extLst xmlns:a="http://schemas.openxmlformats.org/drawingml/2006/main">
              <a:ext uri="{FF2B5EF4-FFF2-40B4-BE49-F238E27FC236}">
                <a16:creationId xmlns:a16="http://schemas.microsoft.com/office/drawing/2014/main" id="{43B8A498-9357-4BD6-BCB9-86699FE9E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991100"/>
            <a:ext cx="7334250" cy="4191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EAF6F1"/>
          </a:solidFill>
          <a:ln xmlns:a="http://schemas.openxmlformats.org/drawingml/2006/main" w="13335">
            <a:solidFill>
              <a:srgbClr val="128D89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血缘事件 / 版本清单 / 审计与告警</a:t>
            </a:r>
          </a:p>
        </p:txBody>
      </p:sp>
      <p:sp>
        <p:nvSpPr>
          <p:cNvPr id="19" name="备份恢复 / 索引重建 / 发布回滚">
            <a:extLst xmlns:a="http://schemas.openxmlformats.org/drawingml/2006/main">
              <a:ext uri="{FF2B5EF4-FFF2-40B4-BE49-F238E27FC236}">
                <a16:creationId xmlns:a16="http://schemas.microsoft.com/office/drawing/2014/main" id="{E1F4192E-DEEA-42D7-B9B8-616D5F370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514975"/>
            <a:ext cx="7334250" cy="4191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EAF6F1"/>
          </a:solidFill>
          <a:ln xmlns:a="http://schemas.openxmlformats.org/drawingml/2006/main" w="13335">
            <a:solidFill>
              <a:srgbClr val="128D89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备份恢复 / 索引重建 / 发布回滚</a:t>
            </a:r>
          </a:p>
        </p:txBody>
      </p:sp>
      <p:sp>
        <p:nvSpPr>
          <p:cNvPr id="20" name="OceanBase〔复用〕&#10;实验明细 / 人工总表&#10;新增目录、规则、血缘、任务逻">
            <a:extLst xmlns:a="http://schemas.openxmlformats.org/drawingml/2006/main">
              <a:ext uri="{FF2B5EF4-FFF2-40B4-BE49-F238E27FC236}">
                <a16:creationId xmlns:a16="http://schemas.microsoft.com/office/drawing/2014/main" id="{49B00D20-BE7C-4080-94EE-A6909E904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858000"/>
            <a:ext cx="5143500" cy="13335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OceanBase〔复用〕</a:t>
            </a:r>
          </a:p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实验明细 / 人工总表</a:t>
            </a:r>
          </a:p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新增目录、规则、血缘、任务逻辑表</a:t>
            </a:r>
          </a:p>
        </p:txBody>
      </p:sp>
      <p:sp>
        <p:nvSpPr>
          <p:cNvPr id="21" name="内网原件存储〔建设 / 适配〕&#10;PDF / PPT / Excel / 附件&#10;版">
            <a:extLst xmlns:a="http://schemas.openxmlformats.org/drawingml/2006/main">
              <a:ext uri="{FF2B5EF4-FFF2-40B4-BE49-F238E27FC236}">
                <a16:creationId xmlns:a16="http://schemas.microsoft.com/office/drawing/2014/main" id="{342DCCE0-82C0-42F9-BD4A-78F165072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6858000"/>
            <a:ext cx="5143500" cy="13335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EAF6F1"/>
          </a:solidFill>
          <a:ln xmlns:a="http://schemas.openxmlformats.org/drawingml/2006/main" w="13335">
            <a:solidFill>
              <a:srgbClr val="128D89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内网原件存储〔建设 / 适配〕</a:t>
            </a:r>
          </a:p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PDF / PPT / Excel / 附件</a:t>
            </a:r>
          </a:p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版本副本 / hash / 受控下载</a:t>
            </a:r>
          </a:p>
        </p:txBody>
      </p:sp>
      <p:sp>
        <p:nvSpPr>
          <p:cNvPr id="22" name="搜索索引〔PoC 选型〕&#10;全文 / 向量 / Schema 候选&#10;继承源权限，可">
            <a:extLst xmlns:a="http://schemas.openxmlformats.org/drawingml/2006/main">
              <a:ext uri="{FF2B5EF4-FFF2-40B4-BE49-F238E27FC236}">
                <a16:creationId xmlns:a16="http://schemas.microsoft.com/office/drawing/2014/main" id="{59E02B28-D9AF-4D0B-A2CA-A2992AD58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6858000"/>
            <a:ext cx="5143500" cy="13335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4F0FB"/>
          </a:solidFill>
          <a:ln xmlns:a="http://schemas.openxmlformats.org/drawingml/2006/main" w="13335">
            <a:solidFill>
              <a:srgbClr val="7253AF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搜索索引〔PoC 选型〕</a:t>
            </a:r>
          </a:p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全文 / 向量 / Schema 候选</a:t>
            </a:r>
          </a:p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继承源权限，可重建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48DA16-3C5A-473C-A68F-EEAC70818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68680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访问边界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028A9B-9B74-4758-A7EE-24D8294F0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8582025"/>
            <a:ext cx="137636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用户 / Agent 经业务 API 访问数据；后台任务使用独立服务身份。模型不接触数据库生产写凭据。</a:t>
            </a:r>
          </a:p>
          <a:p xmlns:a="http://schemas.openxmlformats.org/drawingml/2006/main">
            <a:pPr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原件、目录、片段、缓存和导出执行同一授权语义；审计日志也受权限与保留策略控制。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87DF5F7-4D0B-47DC-83FD-DD10C425F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620250"/>
            <a:ext cx="16097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模型服务：现有内网 LLM / embedding 通过适配接口调用；代码 / 权重进化启用后另设沙箱与制品区。</a:t>
            </a:r>
          </a:p>
        </p:txBody>
      </p:sp>
    </p:spTree>
    <p:extLst>
      <p:ext uri="{BB962C8B-B14F-4D97-AF65-F5344CB8AC3E}">
        <p14:creationId xmlns:p14="http://schemas.microsoft.com/office/powerpoint/2010/main" val="172234766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0EE462-812D-4153-87BC-C2D91F040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"/>
            <a:ext cx="1609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存储与管理组件的职责分工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B01EDD-18A4-46B0-B6ED-249C6C3AE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14400"/>
            <a:ext cx="1609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业务数据、Agent 数据和进化制品共享目录与血缘；采用不同的物理存储和管理工具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4F58D3-8274-4A74-8E3E-81C912B02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096500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宁德时代香港研究院 · RSI 数据平台架构建议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D4DA38-1FA9-4DB1-92F5-555CF3518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1009650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5" name="业务交易与目录">
            <a:extLst xmlns:a="http://schemas.openxmlformats.org/drawingml/2006/main">
              <a:ext uri="{FF2B5EF4-FFF2-40B4-BE49-F238E27FC236}">
                <a16:creationId xmlns:a16="http://schemas.microsoft.com/office/drawing/2014/main" id="{83841D0D-66B0-4F84-8410-08AB6F972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62125"/>
            <a:ext cx="2762250" cy="1171575"/>
          </a:xfrm>
          <a:prstGeom xmlns:a="http://schemas.openxmlformats.org/drawingml/2006/main" prst="roundRect">
            <a:avLst>
              <a:gd name="adj" fmla="val 4065"/>
            </a:avLst>
          </a:prstGeom>
          <a:solidFill xmlns:a="http://schemas.openxmlformats.org/drawingml/2006/main">
            <a:srgbClr val="1268AE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业务交易与目录</a:t>
            </a:r>
          </a:p>
        </p:txBody>
      </p:sp>
      <p:sp>
        <p:nvSpPr>
          <p:cNvPr id="6" name="实验明细 / 总表 / 权限 / 元数据">
            <a:extLst xmlns:a="http://schemas.openxmlformats.org/drawingml/2006/main">
              <a:ext uri="{FF2B5EF4-FFF2-40B4-BE49-F238E27FC236}">
                <a16:creationId xmlns:a16="http://schemas.microsoft.com/office/drawing/2014/main" id="{E863A21D-3361-4D04-96D5-2F1A54AA5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1762125"/>
            <a:ext cx="6000750" cy="1171575"/>
          </a:xfrm>
          <a:prstGeom xmlns:a="http://schemas.openxmlformats.org/drawingml/2006/main" prst="roundRect">
            <a:avLst>
              <a:gd name="adj" fmla="val 4065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实验明细 / 总表 / 权限 / 元数据</a:t>
            </a:r>
          </a:p>
        </p:txBody>
      </p:sp>
      <p:sp>
        <p:nvSpPr>
          <p:cNvPr id="7" name="OceanBase〔复用〕&#10;MySQL / PostgreSQL〔替代候选〕">
            <a:extLst xmlns:a="http://schemas.openxmlformats.org/drawingml/2006/main">
              <a:ext uri="{FF2B5EF4-FFF2-40B4-BE49-F238E27FC236}">
                <a16:creationId xmlns:a16="http://schemas.microsoft.com/office/drawing/2014/main" id="{688DDF8E-1386-44D9-954F-CA49FC9C6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1762125"/>
            <a:ext cx="6762750" cy="1171575"/>
          </a:xfrm>
          <a:prstGeom xmlns:a="http://schemas.openxmlformats.org/drawingml/2006/main" prst="roundRect">
            <a:avLst>
              <a:gd name="adj" fmla="val 4065"/>
            </a:avLst>
          </a:prstGeom>
          <a:solidFill xmlns:a="http://schemas.openxmlformats.org/drawingml/2006/main">
            <a:srgbClr val="EAF6F1"/>
          </a:solidFill>
          <a:ln xmlns:a="http://schemas.openxmlformats.org/drawingml/2006/main" w="13335">
            <a:solidFill>
              <a:srgbClr val="128D89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OceanBase〔复用〕</a:t>
            </a:r>
          </a:p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MySQL / PostgreSQL〔替代候选〕</a:t>
            </a:r>
          </a:p>
        </p:txBody>
      </p:sp>
      <p:sp>
        <p:nvSpPr>
          <p:cNvPr id="8" name="文件与多模态原件">
            <a:extLst xmlns:a="http://schemas.openxmlformats.org/drawingml/2006/main">
              <a:ext uri="{FF2B5EF4-FFF2-40B4-BE49-F238E27FC236}">
                <a16:creationId xmlns:a16="http://schemas.microsoft.com/office/drawing/2014/main" id="{AA8C38D3-0D12-44CC-946F-4405B27FC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200400"/>
            <a:ext cx="2762250" cy="1171575"/>
          </a:xfrm>
          <a:prstGeom xmlns:a="http://schemas.openxmlformats.org/drawingml/2006/main" prst="roundRect">
            <a:avLst>
              <a:gd name="adj" fmla="val 4065"/>
            </a:avLst>
          </a:prstGeom>
          <a:solidFill xmlns:a="http://schemas.openxmlformats.org/drawingml/2006/main">
            <a:srgbClr val="1268AE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文件与多模态原件</a:t>
            </a:r>
          </a:p>
        </p:txBody>
      </p:sp>
      <p:sp>
        <p:nvSpPr>
          <p:cNvPr id="9" name="PDF / PPT / Word / MD / 图片 / 音频">
            <a:extLst xmlns:a="http://schemas.openxmlformats.org/drawingml/2006/main">
              <a:ext uri="{FF2B5EF4-FFF2-40B4-BE49-F238E27FC236}">
                <a16:creationId xmlns:a16="http://schemas.microsoft.com/office/drawing/2014/main" id="{7C609FB8-2C7A-4871-951F-149A2D299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200400"/>
            <a:ext cx="6000750" cy="1171575"/>
          </a:xfrm>
          <a:prstGeom xmlns:a="http://schemas.openxmlformats.org/drawingml/2006/main" prst="roundRect">
            <a:avLst>
              <a:gd name="adj" fmla="val 4065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PDF / PPT / Word / MD / 图片 / 音频</a:t>
            </a:r>
          </a:p>
        </p:txBody>
      </p:sp>
      <p:sp>
        <p:nvSpPr>
          <p:cNvPr id="10" name="受管 NAS 或私有对象存储&#10;Ceph / SeaweedFS / 商业 S3">
            <a:extLst xmlns:a="http://schemas.openxmlformats.org/drawingml/2006/main">
              <a:ext uri="{FF2B5EF4-FFF2-40B4-BE49-F238E27FC236}">
                <a16:creationId xmlns:a16="http://schemas.microsoft.com/office/drawing/2014/main" id="{6FEFB391-AD99-4A7E-803B-2A98354BB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200400"/>
            <a:ext cx="6762750" cy="1171575"/>
          </a:xfrm>
          <a:prstGeom xmlns:a="http://schemas.openxmlformats.org/drawingml/2006/main" prst="roundRect">
            <a:avLst>
              <a:gd name="adj" fmla="val 4065"/>
            </a:avLst>
          </a:prstGeom>
          <a:solidFill xmlns:a="http://schemas.openxmlformats.org/drawingml/2006/main">
            <a:srgbClr val="EAF6F1"/>
          </a:solidFill>
          <a:ln xmlns:a="http://schemas.openxmlformats.org/drawingml/2006/main" w="13335">
            <a:solidFill>
              <a:srgbClr val="128D89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受管 NAS 或私有对象存储</a:t>
            </a:r>
          </a:p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Ceph / SeaweedFS / 商业 S3</a:t>
            </a:r>
          </a:p>
        </p:txBody>
      </p:sp>
      <p:sp>
        <p:nvSpPr>
          <p:cNvPr id="11" name="检索与分析副本">
            <a:extLst xmlns:a="http://schemas.openxmlformats.org/drawingml/2006/main">
              <a:ext uri="{FF2B5EF4-FFF2-40B4-BE49-F238E27FC236}">
                <a16:creationId xmlns:a16="http://schemas.microsoft.com/office/drawing/2014/main" id="{3F1CF1C9-6BA4-49EC-B82A-EFFF66035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638675"/>
            <a:ext cx="2762250" cy="1171575"/>
          </a:xfrm>
          <a:prstGeom xmlns:a="http://schemas.openxmlformats.org/drawingml/2006/main" prst="roundRect">
            <a:avLst>
              <a:gd name="adj" fmla="val 4065"/>
            </a:avLst>
          </a:prstGeom>
          <a:solidFill xmlns:a="http://schemas.openxmlformats.org/drawingml/2006/main">
            <a:srgbClr val="1268AE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检索与分析副本</a:t>
            </a:r>
          </a:p>
        </p:txBody>
      </p:sp>
      <p:sp>
        <p:nvSpPr>
          <p:cNvPr id="12" name="全文 / 文本、图像向量 / Parquet">
            <a:extLst xmlns:a="http://schemas.openxmlformats.org/drawingml/2006/main">
              <a:ext uri="{FF2B5EF4-FFF2-40B4-BE49-F238E27FC236}">
                <a16:creationId xmlns:a16="http://schemas.microsoft.com/office/drawing/2014/main" id="{E7D25F8F-01FE-4A04-91DB-8FA3B58CA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638675"/>
            <a:ext cx="6000750" cy="1171575"/>
          </a:xfrm>
          <a:prstGeom xmlns:a="http://schemas.openxmlformats.org/drawingml/2006/main" prst="roundRect">
            <a:avLst>
              <a:gd name="adj" fmla="val 4065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全文 / 文本、图像向量 / Parquet</a:t>
            </a:r>
          </a:p>
        </p:txBody>
      </p:sp>
      <p:sp>
        <p:nvSpPr>
          <p:cNvPr id="13" name="OpenSearch / Qdrant / Milvus&#10;DuckDB / Ic">
            <a:extLst xmlns:a="http://schemas.openxmlformats.org/drawingml/2006/main">
              <a:ext uri="{FF2B5EF4-FFF2-40B4-BE49-F238E27FC236}">
                <a16:creationId xmlns:a16="http://schemas.microsoft.com/office/drawing/2014/main" id="{E57781CB-BDCC-4DF2-811B-2A31A4C4C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638675"/>
            <a:ext cx="6762750" cy="1171575"/>
          </a:xfrm>
          <a:prstGeom xmlns:a="http://schemas.openxmlformats.org/drawingml/2006/main" prst="roundRect">
            <a:avLst>
              <a:gd name="adj" fmla="val 4065"/>
            </a:avLst>
          </a:prstGeom>
          <a:solidFill xmlns:a="http://schemas.openxmlformats.org/drawingml/2006/main">
            <a:srgbClr val="EAF6F1"/>
          </a:solidFill>
          <a:ln xmlns:a="http://schemas.openxmlformats.org/drawingml/2006/main" w="13335">
            <a:solidFill>
              <a:srgbClr val="128D89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OpenSearch / Qdrant / Milvus</a:t>
            </a:r>
          </a:p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DuckDB / Iceberg / ClickHouse</a:t>
            </a:r>
          </a:p>
        </p:txBody>
      </p:sp>
      <p:sp>
        <p:nvSpPr>
          <p:cNvPr id="14" name="Agent 运行与知识">
            <a:extLst xmlns:a="http://schemas.openxmlformats.org/drawingml/2006/main">
              <a:ext uri="{FF2B5EF4-FFF2-40B4-BE49-F238E27FC236}">
                <a16:creationId xmlns:a16="http://schemas.microsoft.com/office/drawing/2014/main" id="{8750A7DF-ECBB-48F8-AEA7-712074F4A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076950"/>
            <a:ext cx="2762250" cy="1171575"/>
          </a:xfrm>
          <a:prstGeom xmlns:a="http://schemas.openxmlformats.org/drawingml/2006/main" prst="roundRect">
            <a:avLst>
              <a:gd name="adj" fmla="val 4065"/>
            </a:avLst>
          </a:prstGeom>
          <a:solidFill xmlns:a="http://schemas.openxmlformats.org/drawingml/2006/main">
            <a:srgbClr val="1268AE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Agent 运行与知识</a:t>
            </a:r>
          </a:p>
        </p:txBody>
      </p:sp>
      <p:sp>
        <p:nvSpPr>
          <p:cNvPr id="15" name="Trace / 会话状态 / 记忆 / 评测">
            <a:extLst xmlns:a="http://schemas.openxmlformats.org/drawingml/2006/main">
              <a:ext uri="{FF2B5EF4-FFF2-40B4-BE49-F238E27FC236}">
                <a16:creationId xmlns:a16="http://schemas.microsoft.com/office/drawing/2014/main" id="{0CC2625B-F039-470C-A5B3-39E9F56F2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6076950"/>
            <a:ext cx="6000750" cy="1171575"/>
          </a:xfrm>
          <a:prstGeom xmlns:a="http://schemas.openxmlformats.org/drawingml/2006/main" prst="roundRect">
            <a:avLst>
              <a:gd name="adj" fmla="val 4065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Trace / 会话状态 / 记忆 / 评测</a:t>
            </a:r>
          </a:p>
        </p:txBody>
      </p:sp>
      <p:sp>
        <p:nvSpPr>
          <p:cNvPr id="16" name="Phoenix / Langfuse〔择一 PoC〕&#10;自建记忆 / Mem0 /">
            <a:extLst xmlns:a="http://schemas.openxmlformats.org/drawingml/2006/main">
              <a:ext uri="{FF2B5EF4-FFF2-40B4-BE49-F238E27FC236}">
                <a16:creationId xmlns:a16="http://schemas.microsoft.com/office/drawing/2014/main" id="{677F6532-23DD-4D8A-BEC6-3CB5C4847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6076950"/>
            <a:ext cx="6762750" cy="1171575"/>
          </a:xfrm>
          <a:prstGeom xmlns:a="http://schemas.openxmlformats.org/drawingml/2006/main" prst="roundRect">
            <a:avLst>
              <a:gd name="adj" fmla="val 4065"/>
            </a:avLst>
          </a:prstGeom>
          <a:solidFill xmlns:a="http://schemas.openxmlformats.org/drawingml/2006/main">
            <a:srgbClr val="EAF6F1"/>
          </a:solidFill>
          <a:ln xmlns:a="http://schemas.openxmlformats.org/drawingml/2006/main" w="13335">
            <a:solidFill>
              <a:srgbClr val="128D89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Phoenix / Langfuse〔择一 PoC〕</a:t>
            </a:r>
          </a:p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自建记忆 / Mem0 / Checkpointer</a:t>
            </a:r>
          </a:p>
        </p:txBody>
      </p:sp>
      <p:sp>
        <p:nvSpPr>
          <p:cNvPr id="17" name="自进化候选与制品">
            <a:extLst xmlns:a="http://schemas.openxmlformats.org/drawingml/2006/main">
              <a:ext uri="{FF2B5EF4-FFF2-40B4-BE49-F238E27FC236}">
                <a16:creationId xmlns:a16="http://schemas.microsoft.com/office/drawing/2014/main" id="{B644A06C-0D92-4A73-92C8-6100C94DF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515225"/>
            <a:ext cx="2762250" cy="1171575"/>
          </a:xfrm>
          <a:prstGeom xmlns:a="http://schemas.openxmlformats.org/drawingml/2006/main" prst="roundRect">
            <a:avLst>
              <a:gd name="adj" fmla="val 4065"/>
            </a:avLst>
          </a:prstGeom>
          <a:solidFill xmlns:a="http://schemas.openxmlformats.org/drawingml/2006/main">
            <a:srgbClr val="1268AE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自进化候选与制品</a:t>
            </a:r>
          </a:p>
        </p:txBody>
      </p:sp>
      <p:sp>
        <p:nvSpPr>
          <p:cNvPr id="18" name="源码 / Prompt / 模型 / 训练快照">
            <a:extLst xmlns:a="http://schemas.openxmlformats.org/drawingml/2006/main">
              <a:ext uri="{FF2B5EF4-FFF2-40B4-BE49-F238E27FC236}">
                <a16:creationId xmlns:a16="http://schemas.microsoft.com/office/drawing/2014/main" id="{6099BFFE-C7E1-4CD1-82BD-D6B927E6C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7515225"/>
            <a:ext cx="6000750" cy="1171575"/>
          </a:xfrm>
          <a:prstGeom xmlns:a="http://schemas.openxmlformats.org/drawingml/2006/main" prst="roundRect">
            <a:avLst>
              <a:gd name="adj" fmla="val 4065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源码 / Prompt / 模型 / 训练快照</a:t>
            </a:r>
          </a:p>
        </p:txBody>
      </p:sp>
      <p:sp>
        <p:nvSpPr>
          <p:cNvPr id="19" name="Git + 制品库 + 原件存储&#10;MLflow / DVC〔按阶段启用〕">
            <a:extLst xmlns:a="http://schemas.openxmlformats.org/drawingml/2006/main">
              <a:ext uri="{FF2B5EF4-FFF2-40B4-BE49-F238E27FC236}">
                <a16:creationId xmlns:a16="http://schemas.microsoft.com/office/drawing/2014/main" id="{331E7EAA-7D28-4227-9BDB-90E399F18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7515225"/>
            <a:ext cx="6762750" cy="1171575"/>
          </a:xfrm>
          <a:prstGeom xmlns:a="http://schemas.openxmlformats.org/drawingml/2006/main" prst="roundRect">
            <a:avLst>
              <a:gd name="adj" fmla="val 4065"/>
            </a:avLst>
          </a:prstGeom>
          <a:solidFill xmlns:a="http://schemas.openxmlformats.org/drawingml/2006/main">
            <a:srgbClr val="EAF6F1"/>
          </a:solidFill>
          <a:ln xmlns:a="http://schemas.openxmlformats.org/drawingml/2006/main" w="13335">
            <a:solidFill>
              <a:srgbClr val="128D89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Git + 制品库 + 原件存储</a:t>
            </a:r>
          </a:p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MLflow / DVC〔按阶段启用〕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00BD51-73BF-4650-A6DB-20877FE81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344025"/>
            <a:ext cx="1609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统一治理：asset_id、版本、项目权限、来源位置、质量状态与发布清单；原件、向量与工作台互相引用。</a:t>
            </a:r>
          </a:p>
        </p:txBody>
      </p:sp>
    </p:spTree>
    <p:extLst>
      <p:ext uri="{BB962C8B-B14F-4D97-AF65-F5344CB8AC3E}">
        <p14:creationId xmlns:p14="http://schemas.microsoft.com/office/powerpoint/2010/main" val="182332370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AF2EF2-F92B-4421-8F1B-D1081540F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"/>
            <a:ext cx="1609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结构化实验数据：替代与补充方案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154E82-823C-4C25-BE88-9B5124181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14400"/>
            <a:ext cx="1609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候选方案能力来自官方资料；适用判断与推荐为本项目建议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5D887E-57E4-45FA-AA79-04320C8F2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096500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宁德时代香港研究院 · RSI 数据平台架构建议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299892-88D1-4EAE-B7EC-C73F90BEA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1009650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523875" y="1809750"/>
          <a:ext xmlns:a="http://schemas.openxmlformats.org/drawingml/2006/main" cx="16097250" cy="6286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4953000"/>
                <a:gridCol w="4857750"/>
                <a:gridCol w="2857500"/>
              </a:tblGrid>
              <a:tr h="1047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方案</a:t>
                      </a:r>
                    </a:p>
                  </a:txBody>
                  <a:tcPr marL="161925" marR="161925" marT="95250" marB="95250" anchor="ctr">
                    <a:solidFill>
                      <a:srgbClr val="1268A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解决什么问题</a:t>
                      </a:r>
                    </a:p>
                  </a:txBody>
                  <a:tcPr marL="161925" marR="161925" marT="95250" marB="95250" anchor="ctr">
                    <a:solidFill>
                      <a:srgbClr val="1268A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新增成本 / 使用边界</a:t>
                      </a:r>
                    </a:p>
                  </a:txBody>
                  <a:tcPr marL="161925" marR="161925" marT="95250" marB="95250" anchor="ctr">
                    <a:solidFill>
                      <a:srgbClr val="1268A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本项目建议</a:t>
                      </a:r>
                    </a:p>
                  </a:txBody>
                  <a:tcPr marL="161925" marR="161925" marT="95250" marB="95250" anchor="ctr">
                    <a:solidFill>
                      <a:srgbClr val="1268AE"/>
                    </a:solidFill>
                  </a:tcPr>
                </a:tc>
              </a:tr>
              <a:tr h="1047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Excel → OceanBase → API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保留现有写入链路；在只读视图和业务语义层之上查询。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目录 / 单位 / 关联治理仍需建设；数据库 MySQL 兼容不等于所有插件兼容。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一期推荐保留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</a:tr>
              <a:tr h="1047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MySQL / PostgreSQL 关系库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作为替代业务库，或工具专用后端；统一实验类型的主题模型。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迁移、SQL 适配与双写成本；PG 专用组件不能直接改接 OceanBase。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有明确缺口再迁移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OceanBase + 分析副本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长范围统计和曲线分析从生产查询隔离；可评估 ClickHouse。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同步、口径、延迟和权限治理；分析副本不接管填报事务。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分析负载瓶颈时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</a:tr>
              <a:tr h="1047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Parquet / Iceberg + 查询引擎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历史快照、训练样本与跨域批分析；DuckDB 适合离线实验分析。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需额外目录、快照和批处理；不能代替多人在线事务入口。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二期分析 / 训练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OceanBase 原生向量候选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官方 4.3.5 文档包含 MySQL 租户向量 SQL 能力。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当前安装版本与索引、过滤、融合检索能力未核实；需专项 PoC。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与独立检索方案对比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</a:tr>
            </a:tbl>
          </a:graphicData>
        </a:graphic>
      </p:graphicFrame>
      <p:sp>
        <p:nvSpPr>
          <p:cNvPr id="6" name="3000 张表的首要问题是语义与关联治理。先组织表族与批准视图，新增实验逐步规范">
            <a:extLst xmlns:a="http://schemas.openxmlformats.org/drawingml/2006/main">
              <a:ext uri="{FF2B5EF4-FFF2-40B4-BE49-F238E27FC236}">
                <a16:creationId xmlns:a16="http://schemas.microsoft.com/office/drawing/2014/main" id="{E9331D13-FA03-40A8-902E-20D1A8B5A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572500"/>
            <a:ext cx="16097250" cy="11430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EAF6F1"/>
          </a:solidFill>
          <a:ln xmlns:a="http://schemas.openxmlformats.org/drawingml/2006/main" w="13335">
            <a:solidFill>
              <a:srgbClr val="128D89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3000 张表的首要问题是语义与关联治理。先组织表族与批准视图，新增实验逐步规范模型，不因表数直接更换数据库。</a:t>
            </a:r>
          </a:p>
        </p:txBody>
      </p:sp>
    </p:spTree>
    <p:extLst>
      <p:ext uri="{BB962C8B-B14F-4D97-AF65-F5344CB8AC3E}">
        <p14:creationId xmlns:p14="http://schemas.microsoft.com/office/powerpoint/2010/main" val="82022104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192C15-D4B8-4BAB-A92F-5B815184F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"/>
            <a:ext cx="1609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非结构化原件：NAS 与对象存储路径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193F71-F0DA-4B7D-8EEB-84C84E754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14400"/>
            <a:ext cx="1609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候选方案能力来自官方资料；适用判断与推荐为本项目建议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23DE6D-CE06-4939-A5D7-0FC204FD8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096500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宁德时代香港研究院 · RSI 数据平台架构建议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F96766-3F96-4F84-B80F-7FDCEBE06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1009650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523875" y="1809750"/>
          <a:ext xmlns:a="http://schemas.openxmlformats.org/drawingml/2006/main" cx="16097250" cy="6286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4953000"/>
                <a:gridCol w="4857750"/>
                <a:gridCol w="2857500"/>
              </a:tblGrid>
              <a:tr h="1257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方案</a:t>
                      </a:r>
                    </a:p>
                  </a:txBody>
                  <a:tcPr marL="161925" marR="161925" marT="95250" marB="95250" anchor="ctr">
                    <a:solidFill>
                      <a:srgbClr val="1268A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解决什么问题</a:t>
                      </a:r>
                    </a:p>
                  </a:txBody>
                  <a:tcPr marL="161925" marR="161925" marT="95250" marB="95250" anchor="ctr">
                    <a:solidFill>
                      <a:srgbClr val="1268A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新增成本 / 使用边界</a:t>
                      </a:r>
                    </a:p>
                  </a:txBody>
                  <a:tcPr marL="161925" marR="161925" marT="95250" marB="95250" anchor="ctr">
                    <a:solidFill>
                      <a:srgbClr val="1268A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本项目建议</a:t>
                      </a:r>
                    </a:p>
                  </a:txBody>
                  <a:tcPr marL="161925" marR="161925" marT="95250" marB="95250" anchor="ctr">
                    <a:solidFill>
                      <a:srgbClr val="1268AE"/>
                    </a:solidFill>
                  </a:tcPr>
                </a:tc>
              </a:tr>
              <a:tr h="1257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 保留 NAS + 目录登记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原件留业务共享盘；平台扫描、hash、权限映射，登记稳定资产 ID。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覆盖 / 改名 / 删除影响历史证据；NAS ACL 与项目授权需同步。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快速接入，过渡方案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</a:tr>
              <a:tr h="1257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 NAS → 受控原件副本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业务继续用 NAS；平台复制正式版本到独立存储，再解析和索引。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存在两份数据；需定义正式版本、更新周期、撤回和保留责任。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一期优先路径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</a:tr>
              <a:tr h="1257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 上传直达对象存储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原件存私有 S3，关系库存元数据；版本 / 上传 / 生命周期由平台管理。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改变业务上传入口；对象版本、下载鉴权和备份需实现与测试。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新上传优先采用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</a:tr>
              <a:tr h="1257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 企业内容管理系统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利用既有文档审批、版本和权限系统，通过接口同步。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当前未确认有此系统；连接器、许可与跨系统授权需评估。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已有成熟系统时复用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建议保留 NAS 作为业务来源，正式入库原件保存受控版本副本。NAS 路径和对象">
            <a:extLst xmlns:a="http://schemas.openxmlformats.org/drawingml/2006/main">
              <a:ext uri="{FF2B5EF4-FFF2-40B4-BE49-F238E27FC236}">
                <a16:creationId xmlns:a16="http://schemas.microsoft.com/office/drawing/2014/main" id="{39BABFD0-DB64-461B-BA8D-BC0421C80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572500"/>
            <a:ext cx="16097250" cy="11430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EAF6F1"/>
          </a:solidFill>
          <a:ln xmlns:a="http://schemas.openxmlformats.org/drawingml/2006/main" w="13335">
            <a:solidFill>
              <a:srgbClr val="128D89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建议保留 NAS 作为业务来源，正式入库原件保存受控版本副本。NAS 路径和对象 Key 都不是业务资产 ID。</a:t>
            </a:r>
          </a:p>
        </p:txBody>
      </p:sp>
    </p:spTree>
    <p:extLst>
      <p:ext uri="{BB962C8B-B14F-4D97-AF65-F5344CB8AC3E}">
        <p14:creationId xmlns:p14="http://schemas.microsoft.com/office/powerpoint/2010/main" val="143034369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28CEF7-9229-4EC2-8BF3-97AF7A8D2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"/>
            <a:ext cx="1609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私有对象存储：产品选型对比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68127F-AB23-4DE8-842F-1032D7C9A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14400"/>
            <a:ext cx="1609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候选方案能力来自官方资料；适用判断与推荐为本项目建议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8F3762-2026-47EE-A9FD-268254A0C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096500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宁德时代香港研究院 · RSI 数据平台架构建议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3B00AE-DD0D-46FD-A55E-49B000FD5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1009650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523875" y="1809750"/>
          <a:ext xmlns:a="http://schemas.openxmlformats.org/drawingml/2006/main" cx="16097250" cy="6286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4953000"/>
                <a:gridCol w="4857750"/>
                <a:gridCol w="2857500"/>
              </a:tblGrid>
              <a:tr h="1257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方案</a:t>
                      </a:r>
                    </a:p>
                  </a:txBody>
                  <a:tcPr marL="161925" marR="161925" marT="95250" marB="95250" anchor="ctr">
                    <a:solidFill>
                      <a:srgbClr val="1268A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解决什么问题</a:t>
                      </a:r>
                    </a:p>
                  </a:txBody>
                  <a:tcPr marL="161925" marR="161925" marT="95250" marB="95250" anchor="ctr">
                    <a:solidFill>
                      <a:srgbClr val="1268A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新增成本 / 使用边界</a:t>
                      </a:r>
                    </a:p>
                  </a:txBody>
                  <a:tcPr marL="161925" marR="161925" marT="95250" marB="95250" anchor="ctr">
                    <a:solidFill>
                      <a:srgbClr val="1268A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本项目建议</a:t>
                      </a:r>
                    </a:p>
                  </a:txBody>
                  <a:tcPr marL="161925" marR="161925" marT="95250" marB="95250" anchor="ctr">
                    <a:solidFill>
                      <a:srgbClr val="1268AE"/>
                    </a:solidFill>
                  </a:tcPr>
                </a:tc>
              </a:tr>
              <a:tr h="1257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Ceph RGW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S3 / Swift 接口，适合统一的私有存储基础设施。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集群、磁盘和恢复运维较重；已有 Ceph 团队时更有利。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企业已有基础时优先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</a:tr>
              <a:tr h="1257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SeaweedFS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文件与 S3 接口，可采用分布式部署。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生产拓扑、元数据后端、权限、版本和恢复需实际验证。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试点新建 PoC 候选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</a:tr>
              <a:tr h="1257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商业对象存储 / MinIO AIStor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采购支持、交付与服务保障；按合同及能力选择。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预算、产品许可、离线授权、AD 集成及维护支持分别核实。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需要厂商支持时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</a:tr>
              <a:tr h="1257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历史 MinIO 开源版本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已有环境可作为兼容性与迁移评估对象。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官方声明开源产品自 2025-09 起停止维护；需维护、补丁及替换方案。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不作新建默认推荐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按能力验收：版本/生命周期、完整性校验、断点上传、访问审计、权限撤回、备份恢复。">
            <a:extLst xmlns:a="http://schemas.openxmlformats.org/drawingml/2006/main">
              <a:ext uri="{FF2B5EF4-FFF2-40B4-BE49-F238E27FC236}">
                <a16:creationId xmlns:a16="http://schemas.microsoft.com/office/drawing/2014/main" id="{55EFF00E-775A-4C8C-8DD8-BC139D7E8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572500"/>
            <a:ext cx="16097250" cy="11430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EAF6F1"/>
          </a:solidFill>
          <a:ln xmlns:a="http://schemas.openxmlformats.org/drawingml/2006/main" w="13335">
            <a:solidFill>
              <a:srgbClr val="128D89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按能力验收：版本/生命周期、完整性校验、断点上传、访问审计、权限撤回、备份恢复。S3 兼容不等于每项能力一致。</a:t>
            </a:r>
          </a:p>
        </p:txBody>
      </p:sp>
    </p:spTree>
    <p:extLst>
      <p:ext uri="{BB962C8B-B14F-4D97-AF65-F5344CB8AC3E}">
        <p14:creationId xmlns:p14="http://schemas.microsoft.com/office/powerpoint/2010/main" val="49519819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998977-185D-442D-86D4-50EFF4DAA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"/>
            <a:ext cx="1609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文档采集与原始数据加工方案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971351-5BD8-4B99-9686-B7D3C1282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14400"/>
            <a:ext cx="1609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PDF、PPT、Word、MD 原件不可被解析文本替代；解析后保存结构、来源位置和可重建索引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1D4C58-6CB4-4828-8BE6-07194A8C2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096500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宁德时代香港研究院 · RSI 数据平台架构建议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E0077F-111E-4324-B22F-264560034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1009650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5" name="NAS 增量扫描&#10;或受控上传">
            <a:extLst xmlns:a="http://schemas.openxmlformats.org/drawingml/2006/main">
              <a:ext uri="{FF2B5EF4-FFF2-40B4-BE49-F238E27FC236}">
                <a16:creationId xmlns:a16="http://schemas.microsoft.com/office/drawing/2014/main" id="{DFCB7F93-4A50-4904-B56B-25AB73A54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95500"/>
            <a:ext cx="2952750" cy="1285875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EAF6F1"/>
          </a:solidFill>
          <a:ln xmlns:a="http://schemas.openxmlformats.org/drawingml/2006/main" w="13335">
            <a:solidFill>
              <a:srgbClr val="128D89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NAS 增量扫描</a:t>
            </a:r>
          </a:p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或受控上传</a:t>
            </a:r>
          </a:p>
        </p:txBody>
      </p:sp>
      <p:sp>
        <p:nvSpPr>
          <p:cNvPr id="6" name="资产与版本登记&#10;hash / 项目 / 权限">
            <a:extLst xmlns:a="http://schemas.openxmlformats.org/drawingml/2006/main">
              <a:ext uri="{FF2B5EF4-FFF2-40B4-BE49-F238E27FC236}">
                <a16:creationId xmlns:a16="http://schemas.microsoft.com/office/drawing/2014/main" id="{5D1E331C-37DF-4391-A6CF-90D57E421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095500"/>
            <a:ext cx="2952750" cy="1285875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EAF6F1"/>
          </a:solidFill>
          <a:ln xmlns:a="http://schemas.openxmlformats.org/drawingml/2006/main" w="13335">
            <a:solidFill>
              <a:srgbClr val="128D89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资产与版本登记</a:t>
            </a:r>
          </a:p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hash / 项目 / 权限</a:t>
            </a:r>
          </a:p>
        </p:txBody>
      </p:sp>
      <p:sp>
        <p:nvSpPr>
          <p:cNvPr id="7" name="原件副本持久化&#10;对象存储 / 受管 NAS">
            <a:extLst xmlns:a="http://schemas.openxmlformats.org/drawingml/2006/main">
              <a:ext uri="{FF2B5EF4-FFF2-40B4-BE49-F238E27FC236}">
                <a16:creationId xmlns:a16="http://schemas.microsoft.com/office/drawing/2014/main" id="{573D5915-A15F-4665-8651-E2768DCE3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095500"/>
            <a:ext cx="2952750" cy="1285875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EAF6F1"/>
          </a:solidFill>
          <a:ln xmlns:a="http://schemas.openxmlformats.org/drawingml/2006/main" w="13335">
            <a:solidFill>
              <a:srgbClr val="128D89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原件副本持久化</a:t>
            </a:r>
          </a:p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对象存储 / 受管 NAS</a:t>
            </a:r>
          </a:p>
        </p:txBody>
      </p:sp>
      <p:sp>
        <p:nvSpPr>
          <p:cNvPr id="8" name="按格式解析&#10;文本 / 表格 / 图片">
            <a:extLst xmlns:a="http://schemas.openxmlformats.org/drawingml/2006/main">
              <a:ext uri="{FF2B5EF4-FFF2-40B4-BE49-F238E27FC236}">
                <a16:creationId xmlns:a16="http://schemas.microsoft.com/office/drawing/2014/main" id="{716DAA6F-6A7D-44F1-AA14-6BE94B110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095500"/>
            <a:ext cx="2952750" cy="1285875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EAF6F1"/>
          </a:solidFill>
          <a:ln xmlns:a="http://schemas.openxmlformats.org/drawingml/2006/main" w="13335">
            <a:solidFill>
              <a:srgbClr val="128D89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按格式解析</a:t>
            </a:r>
          </a:p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文本 / 表格 / 图片</a:t>
            </a:r>
          </a:p>
        </p:txBody>
      </p:sp>
      <p:sp>
        <p:nvSpPr>
          <p:cNvPr id="9" name="质量校验与发布&#10;片段 / 索引 / 证据">
            <a:extLst xmlns:a="http://schemas.openxmlformats.org/drawingml/2006/main">
              <a:ext uri="{FF2B5EF4-FFF2-40B4-BE49-F238E27FC236}">
                <a16:creationId xmlns:a16="http://schemas.microsoft.com/office/drawing/2014/main" id="{C0C98C84-0088-4CCA-AFBC-825CC2687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68375" y="2095500"/>
            <a:ext cx="2952750" cy="1285875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EAF6F1"/>
          </a:solidFill>
          <a:ln xmlns:a="http://schemas.openxmlformats.org/drawingml/2006/main" w="13335">
            <a:solidFill>
              <a:srgbClr val="128D89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质量校验与发布</a:t>
            </a:r>
          </a:p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片段 / 索引 / 证据</a:t>
            </a:r>
          </a:p>
        </p:txBody>
      </p:sp>
      <p:cxnSp>
        <p:nvCxnSpPr>
          <p:cNvPr id="33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476625" y="2738438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8D89"/>
            </a:solidFill>
            <a:prstDash val="solid"/>
            <a:tailEnd type="triangle" w="sm" len="sm"/>
          </a:ln>
        </p:spPr>
      </p:cxnSp>
      <p:cxnSp>
        <p:nvCxnSpPr>
          <p:cNvPr id="34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6762750" y="2738438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8D89"/>
            </a:solidFill>
            <a:prstDash val="solid"/>
            <a:tailEnd type="triangle" w="sm" len="sm"/>
          </a:ln>
        </p:spPr>
      </p:cxnSp>
      <p:cxnSp>
        <p:nvCxnSpPr>
          <p:cNvPr id="35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048875" y="2738438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8D89"/>
            </a:solidFill>
            <a:prstDash val="solid"/>
            <a:tailEnd type="triangle" w="sm" len="sm"/>
          </a:ln>
        </p:spPr>
      </p:cxnSp>
      <p:cxnSp>
        <p:nvCxnSpPr>
          <p:cNvPr id="36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13335000" y="2738438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8D89"/>
            </a:solidFill>
            <a:prstDash val="solid"/>
            <a:tailEnd type="triangle" w="sm" len="sm"/>
          </a:ln>
        </p:spPr>
      </p:cxnSp>
      <p:sp>
        <p:nvSpPr>
          <p:cNvPr id="14" name="解析路由">
            <a:extLst xmlns:a="http://schemas.openxmlformats.org/drawingml/2006/main">
              <a:ext uri="{FF2B5EF4-FFF2-40B4-BE49-F238E27FC236}">
                <a16:creationId xmlns:a16="http://schemas.microsoft.com/office/drawing/2014/main" id="{72073D0D-7477-45A8-B927-B71BBD4FD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048125"/>
            <a:ext cx="2381250" cy="59055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1268AE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解析路由</a:t>
            </a:r>
          </a:p>
        </p:txBody>
      </p:sp>
      <p:sp>
        <p:nvSpPr>
          <p:cNvPr id="15" name="PDF">
            <a:extLst xmlns:a="http://schemas.openxmlformats.org/drawingml/2006/main">
              <a:ext uri="{FF2B5EF4-FFF2-40B4-BE49-F238E27FC236}">
                <a16:creationId xmlns:a16="http://schemas.microsoft.com/office/drawing/2014/main" id="{2CC42400-C936-4E1C-B66F-3D903B19D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953000"/>
            <a:ext cx="2952750" cy="733425"/>
          </a:xfrm>
          <a:prstGeom xmlns:a="http://schemas.openxmlformats.org/drawingml/2006/main" prst="roundRect">
            <a:avLst>
              <a:gd name="adj" fmla="val 6494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PDF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93A323-298F-436D-8D55-B9206C6E1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953000"/>
            <a:ext cx="127158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原生文本 / 版面抽取；扫描页 OCR；保留页码和表格位置。</a:t>
            </a:r>
          </a:p>
        </p:txBody>
      </p:sp>
      <p:sp>
        <p:nvSpPr>
          <p:cNvPr id="17" name="PPTX / DOCX">
            <a:extLst xmlns:a="http://schemas.openxmlformats.org/drawingml/2006/main">
              <a:ext uri="{FF2B5EF4-FFF2-40B4-BE49-F238E27FC236}">
                <a16:creationId xmlns:a16="http://schemas.microsoft.com/office/drawing/2014/main" id="{C757A815-0ECF-4641-A7DA-E00F48095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876925"/>
            <a:ext cx="2952750" cy="733425"/>
          </a:xfrm>
          <a:prstGeom xmlns:a="http://schemas.openxmlformats.org/drawingml/2006/main" prst="roundRect">
            <a:avLst>
              <a:gd name="adj" fmla="val 6494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PPTX / DOCX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4CB40C-BE97-4F44-93EB-BCBB9CE1A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876925"/>
            <a:ext cx="127158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Docling 或格式专用解析器；标题、段落、表格、备注、图片分别保留。</a:t>
            </a:r>
          </a:p>
        </p:txBody>
      </p:sp>
      <p:sp>
        <p:nvSpPr>
          <p:cNvPr id="19" name="MD / 文本">
            <a:extLst xmlns:a="http://schemas.openxmlformats.org/drawingml/2006/main">
              <a:ext uri="{FF2B5EF4-FFF2-40B4-BE49-F238E27FC236}">
                <a16:creationId xmlns:a16="http://schemas.microsoft.com/office/drawing/2014/main" id="{A4F79A07-F373-44B4-9650-72BEED0EB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800850"/>
            <a:ext cx="2952750" cy="733425"/>
          </a:xfrm>
          <a:prstGeom xmlns:a="http://schemas.openxmlformats.org/drawingml/2006/main" prst="roundRect">
            <a:avLst>
              <a:gd name="adj" fmla="val 6494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MD / 文本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827F30-05D4-4BC1-AC02-58DC29494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800850"/>
            <a:ext cx="127158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标题、代码块、链接及段落切分；保留原路径与段落定位。</a:t>
            </a:r>
          </a:p>
        </p:txBody>
      </p:sp>
      <p:sp>
        <p:nvSpPr>
          <p:cNvPr id="21" name="旧 PPT / DOC / 复杂版面">
            <a:extLst xmlns:a="http://schemas.openxmlformats.org/drawingml/2006/main">
              <a:ext uri="{FF2B5EF4-FFF2-40B4-BE49-F238E27FC236}">
                <a16:creationId xmlns:a16="http://schemas.microsoft.com/office/drawing/2014/main" id="{DDEDE22E-C410-4D02-8EF1-126B4CE24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724775"/>
            <a:ext cx="2952750" cy="733425"/>
          </a:xfrm>
          <a:prstGeom xmlns:a="http://schemas.openxmlformats.org/drawingml/2006/main" prst="roundRect">
            <a:avLst>
              <a:gd name="adj" fmla="val 6494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旧 PPT / DOC / 复杂版面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789559-D67A-4D4F-AEE7-DFC5540A8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7724775"/>
            <a:ext cx="127158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隔离转码或专用解析；转换件登记 parent_asset，不覆盖原件。</a:t>
            </a:r>
          </a:p>
        </p:txBody>
      </p:sp>
      <p:sp>
        <p:nvSpPr>
          <p:cNvPr id="23" name="发布策略：低质量解析进入人工队列；修复后生成新版本，重建对应片段和索引。索引记录">
            <a:extLst xmlns:a="http://schemas.openxmlformats.org/drawingml/2006/main">
              <a:ext uri="{FF2B5EF4-FFF2-40B4-BE49-F238E27FC236}">
                <a16:creationId xmlns:a16="http://schemas.microsoft.com/office/drawing/2014/main" id="{5D2F4F43-5FDA-4700-B596-3AA22BAA6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029700"/>
            <a:ext cx="16097250" cy="781050"/>
          </a:xfrm>
          <a:prstGeom xmlns:a="http://schemas.openxmlformats.org/drawingml/2006/main" prst="roundRect">
            <a:avLst>
              <a:gd name="adj" fmla="val 6098"/>
            </a:avLst>
          </a:prstGeom>
          <a:solidFill xmlns:a="http://schemas.openxmlformats.org/drawingml/2006/main">
            <a:srgbClr val="EAF6F1"/>
          </a:solidFill>
          <a:ln xmlns:a="http://schemas.openxmlformats.org/drawingml/2006/main" w="13335">
            <a:solidFill>
              <a:srgbClr val="128D89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发布策略：低质量解析进入人工队列；修复后生成新版本，重建对应片段和索引。索引记录 parser / chunker / embedding 版本。</a:t>
            </a:r>
          </a:p>
        </p:txBody>
      </p:sp>
    </p:spTree>
    <p:extLst>
      <p:ext uri="{BB962C8B-B14F-4D97-AF65-F5344CB8AC3E}">
        <p14:creationId xmlns:p14="http://schemas.microsoft.com/office/powerpoint/2010/main" val="35685087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EF37DF-F95B-4F37-A050-C4EFA8358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"/>
            <a:ext cx="1609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图片与音频：多模态存储和检索架构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E44135-8F95-45D3-B099-1FB0F2A72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14400"/>
            <a:ext cx="1609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原件、派生产物和向量分层保存；跨模态检索由合适的 embedding 模型与数据集验证支持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C1E1B7-F7DA-4CD2-8A1D-5AD66BEB9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096500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宁德时代香港研究院 · RSI 数据平台架构建议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2AFDA2-AC39-44F3-BD6E-83E78FE10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1009650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5" name="图片入口&#10;实验图像 / 文档插图&#10;原始分辨率与格式">
            <a:extLst xmlns:a="http://schemas.openxmlformats.org/drawingml/2006/main">
              <a:ext uri="{FF2B5EF4-FFF2-40B4-BE49-F238E27FC236}">
                <a16:creationId xmlns:a16="http://schemas.microsoft.com/office/drawing/2014/main" id="{4BA787DE-6116-41AD-9962-76831DEC7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52625"/>
            <a:ext cx="2762250" cy="13335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EAF6F1"/>
          </a:solidFill>
          <a:ln xmlns:a="http://schemas.openxmlformats.org/drawingml/2006/main" w="13335">
            <a:solidFill>
              <a:srgbClr val="128D89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图片入口</a:t>
            </a:r>
          </a:p>
          <a:p xmlns:a="http://schemas.openxmlformats.org/drawingml/2006/main">
            <a:pPr algn="ctr">
              <a:defRPr sz="20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实验图像 / 文档插图</a:t>
            </a:r>
          </a:p>
          <a:p xmlns:a="http://schemas.openxmlformats.org/drawingml/2006/main">
            <a:pPr algn="ctr">
              <a:defRPr sz="20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原始分辨率与格式</a:t>
            </a:r>
          </a:p>
        </p:txBody>
      </p:sp>
      <p:sp>
        <p:nvSpPr>
          <p:cNvPr id="6" name="音频入口&#10;专家访谈 / 任务录音&#10;原始采样率与时长">
            <a:extLst xmlns:a="http://schemas.openxmlformats.org/drawingml/2006/main">
              <a:ext uri="{FF2B5EF4-FFF2-40B4-BE49-F238E27FC236}">
                <a16:creationId xmlns:a16="http://schemas.microsoft.com/office/drawing/2014/main" id="{E3C40BFD-CD76-460D-BEB2-42A8FA07B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572000"/>
            <a:ext cx="2762250" cy="13335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4F0FB"/>
          </a:solidFill>
          <a:ln xmlns:a="http://schemas.openxmlformats.org/drawingml/2006/main" w="13335">
            <a:solidFill>
              <a:srgbClr val="7253AF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音频入口</a:t>
            </a:r>
          </a:p>
          <a:p xmlns:a="http://schemas.openxmlformats.org/drawingml/2006/main">
            <a:pPr algn="ctr">
              <a:defRPr sz="20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专家访谈 / 任务录音</a:t>
            </a:r>
          </a:p>
          <a:p xmlns:a="http://schemas.openxmlformats.org/drawingml/2006/main">
            <a:pPr algn="ctr">
              <a:defRPr sz="20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原始采样率与时长</a:t>
            </a:r>
          </a:p>
        </p:txBody>
      </p:sp>
      <p:sp>
        <p:nvSpPr>
          <p:cNvPr id="7" name="原件与派生产物存储&#10;原图 / 原音频 / 缩略图&#10;裁剪区域 / 转写 / 分段附">
            <a:extLst xmlns:a="http://schemas.openxmlformats.org/drawingml/2006/main">
              <a:ext uri="{FF2B5EF4-FFF2-40B4-BE49-F238E27FC236}">
                <a16:creationId xmlns:a16="http://schemas.microsoft.com/office/drawing/2014/main" id="{1618E749-737B-44C1-9251-82519213A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714625"/>
            <a:ext cx="4191000" cy="238125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原件与派生产物存储</a:t>
            </a:r>
          </a:p>
          <a:p xmlns:a="http://schemas.openxmlformats.org/drawingml/2006/main">
            <a:pPr algn="ctr">
              <a:defRPr sz="21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原图 / 原音频 / 缩略图</a:t>
            </a:r>
          </a:p>
          <a:p xmlns:a="http://schemas.openxmlformats.org/drawingml/2006/main">
            <a:pPr algn="ctr">
              <a:defRPr sz="21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裁剪区域 / 转写 / 分段附件</a:t>
            </a:r>
          </a:p>
          <a:p xmlns:a="http://schemas.openxmlformats.org/drawingml/2006/main">
            <a:pPr algn="ctr">
              <a:defRPr sz="21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asset_id + version + hash</a:t>
            </a:r>
          </a:p>
        </p:txBody>
      </p:sp>
      <p:cxnSp>
        <p:nvCxnSpPr>
          <p:cNvPr id="26" name="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286125" y="2619375"/>
            <a:ext cx="904875" cy="1285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8D89"/>
            </a:solidFill>
            <a:prstDash val="solid"/>
            <a:tailEnd type="triangle" w="sm" len="sm"/>
          </a:ln>
        </p:spPr>
      </p:cxnSp>
      <p:cxnSp>
        <p:nvCxnSpPr>
          <p:cNvPr id="27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3286125" y="3905250"/>
            <a:ext cx="904875" cy="13335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253AF"/>
            </a:solidFill>
            <a:prstDash val="solid"/>
            <a:tailEnd type="triangle" w="sm" len="sm"/>
          </a:ln>
        </p:spPr>
      </p:cxnSp>
      <p:sp>
        <p:nvSpPr>
          <p:cNvPr id="10" name="图片处理&#10;OCR / 图像描述 / 区域标注&#10;图文向量，保留区域坐标">
            <a:extLst xmlns:a="http://schemas.openxmlformats.org/drawingml/2006/main">
              <a:ext uri="{FF2B5EF4-FFF2-40B4-BE49-F238E27FC236}">
                <a16:creationId xmlns:a16="http://schemas.microsoft.com/office/drawing/2014/main" id="{71A7E366-CB45-4F09-9CBB-B01E4DD6F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952625"/>
            <a:ext cx="3333750" cy="1381125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EAF6F1"/>
          </a:solidFill>
          <a:ln xmlns:a="http://schemas.openxmlformats.org/drawingml/2006/main" w="13335">
            <a:solidFill>
              <a:srgbClr val="128D89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图片处理</a:t>
            </a:r>
          </a:p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OCR / 图像描述 / 区域标注</a:t>
            </a:r>
          </a:p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图文向量，保留区域坐标</a:t>
            </a:r>
          </a:p>
        </p:txBody>
      </p:sp>
      <p:sp>
        <p:nvSpPr>
          <p:cNvPr id="11" name="音频处理&#10;ASR / 分段 / 术语复核&#10;音频向量〔需要时〕 / 时间戳">
            <a:extLst xmlns:a="http://schemas.openxmlformats.org/drawingml/2006/main">
              <a:ext uri="{FF2B5EF4-FFF2-40B4-BE49-F238E27FC236}">
                <a16:creationId xmlns:a16="http://schemas.microsoft.com/office/drawing/2014/main" id="{E52039D3-A981-4CCC-84D4-4892CEC5F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572000"/>
            <a:ext cx="3333750" cy="1381125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4F0FB"/>
          </a:solidFill>
          <a:ln xmlns:a="http://schemas.openxmlformats.org/drawingml/2006/main" w="13335">
            <a:solidFill>
              <a:srgbClr val="7253AF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音频处理</a:t>
            </a:r>
          </a:p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ASR / 分段 / 术语复核</a:t>
            </a:r>
          </a:p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音频向量〔需要时〕 / 时间戳</a:t>
            </a:r>
          </a:p>
        </p:txBody>
      </p:sp>
      <p:cxnSp>
        <p:nvCxnSpPr>
          <p:cNvPr id="30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1">
            <a:off x="8382000" y="2643188"/>
            <a:ext cx="857250" cy="126206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68AE"/>
            </a:solidFill>
            <a:prstDash val="solid"/>
            <a:tailEnd type="triangle" w="sm" len="sm"/>
          </a:ln>
        </p:spPr>
      </p:cxnSp>
      <p:cxnSp>
        <p:nvCxnSpPr>
          <p:cNvPr id="31" name=""/>
          <p:cNvCxnSpPr>
            <a:stCxn xmlns:a="http://schemas.openxmlformats.org/drawingml/2006/main" id="7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8382000" y="3905250"/>
            <a:ext cx="857250" cy="135731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68AE"/>
            </a:solidFill>
            <a:prstDash val="solid"/>
            <a:tailEnd type="triangle" w="sm" len="sm"/>
          </a:ln>
        </p:spPr>
      </p:cxnSp>
      <p:sp>
        <p:nvSpPr>
          <p:cNvPr id="14" name="检索索引&#10;全文：OCR / 转写&#10;向量：文本 / 图像 / 音频&#10;引用原件及区域">
            <a:extLst xmlns:a="http://schemas.openxmlformats.org/drawingml/2006/main">
              <a:ext uri="{FF2B5EF4-FFF2-40B4-BE49-F238E27FC236}">
                <a16:creationId xmlns:a16="http://schemas.microsoft.com/office/drawing/2014/main" id="{0BA73CAB-67DE-4FEA-91BF-7918D4C23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2714625"/>
            <a:ext cx="3190875" cy="238125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检索索引</a:t>
            </a:r>
          </a:p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全文：OCR / 转写</a:t>
            </a:r>
          </a:p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向量：文本 / 图像 / 音频</a:t>
            </a:r>
          </a:p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引用原件及区域 / 时间段</a:t>
            </a:r>
          </a:p>
        </p:txBody>
      </p:sp>
      <p:cxnSp>
        <p:nvCxnSpPr>
          <p:cNvPr id="33" name=""/>
          <p:cNvCxnSpPr>
            <a:stCxn xmlns:a="http://schemas.openxmlformats.org/drawingml/2006/main" id="10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12573000" y="2643188"/>
            <a:ext cx="857250" cy="126206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8D89"/>
            </a:solidFill>
            <a:prstDash val="solid"/>
            <a:tailEnd type="triangle" w="sm" len="sm"/>
          </a:ln>
        </p:spPr>
      </p:cxnSp>
      <p:cxnSp>
        <p:nvCxnSpPr>
          <p:cNvPr id="34" name=""/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 flipV="1">
            <a:off x="12573000" y="3905250"/>
            <a:ext cx="857250" cy="135731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253AF"/>
            </a:solidFill>
            <a:prstDash val="solid"/>
            <a:tailEnd type="triangle" w="sm" len="sm"/>
          </a:ln>
        </p:spPr>
      </p:cxnSp>
      <p:sp>
        <p:nvSpPr>
          <p:cNvPr id="17" name="元数据：modality / mime / width / height / d">
            <a:extLst xmlns:a="http://schemas.openxmlformats.org/drawingml/2006/main">
              <a:ext uri="{FF2B5EF4-FFF2-40B4-BE49-F238E27FC236}">
                <a16:creationId xmlns:a16="http://schemas.microsoft.com/office/drawing/2014/main" id="{BE053BE1-4B3D-4C02-A156-58E15518E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096125"/>
            <a:ext cx="16097250" cy="1190625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元数据：modality / mime / width / height / duration / sample_rate · region_bbox 或 start_ms / end_ms</a:t>
            </a:r>
          </a:p>
          <a:p xmlns:a="http://schemas.openxmlformats.org/drawingml/2006/main">
            <a:pPr algn="ctr">
              <a:defRPr sz="20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处理与模型版本、权限、置信度、审核状态；文本向量与图像向量只有在同一对齐模型空间中才可直接比较。</a:t>
            </a:r>
          </a:p>
        </p:txBody>
      </p:sp>
      <p:sp>
        <p:nvSpPr>
          <p:cNvPr id="18" name="一期建议：先支持原件管理、OCR / ASR 文本查询；确有“以图搜图 / 文本">
            <a:extLst xmlns:a="http://schemas.openxmlformats.org/drawingml/2006/main">
              <a:ext uri="{FF2B5EF4-FFF2-40B4-BE49-F238E27FC236}">
                <a16:creationId xmlns:a16="http://schemas.microsoft.com/office/drawing/2014/main" id="{1AD99B5F-932B-4408-9D60-F09A5BBD4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743950"/>
            <a:ext cx="16097250" cy="104775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EAF6F1"/>
          </a:solidFill>
          <a:ln xmlns:a="http://schemas.openxmlformats.org/drawingml/2006/main" w="13335">
            <a:solidFill>
              <a:srgbClr val="128D89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一期建议：先支持原件管理、OCR / ASR 文本查询；确有“以图搜图 / 文本搜图 / 声学检索”场景再启用多模态 embedding。</a:t>
            </a:r>
          </a:p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已确认有文本 embedding，不能据此假定内网已有视觉、语音或跨模态模型。</a:t>
            </a:r>
          </a:p>
        </p:txBody>
      </p:sp>
    </p:spTree>
    <p:extLst>
      <p:ext uri="{BB962C8B-B14F-4D97-AF65-F5344CB8AC3E}">
        <p14:creationId xmlns:p14="http://schemas.microsoft.com/office/powerpoint/2010/main" val="81121726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595645-81FB-4563-AB90-2E06BA08D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"/>
            <a:ext cx="1609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多模态与向量检索：数据库对比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F4E969-8255-4377-8AB6-64605083C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14400"/>
            <a:ext cx="1609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候选方案能力来自官方资料；适用判断与推荐为本项目建议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166015-8A78-4F97-B1BA-45B5C8688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096500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宁德时代香港研究院 · RSI 数据平台架构建议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A82BA9-03FD-4D2A-8505-02F45EA48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1009650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523875" y="1809750"/>
          <a:ext xmlns:a="http://schemas.openxmlformats.org/drawingml/2006/main" cx="16097250" cy="6286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4953000"/>
                <a:gridCol w="4857750"/>
                <a:gridCol w="2857500"/>
              </a:tblGrid>
              <a:tr h="1047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方案</a:t>
                      </a:r>
                    </a:p>
                  </a:txBody>
                  <a:tcPr marL="161925" marR="161925" marT="95250" marB="95250" anchor="ctr">
                    <a:solidFill>
                      <a:srgbClr val="1268A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解决什么问题</a:t>
                      </a:r>
                    </a:p>
                  </a:txBody>
                  <a:tcPr marL="161925" marR="161925" marT="95250" marB="95250" anchor="ctr">
                    <a:solidFill>
                      <a:srgbClr val="1268A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新增成本 / 使用边界</a:t>
                      </a:r>
                    </a:p>
                  </a:txBody>
                  <a:tcPr marL="161925" marR="161925" marT="95250" marB="95250" anchor="ctr">
                    <a:solidFill>
                      <a:srgbClr val="1268A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本项目建议</a:t>
                      </a:r>
                    </a:p>
                  </a:txBody>
                  <a:tcPr marL="161925" marR="161925" marT="95250" marB="95250" anchor="ctr">
                    <a:solidFill>
                      <a:srgbClr val="1268AE"/>
                    </a:solidFill>
                  </a:tcPr>
                </a:tc>
              </a:tr>
              <a:tr h="1047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OpenSearch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全文 / 文档关键词 + 语义检索；利用现有文档检索路径。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多模态需外部模型与字段设计；权限、重排和版本同步仍需服务层实现。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文档查询优先候选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</a:tr>
              <a:tr h="1047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Qdrant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命名向量、元数据过滤，适合多表示的向量检索服务。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全文引擎与向量服务可能分开；不负责 PDF 或音频原件的生命周期。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独立向量 PoC 候选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Milvus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多向量字段及融合搜索；适合文本、图像等向量组合。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部署形态、索引成本和过滤性能按真实负载测试；不自动产生多模态向量。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多向量需求明确时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</a:tr>
              <a:tr h="1047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Lance / LanceDB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多模态数据集、向量与训练数据读取；OSS 和企业版形态不同。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嵌入式库与企业服务不能混为一谈；多人在线访问、权限和部署模式需核验。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二期多模态 / 训练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OceanBase 原生 / PG + pgvector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复用关系查询或建立 PG 向量后端，减少部分数据链路。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OB 能力受版本约束；pgvector 要新增 PostgreSQL，不是 OB 插件。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作为整合路线 PoC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</a:tr>
            </a:tbl>
          </a:graphicData>
        </a:graphic>
      </p:graphicFrame>
      <p:sp>
        <p:nvSpPr>
          <p:cNvPr id="6" name="选择依据：授权过滤后的召回、图文对齐、更新 / 撤回一致性、索引重建、活跃并发和">
            <a:extLst xmlns:a="http://schemas.openxmlformats.org/drawingml/2006/main">
              <a:ext uri="{FF2B5EF4-FFF2-40B4-BE49-F238E27FC236}">
                <a16:creationId xmlns:a16="http://schemas.microsoft.com/office/drawing/2014/main" id="{2A9B8252-1878-4474-BA14-9151D4FB7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572500"/>
            <a:ext cx="16097250" cy="11430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EAF6F1"/>
          </a:solidFill>
          <a:ln xmlns:a="http://schemas.openxmlformats.org/drawingml/2006/main" w="13335">
            <a:solidFill>
              <a:srgbClr val="128D89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选择依据：授权过滤后的召回、图文对齐、更新 / 撤回一致性、索引重建、活跃并发和运维成本，不用统一向量数量阈值选型。</a:t>
            </a:r>
          </a:p>
        </p:txBody>
      </p:sp>
    </p:spTree>
    <p:extLst>
      <p:ext uri="{BB962C8B-B14F-4D97-AF65-F5344CB8AC3E}">
        <p14:creationId xmlns:p14="http://schemas.microsoft.com/office/powerpoint/2010/main" val="28007895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4C72DD-49C6-44AE-9E00-004F9454D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"/>
            <a:ext cx="1609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业务侧采集：不同入口的实施方案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305D00-529B-4923-9319-3180D8AAA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14400"/>
            <a:ext cx="1609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候选方案能力来自官方资料；适用判断与推荐为本项目建议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769E10-1E4E-401C-981C-638C043F6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096500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宁德时代香港研究院 · RSI 数据平台架构建议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B9F465-81B4-4BD5-A6B7-80A8C2A5C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1009650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523875" y="1809750"/>
          <a:ext xmlns:a="http://schemas.openxmlformats.org/drawingml/2006/main" cx="16097250" cy="6286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4953000"/>
                <a:gridCol w="4857750"/>
                <a:gridCol w="2857500"/>
              </a:tblGrid>
              <a:tr h="1257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方案</a:t>
                      </a:r>
                    </a:p>
                  </a:txBody>
                  <a:tcPr marL="161925" marR="161925" marT="95250" marB="95250" anchor="ctr">
                    <a:solidFill>
                      <a:srgbClr val="1268A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解决什么问题</a:t>
                      </a:r>
                    </a:p>
                  </a:txBody>
                  <a:tcPr marL="161925" marR="161925" marT="95250" marB="95250" anchor="ctr">
                    <a:solidFill>
                      <a:srgbClr val="1268A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新增成本 / 使用边界</a:t>
                      </a:r>
                    </a:p>
                  </a:txBody>
                  <a:tcPr marL="161925" marR="161925" marT="95250" marB="95250" anchor="ctr">
                    <a:solidFill>
                      <a:srgbClr val="1268A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本项目建议</a:t>
                      </a:r>
                    </a:p>
                  </a:txBody>
                  <a:tcPr marL="161925" marR="161925" marT="95250" marB="95250" anchor="ctr">
                    <a:solidFill>
                      <a:srgbClr val="1268AE"/>
                    </a:solidFill>
                  </a:tcPr>
                </a:tc>
              </a:tr>
              <a:tr h="1257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已有 Excel 脚本适配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补 import_batch、模板映射版本、源文件引用、幂等键和逐行错误。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盘点现有脚本；失败重跑不得重复写入；重要写入事务化。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一期保留并统一契约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</a:tr>
              <a:tr h="1257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页面 / API 填报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结构化模板、草稿、预校验、受限提交、修订旧值及附件。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与脚本使用同一单位和标识；写接口与查询只读身份分离。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一期建设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</a:tr>
              <a:tr h="1257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NAS 增量扫描 / 上传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快照扫描、内容 hash、覆盖版本判定、项目 ACL 映射与撤回事件。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扫描不是瞬时 CDC；活跃修改文件需稳定读取与重试策略。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一期接入主路径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</a:tr>
              <a:tr h="1257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仪器 / ELN / LIMS / CDC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外部接口或事件驱动采集，按业务时效补流式入口。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尚未确认已有系统；协议、标识、时序和保留规则需专门适配。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后续按数据源启用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业务采集统一输出：submission / import_batch / ass">
            <a:extLst xmlns:a="http://schemas.openxmlformats.org/drawingml/2006/main">
              <a:ext uri="{FF2B5EF4-FFF2-40B4-BE49-F238E27FC236}">
                <a16:creationId xmlns:a16="http://schemas.microsoft.com/office/drawing/2014/main" id="{8D666C4A-A6A8-4C83-968F-377C198BA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572500"/>
            <a:ext cx="16097250" cy="11430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EAF6F1"/>
          </a:solidFill>
          <a:ln xmlns:a="http://schemas.openxmlformats.org/drawingml/2006/main" w="13335">
            <a:solidFill>
              <a:srgbClr val="128D89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业务采集统一输出：submission / import_batch / asset_version / source_ref / quality_report / lineage_event；只对正式发布版本开放查询。</a:t>
            </a:r>
          </a:p>
        </p:txBody>
      </p:sp>
    </p:spTree>
    <p:extLst>
      <p:ext uri="{BB962C8B-B14F-4D97-AF65-F5344CB8AC3E}">
        <p14:creationId xmlns:p14="http://schemas.microsoft.com/office/powerpoint/2010/main" val="210407621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C74330-6552-455A-A105-832F82ECF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"/>
            <a:ext cx="1609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Agent 数据采集：埋点、导出与归档链路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C5370C-CC3A-46BC-9B86-912286EB8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14400"/>
            <a:ext cx="1609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统一事件契约优先于观测产品；公开请求、工具调用与结果按项目权限采集，不采集隐藏思维链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2D2F7A-E6DB-4598-BE86-09FA12E48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096500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宁德时代香港研究院 · RSI 数据平台架构建议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9093D4-937A-4A9E-BD02-FE246248F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1009650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5" name="SDK / 包装器埋点&#10;Agent / LLM / 工具">
            <a:extLst xmlns:a="http://schemas.openxmlformats.org/drawingml/2006/main">
              <a:ext uri="{FF2B5EF4-FFF2-40B4-BE49-F238E27FC236}">
                <a16:creationId xmlns:a16="http://schemas.microsoft.com/office/drawing/2014/main" id="{9F691CD4-5E41-4ED2-88AB-EEFF67060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190750"/>
            <a:ext cx="2952750" cy="1285875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4F0FB"/>
          </a:solidFill>
          <a:ln xmlns:a="http://schemas.openxmlformats.org/drawingml/2006/main" w="13335">
            <a:solidFill>
              <a:srgbClr val="7253AF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SDK / 包装器埋点</a:t>
            </a:r>
          </a:p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Agent / LLM / 工具</a:t>
            </a:r>
          </a:p>
        </p:txBody>
      </p:sp>
      <p:sp>
        <p:nvSpPr>
          <p:cNvPr id="6" name="Collector / 接收服务&#10;鉴权 / 脱敏 / 批量">
            <a:extLst xmlns:a="http://schemas.openxmlformats.org/drawingml/2006/main">
              <a:ext uri="{FF2B5EF4-FFF2-40B4-BE49-F238E27FC236}">
                <a16:creationId xmlns:a16="http://schemas.microsoft.com/office/drawing/2014/main" id="{1A8E85F2-C542-459A-9284-EBBBB8319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190750"/>
            <a:ext cx="2952750" cy="1285875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4F0FB"/>
          </a:solidFill>
          <a:ln xmlns:a="http://schemas.openxmlformats.org/drawingml/2006/main" w="13335">
            <a:solidFill>
              <a:srgbClr val="7253AF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Collector / 接收服务</a:t>
            </a:r>
          </a:p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鉴权 / 脱敏 / 批量</a:t>
            </a:r>
          </a:p>
        </p:txBody>
      </p:sp>
      <p:sp>
        <p:nvSpPr>
          <p:cNvPr id="7" name="队列与缓冲&#10;重试 / 防重 / 错误队列">
            <a:extLst xmlns:a="http://schemas.openxmlformats.org/drawingml/2006/main">
              <a:ext uri="{FF2B5EF4-FFF2-40B4-BE49-F238E27FC236}">
                <a16:creationId xmlns:a16="http://schemas.microsoft.com/office/drawing/2014/main" id="{19744EB4-EA94-45F2-A51F-A89CB914F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190750"/>
            <a:ext cx="2952750" cy="1285875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4F0FB"/>
          </a:solidFill>
          <a:ln xmlns:a="http://schemas.openxmlformats.org/drawingml/2006/main" w="13335">
            <a:solidFill>
              <a:srgbClr val="7253AF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队列与缓冲</a:t>
            </a:r>
          </a:p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重试 / 防重 / 错误队列</a:t>
            </a:r>
          </a:p>
        </p:txBody>
      </p:sp>
      <p:sp>
        <p:nvSpPr>
          <p:cNvPr id="8" name="观测工作台&#10;Phoenix 或 Langfuse">
            <a:extLst xmlns:a="http://schemas.openxmlformats.org/drawingml/2006/main">
              <a:ext uri="{FF2B5EF4-FFF2-40B4-BE49-F238E27FC236}">
                <a16:creationId xmlns:a16="http://schemas.microsoft.com/office/drawing/2014/main" id="{D8157A8A-A82A-4C07-9600-B7D13668B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190750"/>
            <a:ext cx="2952750" cy="1285875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4F0FB"/>
          </a:solidFill>
          <a:ln xmlns:a="http://schemas.openxmlformats.org/drawingml/2006/main" w="13335">
            <a:solidFill>
              <a:srgbClr val="7253AF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观测工作台</a:t>
            </a:r>
          </a:p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Phoenix 或 Langfuse</a:t>
            </a:r>
          </a:p>
        </p:txBody>
      </p:sp>
      <p:sp>
        <p:nvSpPr>
          <p:cNvPr id="9" name="独立归档与评测&#10;JSONL / Parquet / 附件">
            <a:extLst xmlns:a="http://schemas.openxmlformats.org/drawingml/2006/main">
              <a:ext uri="{FF2B5EF4-FFF2-40B4-BE49-F238E27FC236}">
                <a16:creationId xmlns:a16="http://schemas.microsoft.com/office/drawing/2014/main" id="{44AF4851-9758-4C8A-B087-9716092E5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68375" y="2190750"/>
            <a:ext cx="2952750" cy="1285875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4F0FB"/>
          </a:solidFill>
          <a:ln xmlns:a="http://schemas.openxmlformats.org/drawingml/2006/main" w="13335">
            <a:solidFill>
              <a:srgbClr val="7253AF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独立归档与评测</a:t>
            </a:r>
          </a:p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JSONL / Parquet / 附件</a:t>
            </a:r>
          </a:p>
        </p:txBody>
      </p:sp>
      <p:cxnSp>
        <p:nvCxnSpPr>
          <p:cNvPr id="31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476625" y="2833688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253AF"/>
            </a:solidFill>
            <a:prstDash val="solid"/>
            <a:tailEnd type="triangle" w="sm" len="sm"/>
          </a:ln>
        </p:spPr>
      </p:cxnSp>
      <p:cxnSp>
        <p:nvCxnSpPr>
          <p:cNvPr id="32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6762750" y="2833688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253AF"/>
            </a:solidFill>
            <a:prstDash val="solid"/>
            <a:tailEnd type="triangle" w="sm" len="sm"/>
          </a:ln>
        </p:spPr>
      </p:cxnSp>
      <p:cxnSp>
        <p:nvCxnSpPr>
          <p:cNvPr id="33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048875" y="2833688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253AF"/>
            </a:solidFill>
            <a:prstDash val="solid"/>
            <a:tailEnd type="triangle" w="sm" len="sm"/>
          </a:ln>
        </p:spPr>
      </p:cxnSp>
      <p:cxnSp>
        <p:nvCxnSpPr>
          <p:cNvPr id="34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13335000" y="2833688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253AF"/>
            </a:solidFill>
            <a:prstDash val="solid"/>
            <a:tailEnd type="triangle" w="sm" len="sm"/>
          </a:ln>
        </p:spPr>
      </p:cxnSp>
      <p:sp>
        <p:nvSpPr>
          <p:cNvPr id="14" name="哪些环节需要采集">
            <a:extLst xmlns:a="http://schemas.openxmlformats.org/drawingml/2006/main">
              <a:ext uri="{FF2B5EF4-FFF2-40B4-BE49-F238E27FC236}">
                <a16:creationId xmlns:a16="http://schemas.microsoft.com/office/drawing/2014/main" id="{952DBAB6-372B-4112-B977-F5CA6D3D7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095750"/>
            <a:ext cx="16097250" cy="5715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7253AF"/>
          </a:solidFill>
          <a:ln xmlns:a="http://schemas.openxmlformats.org/drawingml/2006/main" w="13335">
            <a:solidFill>
              <a:srgbClr val="7253AF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哪些环节需要采集</a:t>
            </a:r>
          </a:p>
        </p:txBody>
      </p:sp>
      <p:sp>
        <p:nvSpPr>
          <p:cNvPr id="15" name="任务 / 模型">
            <a:extLst xmlns:a="http://schemas.openxmlformats.org/drawingml/2006/main">
              <a:ext uri="{FF2B5EF4-FFF2-40B4-BE49-F238E27FC236}">
                <a16:creationId xmlns:a16="http://schemas.microsoft.com/office/drawing/2014/main" id="{6C5BEFF1-E41C-45C9-BC67-6B62944DE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095875"/>
            <a:ext cx="2857500" cy="990600"/>
          </a:xfrm>
          <a:prstGeom xmlns:a="http://schemas.openxmlformats.org/drawingml/2006/main" prst="roundRect">
            <a:avLst>
              <a:gd name="adj" fmla="val 4808"/>
            </a:avLst>
          </a:prstGeom>
          <a:solidFill xmlns:a="http://schemas.openxmlformats.org/drawingml/2006/main">
            <a:srgbClr val="F4F0FB"/>
          </a:solidFill>
          <a:ln xmlns:a="http://schemas.openxmlformats.org/drawingml/2006/main" w="13335">
            <a:solidFill>
              <a:srgbClr val="7253AF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任务 / 模型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27B87A-B402-44EF-B671-899BD92CA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5095875"/>
            <a:ext cx="12763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query_id、trace_id、span_id、parent_span_id、用户项目、模型标识、Prompt 版本、参数与结果状态。</a:t>
            </a:r>
          </a:p>
        </p:txBody>
      </p:sp>
      <p:sp>
        <p:nvSpPr>
          <p:cNvPr id="17" name="SQL / 检索 / 工具">
            <a:extLst xmlns:a="http://schemas.openxmlformats.org/drawingml/2006/main">
              <a:ext uri="{FF2B5EF4-FFF2-40B4-BE49-F238E27FC236}">
                <a16:creationId xmlns:a16="http://schemas.microsoft.com/office/drawing/2014/main" id="{9D01D4D7-5CFB-40C3-97E3-D70559C1E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353175"/>
            <a:ext cx="2857500" cy="990600"/>
          </a:xfrm>
          <a:prstGeom xmlns:a="http://schemas.openxmlformats.org/drawingml/2006/main" prst="roundRect">
            <a:avLst>
              <a:gd name="adj" fmla="val 4808"/>
            </a:avLst>
          </a:prstGeom>
          <a:solidFill xmlns:a="http://schemas.openxmlformats.org/drawingml/2006/main">
            <a:srgbClr val="F4F0FB"/>
          </a:solidFill>
          <a:ln xmlns:a="http://schemas.openxmlformats.org/drawingml/2006/main" w="13335">
            <a:solidFill>
              <a:srgbClr val="7253AF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SQL / 检索 / 工具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4A371B-8910-45D4-BA46-39BB3926A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6353175"/>
            <a:ext cx="12763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实际 SQL 引用、获准 Schema、工具版本、耗时、返回行数、证据 asset_version / chunk_id；凭据不进入日志。</a:t>
            </a:r>
          </a:p>
        </p:txBody>
      </p:sp>
      <p:sp>
        <p:nvSpPr>
          <p:cNvPr id="19" name="反馈 / 评测 / 制品">
            <a:extLst xmlns:a="http://schemas.openxmlformats.org/drawingml/2006/main">
              <a:ext uri="{FF2B5EF4-FFF2-40B4-BE49-F238E27FC236}">
                <a16:creationId xmlns:a16="http://schemas.microsoft.com/office/drawing/2014/main" id="{C4653F92-B2E2-4044-B4DD-23F8D6DA8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610475"/>
            <a:ext cx="2857500" cy="990600"/>
          </a:xfrm>
          <a:prstGeom xmlns:a="http://schemas.openxmlformats.org/drawingml/2006/main" prst="roundRect">
            <a:avLst>
              <a:gd name="adj" fmla="val 4808"/>
            </a:avLst>
          </a:prstGeom>
          <a:solidFill xmlns:a="http://schemas.openxmlformats.org/drawingml/2006/main">
            <a:srgbClr val="F4F0FB"/>
          </a:solidFill>
          <a:ln xmlns:a="http://schemas.openxmlformats.org/drawingml/2006/main" w="13335">
            <a:solidFill>
              <a:srgbClr val="7253AF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反馈 / 评测 / 制品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1CBB57-74F9-495E-ACF3-F503AA147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7610475"/>
            <a:ext cx="12763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专家纠正、失败分类、expected_refs、eval_run、candidate_id、code_commit、model_ref 与发布清单。</a:t>
            </a:r>
          </a:p>
        </p:txBody>
      </p:sp>
      <p:sp>
        <p:nvSpPr>
          <p:cNvPr id="21" name="业务审计 / 血缘事件采用可靠记录和对账；性能 Trace 可按策略采样。采样后">
            <a:extLst xmlns:a="http://schemas.openxmlformats.org/drawingml/2006/main">
              <a:ext uri="{FF2B5EF4-FFF2-40B4-BE49-F238E27FC236}">
                <a16:creationId xmlns:a16="http://schemas.microsoft.com/office/drawing/2014/main" id="{01A41D19-1B60-4F3C-A9A5-D5085F936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105900"/>
            <a:ext cx="16097250" cy="790575"/>
          </a:xfrm>
          <a:prstGeom xmlns:a="http://schemas.openxmlformats.org/drawingml/2006/main" prst="roundRect">
            <a:avLst>
              <a:gd name="adj" fmla="val 6024"/>
            </a:avLst>
          </a:prstGeom>
          <a:solidFill xmlns:a="http://schemas.openxmlformats.org/drawingml/2006/main">
            <a:srgbClr val="FFF3D9"/>
          </a:solidFill>
          <a:ln xmlns:a="http://schemas.openxmlformats.org/drawingml/2006/main" w="13335">
            <a:solidFill>
              <a:srgbClr val="C79332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业务审计 / 血缘事件采用可靠记录和对账；性能 Trace 可按策略采样。采样后的观测记录不能替代完整业务血缘。</a:t>
            </a:r>
          </a:p>
          <a:p xmlns:a="http://schemas.openxmlformats.org/drawingml/2006/main">
            <a:pPr algn="ctr">
              <a:def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统一 trace_id 不代表产品可直接双写：验证 OTLP / OpenInference / SDK 属性映射、模型服务协议与导出再导入。</a:t>
            </a:r>
          </a:p>
        </p:txBody>
      </p:sp>
    </p:spTree>
    <p:extLst>
      <p:ext uri="{BB962C8B-B14F-4D97-AF65-F5344CB8AC3E}">
        <p14:creationId xmlns:p14="http://schemas.microsoft.com/office/powerpoint/2010/main" val="48683388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8C75B7-6AEA-4D02-8030-CD4D6BF3D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"/>
            <a:ext cx="1609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Agent 轨迹：Langfuse、Phoenix 与 DuckDB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EF5CA5-045B-4AB1-83FE-E0FF2F88E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14400"/>
            <a:ext cx="1609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候选方案能力来自官方资料；适用判断与推荐为本项目建议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AF1D8E-91DE-47E7-B6CD-BAC394D23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096500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宁德时代香港研究院 · RSI 数据平台架构建议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6E4776-DA06-47C1-A97E-72532C662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1009650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523875" y="1809750"/>
          <a:ext xmlns:a="http://schemas.openxmlformats.org/drawingml/2006/main" cx="16097250" cy="6286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4953000"/>
                <a:gridCol w="4857750"/>
                <a:gridCol w="2857500"/>
              </a:tblGrid>
              <a:tr h="1257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方案</a:t>
                      </a:r>
                    </a:p>
                  </a:txBody>
                  <a:tcPr marL="161925" marR="161925" marT="95250" marB="95250" anchor="ctr">
                    <a:solidFill>
                      <a:srgbClr val="1268A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解决什么问题</a:t>
                      </a:r>
                    </a:p>
                  </a:txBody>
                  <a:tcPr marL="161925" marR="161925" marT="95250" marB="95250" anchor="ctr">
                    <a:solidFill>
                      <a:srgbClr val="1268A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新增成本 / 使用边界</a:t>
                      </a:r>
                    </a:p>
                  </a:txBody>
                  <a:tcPr marL="161925" marR="161925" marT="95250" marB="95250" anchor="ctr">
                    <a:solidFill>
                      <a:srgbClr val="1268A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本项目建议</a:t>
                      </a:r>
                    </a:p>
                  </a:txBody>
                  <a:tcPr marL="161925" marR="161925" marT="95250" marB="95250" anchor="ctr">
                    <a:solidFill>
                      <a:srgbClr val="1268AE"/>
                    </a:solidFill>
                  </a:tcPr>
                </a:tc>
              </a:tr>
              <a:tr h="1257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Langfuse 自托管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Trace、评分、数据集及 Prompt 工作台；面向统一 Agent 观测。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当前官方架构含 Postgres、ClickHouse、Redis/Valkey、S3；许可和 AD 接入按版本核验。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Prompt + 观测需求强时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</a:tr>
              <a:tr h="1257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Phoenix 自托管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轨迹采集与分析；支持 SQL 后端，适合排查检索 / 工具与评测问题。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本地 SQLite；官方建议生产多人场景用 PostgreSQL。需验证鉴权、AD 和数据权限。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较少存储依赖的 PoC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</a:tr>
              <a:tr h="1257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DuckDB + Parquet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离线 Trace 导出分析、错误聚合、样本构建和科研分析。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它是分析引擎；嵌入式多写线程在一个进程内，远程协议成熟度按安装版核验。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辅助分析，非主工作台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</a:tr>
              <a:tr h="1257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自建事件接收 + 业务目录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最小 Trace Schema、对象归档、查询链接与指标，复用现有基础。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工作台、评测和 Prompt 运营功能需要自研；维护负担随需求增长。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最小采集兜底方案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先统一采集，再用同一批真实轨迹比较 Phoenix 与 Langfuse，选择一">
            <a:extLst xmlns:a="http://schemas.openxmlformats.org/drawingml/2006/main">
              <a:ext uri="{FF2B5EF4-FFF2-40B4-BE49-F238E27FC236}">
                <a16:creationId xmlns:a16="http://schemas.microsoft.com/office/drawing/2014/main" id="{F9C75935-E62B-4DE5-BFDF-F8300841A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572500"/>
            <a:ext cx="16097250" cy="11430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EAF6F1"/>
          </a:solidFill>
          <a:ln xmlns:a="http://schemas.openxmlformats.org/drawingml/2006/main" w="13335">
            <a:solidFill>
              <a:srgbClr val="128D89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先统一采集，再用同一批真实轨迹比较 Phoenix 与 Langfuse，选择一个主工作台；DuckDB 做离线分析。不默认两套同时长期运行。</a:t>
            </a:r>
          </a:p>
        </p:txBody>
      </p:sp>
    </p:spTree>
    <p:extLst>
      <p:ext uri="{BB962C8B-B14F-4D97-AF65-F5344CB8AC3E}">
        <p14:creationId xmlns:p14="http://schemas.microsoft.com/office/powerpoint/2010/main" val="140599024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BEE742-12AD-4C10-A530-8AC86949A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"/>
            <a:ext cx="1609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Agent 记忆：状态、经验和技能分层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9DEB63-4AB8-4813-B905-0235CE6E1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14400"/>
            <a:ext cx="1609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知识库、会话 Checkpoint 和长期记忆的生命周期不同；向量只是召回索引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F23E47-E96F-4390-8E0E-DBB51E75A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096500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宁德时代香港研究院 · RSI 数据平台架构建议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A3E63A-B661-49AF-9812-8BE41C129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1009650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5" name="工作 / 会话状态">
            <a:extLst xmlns:a="http://schemas.openxmlformats.org/drawingml/2006/main">
              <a:ext uri="{FF2B5EF4-FFF2-40B4-BE49-F238E27FC236}">
                <a16:creationId xmlns:a16="http://schemas.microsoft.com/office/drawing/2014/main" id="{7F164A03-812D-4F9D-8DB2-F9CF49E3F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09750"/>
            <a:ext cx="2762250" cy="1485900"/>
          </a:xfrm>
          <a:prstGeom xmlns:a="http://schemas.openxmlformats.org/drawingml/2006/main" prst="roundRect">
            <a:avLst>
              <a:gd name="adj" fmla="val 3205"/>
            </a:avLst>
          </a:prstGeom>
          <a:solidFill xmlns:a="http://schemas.openxmlformats.org/drawingml/2006/main">
            <a:srgbClr val="7253AF"/>
          </a:solidFill>
          <a:ln xmlns:a="http://schemas.openxmlformats.org/drawingml/2006/main" w="13335">
            <a:solidFill>
              <a:srgbClr val="7253AF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工作 / 会话状态</a:t>
            </a:r>
          </a:p>
        </p:txBody>
      </p:sp>
      <p:sp>
        <p:nvSpPr>
          <p:cNvPr id="6" name="消息、任务中间状态、恢复位置&#10;thread_id / checkpoint_id">
            <a:extLst xmlns:a="http://schemas.openxmlformats.org/drawingml/2006/main">
              <a:ext uri="{FF2B5EF4-FFF2-40B4-BE49-F238E27FC236}">
                <a16:creationId xmlns:a16="http://schemas.microsoft.com/office/drawing/2014/main" id="{829F48D0-8084-42F9-8971-C0561A98D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1809750"/>
            <a:ext cx="5524500" cy="1485900"/>
          </a:xfrm>
          <a:prstGeom xmlns:a="http://schemas.openxmlformats.org/drawingml/2006/main" prst="roundRect">
            <a:avLst>
              <a:gd name="adj" fmla="val 3205"/>
            </a:avLst>
          </a:prstGeom>
          <a:solidFill xmlns:a="http://schemas.openxmlformats.org/drawingml/2006/main">
            <a:srgbClr val="F4F0FB"/>
          </a:solidFill>
          <a:ln xmlns:a="http://schemas.openxmlformats.org/drawingml/2006/main" w="13335">
            <a:solidFill>
              <a:srgbClr val="7253AF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消息、任务中间状态、恢复位置</a:t>
            </a:r>
          </a:p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thread_id / checkpoint_id / TTL</a:t>
            </a:r>
          </a:p>
        </p:txBody>
      </p:sp>
      <p:sp>
        <p:nvSpPr>
          <p:cNvPr id="7" name="持久化 Checkpointer；OceanBase 自定义适配或框架支持的数据">
            <a:extLst xmlns:a="http://schemas.openxmlformats.org/drawingml/2006/main">
              <a:ext uri="{FF2B5EF4-FFF2-40B4-BE49-F238E27FC236}">
                <a16:creationId xmlns:a16="http://schemas.microsoft.com/office/drawing/2014/main" id="{69E9B853-FCB7-4514-92A2-CA03B2C8E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1809750"/>
            <a:ext cx="7239000" cy="1485900"/>
          </a:xfrm>
          <a:prstGeom xmlns:a="http://schemas.openxmlformats.org/drawingml/2006/main" prst="roundRect">
            <a:avLst>
              <a:gd name="adj" fmla="val 3205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持久化 Checkpointer；OceanBase 自定义适配或框架支持的数据库</a:t>
            </a:r>
          </a:p>
          <a:p xmlns:a="http://schemas.openxmlformats.org/drawingml/2006/main">
            <a:pPr algn="ctr">
              <a:def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Redis 可作缓存；InMemory 只用于开发</a:t>
            </a:r>
          </a:p>
        </p:txBody>
      </p:sp>
      <p:sp>
        <p:nvSpPr>
          <p:cNvPr id="8" name="情景记忆">
            <a:extLst xmlns:a="http://schemas.openxmlformats.org/drawingml/2006/main">
              <a:ext uri="{FF2B5EF4-FFF2-40B4-BE49-F238E27FC236}">
                <a16:creationId xmlns:a16="http://schemas.microsoft.com/office/drawing/2014/main" id="{FE6B50D8-0789-457A-98A0-17333041D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619500"/>
            <a:ext cx="2762250" cy="1485900"/>
          </a:xfrm>
          <a:prstGeom xmlns:a="http://schemas.openxmlformats.org/drawingml/2006/main" prst="roundRect">
            <a:avLst>
              <a:gd name="adj" fmla="val 3205"/>
            </a:avLst>
          </a:prstGeom>
          <a:solidFill xmlns:a="http://schemas.openxmlformats.org/drawingml/2006/main">
            <a:srgbClr val="7253AF"/>
          </a:solidFill>
          <a:ln xmlns:a="http://schemas.openxmlformats.org/drawingml/2006/main" w="13335">
            <a:solidFill>
              <a:srgbClr val="7253AF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情景记忆</a:t>
            </a:r>
          </a:p>
        </p:txBody>
      </p:sp>
      <p:sp>
        <p:nvSpPr>
          <p:cNvPr id="9" name="任务发生经过、工具结果、成败与引用&#10;trace_ref / outcome / ">
            <a:extLst xmlns:a="http://schemas.openxmlformats.org/drawingml/2006/main">
              <a:ext uri="{FF2B5EF4-FFF2-40B4-BE49-F238E27FC236}">
                <a16:creationId xmlns:a16="http://schemas.microsoft.com/office/drawing/2014/main" id="{BD4034F1-4012-4244-A3DA-818DFEB15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619500"/>
            <a:ext cx="5524500" cy="1485900"/>
          </a:xfrm>
          <a:prstGeom xmlns:a="http://schemas.openxmlformats.org/drawingml/2006/main" prst="roundRect">
            <a:avLst>
              <a:gd name="adj" fmla="val 3205"/>
            </a:avLst>
          </a:prstGeom>
          <a:solidFill xmlns:a="http://schemas.openxmlformats.org/drawingml/2006/main">
            <a:srgbClr val="F4F0FB"/>
          </a:solidFill>
          <a:ln xmlns:a="http://schemas.openxmlformats.org/drawingml/2006/main" w="13335">
            <a:solidFill>
              <a:srgbClr val="7253AF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任务发生经过、工具结果、成败与引用</a:t>
            </a:r>
          </a:p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trace_ref / outcome / evidence_refs</a:t>
            </a:r>
          </a:p>
        </p:txBody>
      </p:sp>
      <p:sp>
        <p:nvSpPr>
          <p:cNvPr id="10" name="OceanBase 保存结构与生命周期；长文本存原件存储&#10;全文 / 向量索引按用">
            <a:extLst xmlns:a="http://schemas.openxmlformats.org/drawingml/2006/main">
              <a:ext uri="{FF2B5EF4-FFF2-40B4-BE49-F238E27FC236}">
                <a16:creationId xmlns:a16="http://schemas.microsoft.com/office/drawing/2014/main" id="{07E00959-3B18-4BA5-9D10-A17E4E583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619500"/>
            <a:ext cx="7239000" cy="1485900"/>
          </a:xfrm>
          <a:prstGeom xmlns:a="http://schemas.openxmlformats.org/drawingml/2006/main" prst="roundRect">
            <a:avLst>
              <a:gd name="adj" fmla="val 3205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OceanBase 保存结构与生命周期；长文本存原件存储</a:t>
            </a:r>
          </a:p>
          <a:p xmlns:a="http://schemas.openxmlformats.org/drawingml/2006/main">
            <a:pPr algn="ctr">
              <a:def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全文 / 向量索引按用户与项目召回</a:t>
            </a:r>
          </a:p>
        </p:txBody>
      </p:sp>
      <p:sp>
        <p:nvSpPr>
          <p:cNvPr id="11" name="语义 / 专家经验">
            <a:extLst xmlns:a="http://schemas.openxmlformats.org/drawingml/2006/main">
              <a:ext uri="{FF2B5EF4-FFF2-40B4-BE49-F238E27FC236}">
                <a16:creationId xmlns:a16="http://schemas.microsoft.com/office/drawing/2014/main" id="{B0474154-8000-4FB9-A37D-84FEBED9A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429250"/>
            <a:ext cx="2762250" cy="1485900"/>
          </a:xfrm>
          <a:prstGeom xmlns:a="http://schemas.openxmlformats.org/drawingml/2006/main" prst="roundRect">
            <a:avLst>
              <a:gd name="adj" fmla="val 3205"/>
            </a:avLst>
          </a:prstGeom>
          <a:solidFill xmlns:a="http://schemas.openxmlformats.org/drawingml/2006/main">
            <a:srgbClr val="7253AF"/>
          </a:solidFill>
          <a:ln xmlns:a="http://schemas.openxmlformats.org/drawingml/2006/main" w="13335">
            <a:solidFill>
              <a:srgbClr val="7253AF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语义 / 专家经验</a:t>
            </a:r>
          </a:p>
        </p:txBody>
      </p:sp>
      <p:sp>
        <p:nvSpPr>
          <p:cNvPr id="12" name="术语、已确认经验、适用条件和反例&#10;reviewer / valid_scope ">
            <a:extLst xmlns:a="http://schemas.openxmlformats.org/drawingml/2006/main">
              <a:ext uri="{FF2B5EF4-FFF2-40B4-BE49-F238E27FC236}">
                <a16:creationId xmlns:a16="http://schemas.microsoft.com/office/drawing/2014/main" id="{937D4FAA-B88F-49DC-8C53-D79989A5A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5429250"/>
            <a:ext cx="5524500" cy="1485900"/>
          </a:xfrm>
          <a:prstGeom xmlns:a="http://schemas.openxmlformats.org/drawingml/2006/main" prst="roundRect">
            <a:avLst>
              <a:gd name="adj" fmla="val 3205"/>
            </a:avLst>
          </a:prstGeom>
          <a:solidFill xmlns:a="http://schemas.openxmlformats.org/drawingml/2006/main">
            <a:srgbClr val="F4F0FB"/>
          </a:solidFill>
          <a:ln xmlns:a="http://schemas.openxmlformats.org/drawingml/2006/main" w="13335">
            <a:solidFill>
              <a:srgbClr val="7253AF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术语、已确认经验、适用条件和反例</a:t>
            </a:r>
          </a:p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reviewer / valid_scope / supersedes</a:t>
            </a:r>
          </a:p>
        </p:txBody>
      </p:sp>
      <p:sp>
        <p:nvSpPr>
          <p:cNvPr id="13" name="经验卡、审核与版本是权威记录；Mem0 可生成候选&#10;未经审核内容不直接发布为科研">
            <a:extLst xmlns:a="http://schemas.openxmlformats.org/drawingml/2006/main">
              <a:ext uri="{FF2B5EF4-FFF2-40B4-BE49-F238E27FC236}">
                <a16:creationId xmlns:a16="http://schemas.microsoft.com/office/drawing/2014/main" id="{5DB58892-1752-439F-B506-B4607EDE4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5429250"/>
            <a:ext cx="7239000" cy="1485900"/>
          </a:xfrm>
          <a:prstGeom xmlns:a="http://schemas.openxmlformats.org/drawingml/2006/main" prst="roundRect">
            <a:avLst>
              <a:gd name="adj" fmla="val 3205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经验卡、审核与版本是权威记录；Mem0 可生成候选</a:t>
            </a:r>
          </a:p>
          <a:p xmlns:a="http://schemas.openxmlformats.org/drawingml/2006/main">
            <a:pPr algn="ctr">
              <a:def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未经审核内容不直接发布为科研事实</a:t>
            </a:r>
          </a:p>
        </p:txBody>
      </p:sp>
      <p:sp>
        <p:nvSpPr>
          <p:cNvPr id="14" name="程序性记忆 / 技能">
            <a:extLst xmlns:a="http://schemas.openxmlformats.org/drawingml/2006/main">
              <a:ext uri="{FF2B5EF4-FFF2-40B4-BE49-F238E27FC236}">
                <a16:creationId xmlns:a16="http://schemas.microsoft.com/office/drawing/2014/main" id="{3B17FE9C-BC10-458F-B62F-92B8502FB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239000"/>
            <a:ext cx="2762250" cy="1485900"/>
          </a:xfrm>
          <a:prstGeom xmlns:a="http://schemas.openxmlformats.org/drawingml/2006/main" prst="roundRect">
            <a:avLst>
              <a:gd name="adj" fmla="val 3205"/>
            </a:avLst>
          </a:prstGeom>
          <a:solidFill xmlns:a="http://schemas.openxmlformats.org/drawingml/2006/main">
            <a:srgbClr val="7253AF"/>
          </a:solidFill>
          <a:ln xmlns:a="http://schemas.openxmlformats.org/drawingml/2006/main" w="13335">
            <a:solidFill>
              <a:srgbClr val="7253AF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程序性记忆 / 技能</a:t>
            </a:r>
          </a:p>
        </p:txBody>
      </p:sp>
      <p:sp>
        <p:nvSpPr>
          <p:cNvPr id="15" name="Prompt 模板、工具用法、可执行代码&#10;skill_version / com">
            <a:extLst xmlns:a="http://schemas.openxmlformats.org/drawingml/2006/main">
              <a:ext uri="{FF2B5EF4-FFF2-40B4-BE49-F238E27FC236}">
                <a16:creationId xmlns:a16="http://schemas.microsoft.com/office/drawing/2014/main" id="{7CAE23B0-50A7-407F-996C-41B24CC07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7239000"/>
            <a:ext cx="5524500" cy="1485900"/>
          </a:xfrm>
          <a:prstGeom xmlns:a="http://schemas.openxmlformats.org/drawingml/2006/main" prst="roundRect">
            <a:avLst>
              <a:gd name="adj" fmla="val 3205"/>
            </a:avLst>
          </a:prstGeom>
          <a:solidFill xmlns:a="http://schemas.openxmlformats.org/drawingml/2006/main">
            <a:srgbClr val="F4F0FB"/>
          </a:solidFill>
          <a:ln xmlns:a="http://schemas.openxmlformats.org/drawingml/2006/main" w="13335">
            <a:solidFill>
              <a:srgbClr val="7253AF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Prompt 模板、工具用法、可执行代码</a:t>
            </a:r>
          </a:p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skill_version / commit / tool_schema</a:t>
            </a:r>
          </a:p>
        </p:txBody>
      </p:sp>
      <p:sp>
        <p:nvSpPr>
          <p:cNvPr id="16" name="Git / 制品库保存执行版本；目录保存描述、权限和证据&#10;执行需沙箱与回归测试〔">
            <a:extLst xmlns:a="http://schemas.openxmlformats.org/drawingml/2006/main">
              <a:ext uri="{FF2B5EF4-FFF2-40B4-BE49-F238E27FC236}">
                <a16:creationId xmlns:a16="http://schemas.microsoft.com/office/drawing/2014/main" id="{0A76FBEC-199D-4641-9532-B39B42A37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7239000"/>
            <a:ext cx="7239000" cy="1485900"/>
          </a:xfrm>
          <a:prstGeom xmlns:a="http://schemas.openxmlformats.org/drawingml/2006/main" prst="roundRect">
            <a:avLst>
              <a:gd name="adj" fmla="val 3205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Git / 制品库保存执行版本；目录保存描述、权限和证据</a:t>
            </a:r>
          </a:p>
          <a:p xmlns:a="http://schemas.openxmlformats.org/drawingml/2006/main">
            <a:pPr algn="ctr">
              <a:def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执行需沙箱与回归测试〔后续〕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94CB61-9B6E-4C6F-8A75-D5E6580CD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372600"/>
            <a:ext cx="1609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共同要求：namespace = 用户 / 项目 / Agent，确认状态、证据、版本、过期时间、删除传播；记忆不能绕过源数据授权。</a:t>
            </a:r>
          </a:p>
        </p:txBody>
      </p:sp>
    </p:spTree>
    <p:extLst>
      <p:ext uri="{BB962C8B-B14F-4D97-AF65-F5344CB8AC3E}">
        <p14:creationId xmlns:p14="http://schemas.microsoft.com/office/powerpoint/2010/main" val="91454968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60D0B7-783C-4BC4-827C-B99D3B81B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"/>
            <a:ext cx="1609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记忆方案：自建、Mem0 与框架持久化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BA4D49-EA27-442C-A1C2-7ACBC0420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14400"/>
            <a:ext cx="1609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候选方案能力来自官方资料；适用判断与推荐为本项目建议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28A8D3-3BE1-47CF-A4E0-729FC0D00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096500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宁德时代香港研究院 · RSI 数据平台架构建议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38D166-FA13-493E-B9AB-D863A55E2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1009650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523875" y="1809750"/>
          <a:ext xmlns:a="http://schemas.openxmlformats.org/drawingml/2006/main" cx="16097250" cy="6286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4953000"/>
                <a:gridCol w="4857750"/>
                <a:gridCol w="2857500"/>
              </a:tblGrid>
              <a:tr h="1257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方案</a:t>
                      </a:r>
                    </a:p>
                  </a:txBody>
                  <a:tcPr marL="161925" marR="161925" marT="95250" marB="95250" anchor="ctr">
                    <a:solidFill>
                      <a:srgbClr val="1268A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解决什么问题</a:t>
                      </a:r>
                    </a:p>
                  </a:txBody>
                  <a:tcPr marL="161925" marR="161925" marT="95250" marB="95250" anchor="ctr">
                    <a:solidFill>
                      <a:srgbClr val="1268A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新增成本 / 使用边界</a:t>
                      </a:r>
                    </a:p>
                  </a:txBody>
                  <a:tcPr marL="161925" marR="161925" marT="95250" marB="95250" anchor="ctr">
                    <a:solidFill>
                      <a:srgbClr val="1268A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本项目建议</a:t>
                      </a:r>
                    </a:p>
                  </a:txBody>
                  <a:tcPr marL="161925" marR="161925" marT="95250" marB="95250" anchor="ctr">
                    <a:solidFill>
                      <a:srgbClr val="1268AE"/>
                    </a:solidFill>
                  </a:tcPr>
                </a:tc>
              </a:tr>
              <a:tr h="1257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自建记忆 API + OceanBase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状态与经验结构化管理，检索复用全文 / 向量；契合专家审核流程。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需开发提取、冲突、过期、删除、授权和召回策略。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一期权威记忆推荐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</a:tr>
              <a:tr h="1257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Mem0 OSS + 内网模型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以库或自托管服务部署，配置 LLM、embedding、向量后端；图记忆可选。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默认示例不等于适配内网模型；审核与项目隔离需补，图后端会新增依赖。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经验候选提取 PoC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</a:tr>
              <a:tr h="1257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LangGraph Checkpointer / Store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线程状态持久化与恢复，长期 Store 管理跨线程内容。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不是专家知识审批系统；框架官方 PG 适配不等于支持 OceanBase，需自定义或新增后端。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已有框架时复用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</a:tr>
              <a:tr h="1257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OpenAI Conversations 等托管接口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管理 OpenAI API 的会话状态；应用也可自管消息上下文。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托管 API 路径依赖外部服务；当前严格内网条件下不纳入生产方案。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仅作能力模式参考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一期先实现有证据和审核的记忆资产；自动总结生成候选，不覆盖专家意见。存储层、提取">
            <a:extLst xmlns:a="http://schemas.openxmlformats.org/drawingml/2006/main">
              <a:ext uri="{FF2B5EF4-FFF2-40B4-BE49-F238E27FC236}">
                <a16:creationId xmlns:a16="http://schemas.microsoft.com/office/drawing/2014/main" id="{193862DB-A1B1-467C-B5AD-F72CB9B80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572500"/>
            <a:ext cx="16097250" cy="11430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EAF6F1"/>
          </a:solidFill>
          <a:ln xmlns:a="http://schemas.openxmlformats.org/drawingml/2006/main" w="13335">
            <a:solidFill>
              <a:srgbClr val="128D89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一期先实现有证据和审核的记忆资产；自动总结生成候选，不覆盖专家意见。存储层、提取引擎与框架接口分开选型。</a:t>
            </a:r>
          </a:p>
        </p:txBody>
      </p:sp>
    </p:spTree>
    <p:extLst>
      <p:ext uri="{BB962C8B-B14F-4D97-AF65-F5344CB8AC3E}">
        <p14:creationId xmlns:p14="http://schemas.microsoft.com/office/powerpoint/2010/main" val="66219204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4F5FF9-BD37-4AC9-AB8B-030FC980B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"/>
            <a:ext cx="1609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自进化需要管理的完整数据资产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7D1824-3C71-4AA7-A691-85644614B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14400"/>
            <a:ext cx="1609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覆盖知识、工具与模型候选；新增资产按进化阶段启用，不要求一期开始训练模型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F4CF13-02A1-483A-8230-F94AD14F7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096500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宁德时代香港研究院 · RSI 数据平台架构建议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7D0D65-822E-41CC-82AD-EA85C9191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1009650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523875" y="1809750"/>
          <a:ext xmlns:a="http://schemas.openxmlformats.org/drawingml/2006/main" cx="16097250" cy="695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7048500"/>
                <a:gridCol w="6191250"/>
              </a:tblGrid>
              <a:tr h="993321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资产类型</a:t>
                      </a:r>
                    </a:p>
                  </a:txBody>
                  <a:tcPr marL="161925" marR="161925" marT="95250" marB="95250" anchor="ctr">
                    <a:solidFill>
                      <a:srgbClr val="1268A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保存内容</a:t>
                      </a:r>
                    </a:p>
                  </a:txBody>
                  <a:tcPr marL="161925" marR="161925" marT="95250" marB="95250" anchor="ctr">
                    <a:solidFill>
                      <a:srgbClr val="1268A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权威存储 / 管理方式</a:t>
                      </a:r>
                    </a:p>
                  </a:txBody>
                  <a:tcPr marL="161925" marR="161925" marT="95250" marB="95250" anchor="ctr">
                    <a:solidFill>
                      <a:srgbClr val="1268AE"/>
                    </a:solidFill>
                  </a:tcPr>
                </a:tc>
              </a:tr>
              <a:tr h="993321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源码与技能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源代码、工具 Schema、依赖锁文件、测试、构建日志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Git Commit + 内网制品库；目录登记 candidate_id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</a:tr>
              <a:tr h="993321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Prompt 与配置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模板、变量 Schema、模型参数、检索策略、路由和权限配置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Git / Prompt Registry；调用记录绑定不可变版本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</a:tr>
              <a:tr h="993321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模型权重 / Adapter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基础模型引用、权重、Tokenizer、Adapter、配置、校验清单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私有对象存储 / 受管文件；模型注册表引用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</a:tr>
              <a:tr h="993321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训练 Checkpoint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权重、优化器、调度器、步数及训练恢复状态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大文件存储 + run_id / step / manifest；运行区按需缓存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</a:tr>
              <a:tr h="993321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数据与评测快照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训练 / 开发 / 冻结测试集、标注、评分规则、逐题结果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Parquet / JSONL + 目录版本；答案与检索知识隔离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</a:tr>
              <a:tr h="993321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候选与发布证据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父候选、修改理由、运行、失败、批准、部署与回滚记录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OceanBase 候选目录 + MLflow / 流水线关联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E1EF70-D0E7-43D2-90DA-288D90A6A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229725"/>
            <a:ext cx="16097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28D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28D89"/>
                </a:solidFill>
                <a:latin typeface="Microsoft YaHei"/>
                <a:ea typeface="Microsoft YaHei"/>
                <a:cs typeface="Microsoft YaHei"/>
              </a:rPr>
              <a:t>一期登记版本和证据；后续打开技能 / 模型进化时，增加训练制品、沙箱执行与独立评测门禁。</a:t>
            </a:r>
          </a:p>
        </p:txBody>
      </p:sp>
    </p:spTree>
    <p:extLst>
      <p:ext uri="{BB962C8B-B14F-4D97-AF65-F5344CB8AC3E}">
        <p14:creationId xmlns:p14="http://schemas.microsoft.com/office/powerpoint/2010/main" val="162596067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308C6A-033E-4875-A383-5F422D866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"/>
            <a:ext cx="1609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代码、Prompt 与可执行制品选型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1D1330-939F-472E-A4B0-5A1EC304E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14400"/>
            <a:ext cx="1609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候选方案能力来自官方资料；适用判断与推荐为本项目建议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6B9D43-8676-4CDF-82AE-8FC581E6B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096500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宁德时代香港研究院 · RSI 数据平台架构建议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75B38F-AB96-4BAB-8E27-A26781AD3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1009650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523875" y="1809750"/>
          <a:ext xmlns:a="http://schemas.openxmlformats.org/drawingml/2006/main" cx="16097250" cy="6286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4953000"/>
                <a:gridCol w="4857750"/>
                <a:gridCol w="2857500"/>
              </a:tblGrid>
              <a:tr h="1257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方案</a:t>
                      </a:r>
                    </a:p>
                  </a:txBody>
                  <a:tcPr marL="161925" marR="161925" marT="95250" marB="95250" anchor="ctr">
                    <a:solidFill>
                      <a:srgbClr val="1268A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解决什么问题</a:t>
                      </a:r>
                    </a:p>
                  </a:txBody>
                  <a:tcPr marL="161925" marR="161925" marT="95250" marB="95250" anchor="ctr">
                    <a:solidFill>
                      <a:srgbClr val="1268A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新增成本 / 使用边界</a:t>
                      </a:r>
                    </a:p>
                  </a:txBody>
                  <a:tcPr marL="161925" marR="161925" marT="95250" marB="95250" anchor="ctr">
                    <a:solidFill>
                      <a:srgbClr val="1268A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本项目建议</a:t>
                      </a:r>
                    </a:p>
                  </a:txBody>
                  <a:tcPr marL="161925" marR="161925" marT="95250" marB="95250" anchor="ctr">
                    <a:solidFill>
                      <a:srgbClr val="1268AE"/>
                    </a:solidFill>
                  </a:tcPr>
                </a:tc>
              </a:tr>
              <a:tr h="1257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Git + 内网流水线 / 制品库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源码与小配置由 Commit 管理；镜像 / wheel / 包按版本和 digest 发布。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不把训练权重直接塞入普通 Git；公司是否已有 Git 服务仍需实施盘点。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基础必需，优先复用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</a:tr>
              <a:tr h="1257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Git 管理 Prompt + 配置发布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模板文本、变量、工具 Schema 共同评审；运行绑定版本。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需要简单注册、别名、评测和回滚入口；不能只记录“latest”。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一期最小方案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</a:tr>
              <a:tr h="1257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Langfuse Prompt 工作台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Prompt 版本与调用观测联接，适合非代码人员参与迭代。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已选 Langfuse 才有复用优势；内网模型调用、权限和许可证需验证。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随观测主平台选用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</a:tr>
              <a:tr h="1257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MLflow Prompt Registry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Prompt 注册、版本与实验关联，适合统一评测 / 模型治理。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新增 MLflow 或扩大其管理范围；避免与 Git / Langfuse 重复权威版本。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已有 MLflow 时优先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确定唯一权威版本与发布清单。工作台可读镜像或管理别名，发布时解析到固定 prom">
            <a:extLst xmlns:a="http://schemas.openxmlformats.org/drawingml/2006/main">
              <a:ext uri="{FF2B5EF4-FFF2-40B4-BE49-F238E27FC236}">
                <a16:creationId xmlns:a16="http://schemas.microsoft.com/office/drawing/2014/main" id="{799B823F-3E3F-4D6A-A2BE-5FC309EA6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572500"/>
            <a:ext cx="16097250" cy="11430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EAF6F1"/>
          </a:solidFill>
          <a:ln xmlns:a="http://schemas.openxmlformats.org/drawingml/2006/main" w="13335">
            <a:solidFill>
              <a:srgbClr val="128D89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确定唯一权威版本与发布清单。工作台可读镜像或管理别名，发布时解析到固定 prompt_version、code_commit 和 artifact_digest。</a:t>
            </a:r>
          </a:p>
        </p:txBody>
      </p:sp>
    </p:spTree>
    <p:extLst>
      <p:ext uri="{BB962C8B-B14F-4D97-AF65-F5344CB8AC3E}">
        <p14:creationId xmlns:p14="http://schemas.microsoft.com/office/powerpoint/2010/main" val="4044737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19D164-1703-4F58-810C-225801014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"/>
            <a:ext cx="1609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模型与训练 Checkpoint：存储管理选型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7B1DCC-3872-4F8E-BE2F-05A037829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14400"/>
            <a:ext cx="1609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候选方案能力来自官方资料；适用判断与推荐为本项目建议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F88EE5-E467-4D7A-90D4-2ADE09087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096500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宁德时代香港研究院 · RSI 数据平台架构建议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2D829A-740B-4ABD-BFA0-E8D3CB306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1009650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523875" y="1809750"/>
          <a:ext xmlns:a="http://schemas.openxmlformats.org/drawingml/2006/main" cx="16097250" cy="6286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4953000"/>
                <a:gridCol w="4857750"/>
                <a:gridCol w="2857500"/>
              </a:tblGrid>
              <a:tr h="1257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方案</a:t>
                      </a:r>
                    </a:p>
                  </a:txBody>
                  <a:tcPr marL="161925" marR="161925" marT="95250" marB="95250" anchor="ctr">
                    <a:solidFill>
                      <a:srgbClr val="1268A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解决什么问题</a:t>
                      </a:r>
                    </a:p>
                  </a:txBody>
                  <a:tcPr marL="161925" marR="161925" marT="95250" marB="95250" anchor="ctr">
                    <a:solidFill>
                      <a:srgbClr val="1268A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新增成本 / 使用边界</a:t>
                      </a:r>
                    </a:p>
                  </a:txBody>
                  <a:tcPr marL="161925" marR="161925" marT="95250" marB="95250" anchor="ctr">
                    <a:solidFill>
                      <a:srgbClr val="1268A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本项目建议</a:t>
                      </a:r>
                    </a:p>
                  </a:txBody>
                  <a:tcPr marL="161925" marR="161925" marT="95250" marB="95250" anchor="ctr">
                    <a:solidFill>
                      <a:srgbClr val="1268AE"/>
                    </a:solidFill>
                  </a:tcPr>
                </a:tc>
              </a:tr>
              <a:tr h="1257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私有对象存储 + 模型目录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模型、Tokenizer、Adapter、分片文件及 manifest 持久化；目录保存状态与引用。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上传原子性、hash 校验、生命周期、下载带宽和恢复需测试。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推荐制品保存基础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</a:tr>
              <a:tr h="1257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MLflow Registry + Artifact Store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Run、参数、指标、模型版本与大文件分离；可使用 S3 兼容或 NFS。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注册元数据需要后端；MySQL 支持不等于 OceanBase 已认证兼容；权限需端到端设计。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启用模型进化时 PoC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</a:tr>
              <a:tr h="1257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Git + DVC + 大文件存储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Git 保存数据 / 模型版本引用，实际大文件存远端或内网存储。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适合数据和代码共版；不等于在线模型发布、审批和观测平台。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训练数据版本候选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</a:tr>
              <a:tr h="1257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训练区 NAS / 并行文件系统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面向高吞吐续训和共享工作目录；按作业加载 / 写入快照。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适合作业热存储；权威归档和生命周期仍需目录与大文件存储。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高训练 IO 场景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区分三类：推理模型制品、训练恢复 Checkpoint、Agent 会话 Che">
            <a:extLst xmlns:a="http://schemas.openxmlformats.org/drawingml/2006/main">
              <a:ext uri="{FF2B5EF4-FFF2-40B4-BE49-F238E27FC236}">
                <a16:creationId xmlns:a16="http://schemas.microsoft.com/office/drawing/2014/main" id="{B42841EC-4A3F-49BC-AC83-5E7109769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572500"/>
            <a:ext cx="16097250" cy="11430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EAF6F1"/>
          </a:solidFill>
          <a:ln xmlns:a="http://schemas.openxmlformats.org/drawingml/2006/main" w="13335">
            <a:solidFill>
              <a:srgbClr val="128D89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区分三类：推理模型制品、训练恢复 Checkpoint、Agent 会话 Checkpoint。分别采用模型注册、训练 manifest 和状态持久化契约。</a:t>
            </a:r>
          </a:p>
        </p:txBody>
      </p:sp>
    </p:spTree>
    <p:extLst>
      <p:ext uri="{BB962C8B-B14F-4D97-AF65-F5344CB8AC3E}">
        <p14:creationId xmlns:p14="http://schemas.microsoft.com/office/powerpoint/2010/main" val="97795652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53608E-4D0D-44B2-9989-8C6455E02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"/>
            <a:ext cx="1609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统一元数据模型：业务与多模态资产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41A348-6EAA-4A97-8251-57777F65F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14400"/>
            <a:ext cx="1609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这里将“原数据”同时落实为原始文件保存和元数据登记；字段为设计草案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412D19-ABC8-4515-A3D3-12423C1FA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096500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宁德时代香港研究院 · RSI 数据平台架构建议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A06479-0E75-4B51-917A-03DB48568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1009650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523875" y="1809750"/>
          <a:ext xmlns:a="http://schemas.openxmlformats.org/drawingml/2006/main" cx="16097250" cy="695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8001000"/>
                <a:gridCol w="5143500"/>
              </a:tblGrid>
              <a:tr h="11588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实体 / 关系</a:t>
                      </a:r>
                    </a:p>
                  </a:txBody>
                  <a:tcPr marL="161925" marR="161925" marT="95250" marB="95250" anchor="ctr">
                    <a:solidFill>
                      <a:srgbClr val="1268A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核心字段</a:t>
                      </a:r>
                    </a:p>
                  </a:txBody>
                  <a:tcPr marL="161925" marR="161925" marT="95250" marB="95250" anchor="ctr">
                    <a:solidFill>
                      <a:srgbClr val="1268A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行为约束</a:t>
                      </a:r>
                    </a:p>
                  </a:txBody>
                  <a:tcPr marL="161925" marR="161925" marT="95250" marB="95250" anchor="ctr">
                    <a:solidFill>
                      <a:srgbClr val="1268AE"/>
                    </a:solidFill>
                  </a:tcPr>
                </a:tc>
              </a:tr>
              <a:tr h="11588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asset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asset_id、type、project、owner、classification、status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稳定逻辑身份；内容相同也不能合并不同项目权限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</a:tr>
              <a:tr h="11588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asset_version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version_id、parent_version、hash、storage_uri、mime、size、source_uri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原件不可静默覆盖；路径与 S3 Key 可变化，业务 ID 不变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</a:tr>
              <a:tr h="11588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source / observation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experiment_id、batch_id、cell_id、source_table、source_record、unit、method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原值 / 标准值并存；人工总表登记粒度、口径与确认人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</a:tr>
              <a:tr h="11588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segment / representation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segment_id、page / slide、bbox 或 start_ms / end_ms、text / object_ref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图像区域、音频时间段、文档表格定位回指定原件版本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</a:tr>
              <a:tr h="11588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processing / index_manifest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run_id、parser、chunker、embedding、dimension、index_ref、quality_ref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每次重处理产出新版本；撤回 / 修订关联索引与缓存更新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50BA7C-E183-4399-9FCF-8A86BAAA8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229725"/>
            <a:ext cx="16097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28D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28D89"/>
                </a:solidFill>
                <a:latin typeface="Microsoft YaHei"/>
                <a:ea typeface="Microsoft YaHei"/>
                <a:cs typeface="Microsoft YaHei"/>
              </a:rPr>
              <a:t>源权限继承到派生资产；下载与引用分别鉴权。对象 metadata / tags 用于辅助定位，关系目录承担统一业务查询与治理。</a:t>
            </a:r>
          </a:p>
        </p:txBody>
      </p:sp>
    </p:spTree>
    <p:extLst>
      <p:ext uri="{BB962C8B-B14F-4D97-AF65-F5344CB8AC3E}">
        <p14:creationId xmlns:p14="http://schemas.microsoft.com/office/powerpoint/2010/main" val="80178180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E49F50-4D81-44AB-8C9F-D8D32C22F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"/>
            <a:ext cx="1609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统一元数据模型：Agent 与进化资产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DC4B0B-C94B-4F08-A6FE-70911F193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14400"/>
            <a:ext cx="1609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Trace 详情可由观测产品管理；平台保留稳定索引、资产引用和发布依赖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A93F46-0E3B-445F-B555-22E4996C9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096500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宁德时代香港研究院 · RSI 数据平台架构建议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3F85AE-CCF4-4A8C-99A9-3BD7038DF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1009650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523875" y="1809750"/>
          <a:ext xmlns:a="http://schemas.openxmlformats.org/drawingml/2006/main" cx="16097250" cy="695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8001000"/>
                <a:gridCol w="5143500"/>
              </a:tblGrid>
              <a:tr h="11588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实体 / 关系</a:t>
                      </a:r>
                    </a:p>
                  </a:txBody>
                  <a:tcPr marL="161925" marR="161925" marT="95250" marB="95250" anchor="ctr">
                    <a:solidFill>
                      <a:srgbClr val="1268A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核心字段</a:t>
                      </a:r>
                    </a:p>
                  </a:txBody>
                  <a:tcPr marL="161925" marR="161925" marT="95250" marB="95250" anchor="ctr">
                    <a:solidFill>
                      <a:srgbClr val="1268A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血缘与治理要求</a:t>
                      </a:r>
                    </a:p>
                  </a:txBody>
                  <a:tcPr marL="161925" marR="161925" marT="95250" marB="95250" anchor="ctr">
                    <a:solidFill>
                      <a:srgbClr val="1268AE"/>
                    </a:solidFill>
                  </a:tcPr>
                </a:tc>
              </a:tr>
              <a:tr h="11588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agent_run / span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trace_id、span_id、parent_span、query_id、principal、project、tool / model / prompt_ref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关联公开调用与结果；观测平台 ID 保存为 external_ref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</a:tr>
              <a:tr h="11588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memory_item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memory_id、kind、namespace、source_refs、valid_scope、review_status、supersedes、TTL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候选 / 确认 / 冲突 / 失效；引用跟随源权限与删除策略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</a:tr>
              <a:tr h="11588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candidate / artifact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candidate_id、parent_ids、commit、prompt_ref、model_ref、artifact_digest、change_reason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记录分支与候选谱系；大文件由 manifest 关联完整性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</a:tr>
              <a:tr h="11588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training_checkpoint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training_run、step、base_model、dataset_snapshot、optimizer_ref、manifest、hashes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续训所需状态按训练框架保存；区别 Agent 状态快照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</a:tr>
              <a:tr h="11588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eval_run / release_manifest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dataset_snapshot、rubric_version、candidate_refs、results、approver、release、rollback_ref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冻结测试不可进入检索；发布固定依赖版本，回滚有证据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3C8C78-B12B-47D3-927B-6D3ACC87A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229725"/>
            <a:ext cx="16097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28D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28D89"/>
                </a:solidFill>
                <a:latin typeface="Microsoft YaHei"/>
                <a:ea typeface="Microsoft YaHei"/>
                <a:cs typeface="Microsoft YaHei"/>
              </a:rPr>
              <a:t>版本清单把代码、Prompt、模型、数据、索引和权限串成可复现的运行；元数据表具体物理设计按 OceanBase 版本和查询负载确定。</a:t>
            </a:r>
          </a:p>
        </p:txBody>
      </p:sp>
    </p:spTree>
    <p:extLst>
      <p:ext uri="{BB962C8B-B14F-4D97-AF65-F5344CB8AC3E}">
        <p14:creationId xmlns:p14="http://schemas.microsoft.com/office/powerpoint/2010/main" val="1204800420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EC8C4D-D9D2-43F2-97BD-97280E435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"/>
            <a:ext cx="1609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候选进化、数据血缘与发布闭环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7E027A-7A7E-4AEC-847A-78CE5E6F3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14400"/>
            <a:ext cx="1609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同一血缘模型覆盖业务加工与 Agent 候选；生成、评测和发布具有不同状态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CEB04E-634F-44CC-8A5B-B214616C1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096500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宁德时代香港研究院 · RSI 数据平台架构建议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3A6558-0A70-4646-A514-8C0FAC52E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1009650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  <p:sp>
        <p:nvSpPr>
          <p:cNvPr id="5" name="数据 / 专家反馈&#10;资产与快照引用">
            <a:extLst xmlns:a="http://schemas.openxmlformats.org/drawingml/2006/main">
              <a:ext uri="{FF2B5EF4-FFF2-40B4-BE49-F238E27FC236}">
                <a16:creationId xmlns:a16="http://schemas.microsoft.com/office/drawing/2014/main" id="{1CFF85A7-89A8-4C58-B47F-1D1975DD2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333625"/>
            <a:ext cx="2952750" cy="1285875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4F0FB"/>
          </a:solidFill>
          <a:ln xmlns:a="http://schemas.openxmlformats.org/drawingml/2006/main" w="13335">
            <a:solidFill>
              <a:srgbClr val="7253AF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数据 / 专家反馈</a:t>
            </a:r>
          </a:p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资产与快照引用</a:t>
            </a:r>
          </a:p>
        </p:txBody>
      </p:sp>
      <p:sp>
        <p:nvSpPr>
          <p:cNvPr id="6" name="候选变更&#10;Prompt / 技能 / 模型">
            <a:extLst xmlns:a="http://schemas.openxmlformats.org/drawingml/2006/main">
              <a:ext uri="{FF2B5EF4-FFF2-40B4-BE49-F238E27FC236}">
                <a16:creationId xmlns:a16="http://schemas.microsoft.com/office/drawing/2014/main" id="{53DC5E2B-B89F-47CB-9229-5B51E233D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333625"/>
            <a:ext cx="2952750" cy="1285875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4F0FB"/>
          </a:solidFill>
          <a:ln xmlns:a="http://schemas.openxmlformats.org/drawingml/2006/main" w="13335">
            <a:solidFill>
              <a:srgbClr val="7253AF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候选变更</a:t>
            </a:r>
          </a:p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Prompt / 技能 / 模型</a:t>
            </a:r>
          </a:p>
        </p:txBody>
      </p:sp>
      <p:sp>
        <p:nvSpPr>
          <p:cNvPr id="7" name="执行与评测&#10;沙箱 / 冻结测试">
            <a:extLst xmlns:a="http://schemas.openxmlformats.org/drawingml/2006/main">
              <a:ext uri="{FF2B5EF4-FFF2-40B4-BE49-F238E27FC236}">
                <a16:creationId xmlns:a16="http://schemas.microsoft.com/office/drawing/2014/main" id="{D91AD0A4-C6E8-4FCE-A376-E111C4B05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333625"/>
            <a:ext cx="2952750" cy="1285875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4F0FB"/>
          </a:solidFill>
          <a:ln xmlns:a="http://schemas.openxmlformats.org/drawingml/2006/main" w="13335">
            <a:solidFill>
              <a:srgbClr val="7253AF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执行与评测</a:t>
            </a:r>
          </a:p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沙箱 / 冻结测试</a:t>
            </a:r>
          </a:p>
        </p:txBody>
      </p:sp>
      <p:sp>
        <p:nvSpPr>
          <p:cNvPr id="8" name="批准发布&#10;固定依赖版本">
            <a:extLst xmlns:a="http://schemas.openxmlformats.org/drawingml/2006/main">
              <a:ext uri="{FF2B5EF4-FFF2-40B4-BE49-F238E27FC236}">
                <a16:creationId xmlns:a16="http://schemas.microsoft.com/office/drawing/2014/main" id="{155D067E-DCCF-43B5-97B3-D567AFB9E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333625"/>
            <a:ext cx="2952750" cy="1285875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4F0FB"/>
          </a:solidFill>
          <a:ln xmlns:a="http://schemas.openxmlformats.org/drawingml/2006/main" w="13335">
            <a:solidFill>
              <a:srgbClr val="7253AF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批准发布</a:t>
            </a:r>
          </a:p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固定依赖版本</a:t>
            </a:r>
          </a:p>
        </p:txBody>
      </p:sp>
      <p:sp>
        <p:nvSpPr>
          <p:cNvPr id="9" name="线上使用与反馈&#10;Trace / 错误 / 回滚">
            <a:extLst xmlns:a="http://schemas.openxmlformats.org/drawingml/2006/main">
              <a:ext uri="{FF2B5EF4-FFF2-40B4-BE49-F238E27FC236}">
                <a16:creationId xmlns:a16="http://schemas.microsoft.com/office/drawing/2014/main" id="{7ADD2373-E99C-43D2-9006-EF6AE047F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68375" y="2333625"/>
            <a:ext cx="2952750" cy="1285875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4F0FB"/>
          </a:solidFill>
          <a:ln xmlns:a="http://schemas.openxmlformats.org/drawingml/2006/main" w="13335">
            <a:solidFill>
              <a:srgbClr val="7253AF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线上使用与反馈</a:t>
            </a:r>
          </a:p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Trace / 错误 / 回滚</a:t>
            </a:r>
          </a:p>
        </p:txBody>
      </p:sp>
      <p:cxnSp>
        <p:nvCxnSpPr>
          <p:cNvPr id="31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476625" y="2976563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253AF"/>
            </a:solidFill>
            <a:prstDash val="solid"/>
            <a:tailEnd type="triangle" w="sm" len="sm"/>
          </a:ln>
        </p:spPr>
      </p:cxnSp>
      <p:cxnSp>
        <p:nvCxnSpPr>
          <p:cNvPr id="32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6762750" y="2976563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253AF"/>
            </a:solidFill>
            <a:prstDash val="solid"/>
            <a:tailEnd type="triangle" w="sm" len="sm"/>
          </a:ln>
        </p:spPr>
      </p:cxnSp>
      <p:cxnSp>
        <p:nvCxnSpPr>
          <p:cNvPr id="33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048875" y="2976563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253AF"/>
            </a:solidFill>
            <a:prstDash val="solid"/>
            <a:tailEnd type="triangle" w="sm" len="sm"/>
          </a:ln>
        </p:spPr>
      </p:cxnSp>
      <p:cxnSp>
        <p:nvCxnSpPr>
          <p:cNvPr id="34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13335000" y="2976563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253AF"/>
            </a:solidFill>
            <a:prstDash val="solid"/>
            <a:tailEnd type="triangle" w="sm" len="sm"/>
          </a:ln>
        </p:spPr>
      </p:cxnSp>
      <p:sp>
        <p:nvSpPr>
          <p:cNvPr id="14" name="候选谱系与运行版本清单">
            <a:extLst xmlns:a="http://schemas.openxmlformats.org/drawingml/2006/main">
              <a:ext uri="{FF2B5EF4-FFF2-40B4-BE49-F238E27FC236}">
                <a16:creationId xmlns:a16="http://schemas.microsoft.com/office/drawing/2014/main" id="{85E008D3-49BE-40A7-A5EC-EAC6F611A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400550"/>
            <a:ext cx="16097250" cy="523875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268AE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候选谱系与运行版本清单</a:t>
            </a:r>
          </a:p>
        </p:txBody>
      </p:sp>
      <p:sp>
        <p:nvSpPr>
          <p:cNvPr id="15" name="输入资产&#10;原件版本 / 实验视图&#10;已确认知识 / 数据快照">
            <a:extLst xmlns:a="http://schemas.openxmlformats.org/drawingml/2006/main">
              <a:ext uri="{FF2B5EF4-FFF2-40B4-BE49-F238E27FC236}">
                <a16:creationId xmlns:a16="http://schemas.microsoft.com/office/drawing/2014/main" id="{C496009D-98DB-40BB-A60E-8C53135FE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476875"/>
            <a:ext cx="3905250" cy="15240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EAF6F1"/>
          </a:solidFill>
          <a:ln xmlns:a="http://schemas.openxmlformats.org/drawingml/2006/main" w="13335">
            <a:solidFill>
              <a:srgbClr val="128D89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输入资产</a:t>
            </a:r>
          </a:p>
          <a:p xmlns:a="http://schemas.openxmlformats.org/drawingml/2006/main">
            <a:pPr algn="ctr">
              <a:defRPr sz="20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原件版本 / 实验视图</a:t>
            </a:r>
          </a:p>
          <a:p xmlns:a="http://schemas.openxmlformats.org/drawingml/2006/main">
            <a:pPr algn="ctr">
              <a:defRPr sz="20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已确认知识 / 数据快照</a:t>
            </a:r>
          </a:p>
        </p:txBody>
      </p:sp>
      <p:sp>
        <p:nvSpPr>
          <p:cNvPr id="16" name="候选执行 Run&#10;parent_candidate / commit&#10;Promp">
            <a:extLst xmlns:a="http://schemas.openxmlformats.org/drawingml/2006/main">
              <a:ext uri="{FF2B5EF4-FFF2-40B4-BE49-F238E27FC236}">
                <a16:creationId xmlns:a16="http://schemas.microsoft.com/office/drawing/2014/main" id="{03B72613-AB5A-460E-A563-C748801C1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476875"/>
            <a:ext cx="4191000" cy="15240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4F0FB"/>
          </a:solidFill>
          <a:ln xmlns:a="http://schemas.openxmlformats.org/drawingml/2006/main" w="13335">
            <a:solidFill>
              <a:srgbClr val="7253AF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候选执行 Run</a:t>
            </a:r>
          </a:p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parent_candidate / commit</a:t>
            </a:r>
          </a:p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Prompt / tool / model / index</a:t>
            </a:r>
          </a:p>
        </p:txBody>
      </p:sp>
      <p:sp>
        <p:nvSpPr>
          <p:cNvPr id="17" name="输出证据&#10;Trace / 结果 / 评测&#10;制品 digest / release">
            <a:extLst xmlns:a="http://schemas.openxmlformats.org/drawingml/2006/main">
              <a:ext uri="{FF2B5EF4-FFF2-40B4-BE49-F238E27FC236}">
                <a16:creationId xmlns:a16="http://schemas.microsoft.com/office/drawing/2014/main" id="{88B73A33-9DE0-46CC-9751-5DBF7D4C8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5476875"/>
            <a:ext cx="3857625" cy="15240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输出证据</a:t>
            </a:r>
          </a:p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Trace / 结果 / 评测</a:t>
            </a:r>
          </a:p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制品 digest / release_manifest</a:t>
            </a:r>
          </a:p>
        </p:txBody>
      </p:sp>
      <p:cxnSp>
        <p:nvCxnSpPr>
          <p:cNvPr id="39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4429125" y="6238875"/>
            <a:ext cx="2047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68AE"/>
            </a:solidFill>
            <a:prstDash val="solid"/>
            <a:tailEnd type="triangle" w="sm" len="sm"/>
          </a:ln>
        </p:spPr>
      </p:cxnSp>
      <p:cxnSp>
        <p:nvCxnSpPr>
          <p:cNvPr id="40" name=""/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10668000" y="6238875"/>
            <a:ext cx="2095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68AE"/>
            </a:solidFill>
            <a:prstDash val="solid"/>
            <a:tailEnd type="triangle" w="sm" len="sm"/>
          </a:ln>
        </p:spPr>
      </p:cxnSp>
      <p:sp>
        <p:nvSpPr>
          <p:cNvPr id="20" name="质量门禁：数据规则 + 证据支持 + 分题型评测 + 权限回归 + 制品完整性&#10;">
            <a:extLst xmlns:a="http://schemas.openxmlformats.org/drawingml/2006/main">
              <a:ext uri="{FF2B5EF4-FFF2-40B4-BE49-F238E27FC236}">
                <a16:creationId xmlns:a16="http://schemas.microsoft.com/office/drawing/2014/main" id="{79913B41-5420-4D38-8754-6C5CD6FE0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858125"/>
            <a:ext cx="16097250" cy="13335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EAF6F1"/>
          </a:solidFill>
          <a:ln xmlns:a="http://schemas.openxmlformats.org/drawingml/2006/main" w="13335">
            <a:solidFill>
              <a:srgbClr val="128D89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质量门禁：数据规则 + 证据支持 + 分题型评测 + 权限回归 + 制品完整性</a:t>
            </a:r>
          </a:p>
          <a:p xmlns:a="http://schemas.openxmlformats.org/drawingml/2006/main">
            <a:pPr algn="ctr">
              <a:defRPr sz="21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不通过 → 保存失败原因 / 回到候选；通过 → 发布固定版本；线上异常 → 回滚并沉淀失败样本。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F04C2D-037B-4217-A0CD-8B87D3F63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401175"/>
            <a:ext cx="1609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对象版本化、Git Commit 与观测 Trace 都是局部能力；跨资产可复现仍需 release_manifest 和统一来源引用。</a:t>
            </a:r>
          </a:p>
        </p:txBody>
      </p:sp>
    </p:spTree>
    <p:extLst>
      <p:ext uri="{BB962C8B-B14F-4D97-AF65-F5344CB8AC3E}">
        <p14:creationId xmlns:p14="http://schemas.microsoft.com/office/powerpoint/2010/main" val="174675763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49A1AD-7B28-433D-9BB0-F69A3F331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"/>
            <a:ext cx="1609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一期推荐组件组合与可扩展部署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3D1DE6-CE61-47B2-B6BB-70AEFBAC9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14400"/>
            <a:ext cx="1609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一个业务目录、一套正式原件存储、一个主要观测工作台；其他组件按数据缺口和进化阶段启用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563CFF-13F6-4DB4-9910-89EC98F11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096500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宁德时代香港研究院 · RSI 数据平台架构建议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489413-33C1-4E42-BEE5-8BB0D316D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1009650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  <p:sp>
        <p:nvSpPr>
          <p:cNvPr id="5" name="复用区">
            <a:extLst xmlns:a="http://schemas.openxmlformats.org/drawingml/2006/main">
              <a:ext uri="{FF2B5EF4-FFF2-40B4-BE49-F238E27FC236}">
                <a16:creationId xmlns:a16="http://schemas.microsoft.com/office/drawing/2014/main" id="{1353538C-B344-4D35-AD24-9729CE655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52625"/>
            <a:ext cx="5048250" cy="619125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268AE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复用区</a:t>
            </a:r>
          </a:p>
        </p:txBody>
      </p:sp>
      <p:sp>
        <p:nvSpPr>
          <p:cNvPr id="6" name="公司 AD / SSO&#10;OceanBase / 现有 Excel 脚本&#10;内网 L">
            <a:extLst xmlns:a="http://schemas.openxmlformats.org/drawingml/2006/main">
              <a:ext uri="{FF2B5EF4-FFF2-40B4-BE49-F238E27FC236}">
                <a16:creationId xmlns:a16="http://schemas.microsoft.com/office/drawing/2014/main" id="{9D7ADA2D-CBC9-49E0-A004-DF68C442D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762250"/>
            <a:ext cx="5048250" cy="2333625"/>
          </a:xfrm>
          <a:prstGeom xmlns:a="http://schemas.openxmlformats.org/drawingml/2006/main" prst="roundRect">
            <a:avLst>
              <a:gd name="adj" fmla="val 2041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公司 AD / SSO</a:t>
            </a:r>
          </a:p>
          <a:p xmlns:a="http://schemas.openxmlformats.org/drawingml/2006/main">
            <a:pPr algn="ctr">
              <a:defRPr sz="21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OceanBase / 现有 Excel 脚本</a:t>
            </a:r>
          </a:p>
          <a:p xmlns:a="http://schemas.openxmlformats.org/drawingml/2006/main">
            <a:pPr algn="ctr">
              <a:defRPr sz="21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内网 LLM 与文本 embedding</a:t>
            </a:r>
          </a:p>
        </p:txBody>
      </p:sp>
      <p:sp>
        <p:nvSpPr>
          <p:cNvPr id="7" name="平台建设区">
            <a:extLst xmlns:a="http://schemas.openxmlformats.org/drawingml/2006/main">
              <a:ext uri="{FF2B5EF4-FFF2-40B4-BE49-F238E27FC236}">
                <a16:creationId xmlns:a16="http://schemas.microsoft.com/office/drawing/2014/main" id="{3343B2F9-C9C8-4C67-A7C5-5DFA26699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952625"/>
            <a:ext cx="5048250" cy="619125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28D89"/>
          </a:solidFill>
          <a:ln xmlns:a="http://schemas.openxmlformats.org/drawingml/2006/main" w="13335">
            <a:solidFill>
              <a:srgbClr val="128D89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平台建设区</a:t>
            </a:r>
          </a:p>
        </p:txBody>
      </p:sp>
      <p:sp>
        <p:nvSpPr>
          <p:cNvPr id="8" name="统一 API / 填报与查询&#10;目录 / 元数据 / 血缘 / 质量&#10;原件接入与可">
            <a:extLst xmlns:a="http://schemas.openxmlformats.org/drawingml/2006/main">
              <a:ext uri="{FF2B5EF4-FFF2-40B4-BE49-F238E27FC236}">
                <a16:creationId xmlns:a16="http://schemas.microsoft.com/office/drawing/2014/main" id="{40F9A532-19D9-40C6-914B-DEAE7FCC3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762250"/>
            <a:ext cx="5048250" cy="2333625"/>
          </a:xfrm>
          <a:prstGeom xmlns:a="http://schemas.openxmlformats.org/drawingml/2006/main" prst="roundRect">
            <a:avLst>
              <a:gd name="adj" fmla="val 2041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3335">
            <a:solidFill>
              <a:srgbClr val="128D89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统一 API / 填报与查询</a:t>
            </a:r>
          </a:p>
          <a:p xmlns:a="http://schemas.openxmlformats.org/drawingml/2006/main">
            <a:pPr algn="ctr">
              <a:defRPr sz="21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目录 / 元数据 / 血缘 / 质量</a:t>
            </a:r>
          </a:p>
          <a:p xmlns:a="http://schemas.openxmlformats.org/drawingml/2006/main">
            <a:pPr algn="ctr">
              <a:defRPr sz="21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原件接入与可靠事件记录</a:t>
            </a:r>
          </a:p>
        </p:txBody>
      </p:sp>
      <p:sp>
        <p:nvSpPr>
          <p:cNvPr id="9" name="PoC 选型区">
            <a:extLst xmlns:a="http://schemas.openxmlformats.org/drawingml/2006/main">
              <a:ext uri="{FF2B5EF4-FFF2-40B4-BE49-F238E27FC236}">
                <a16:creationId xmlns:a16="http://schemas.microsoft.com/office/drawing/2014/main" id="{BA9FBC93-51C9-4466-8BC8-6772C0037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1952625"/>
            <a:ext cx="5048250" cy="619125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7253AF"/>
          </a:solidFill>
          <a:ln xmlns:a="http://schemas.openxmlformats.org/drawingml/2006/main" w="13335">
            <a:solidFill>
              <a:srgbClr val="7253AF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PoC 选型区</a:t>
            </a:r>
          </a:p>
        </p:txBody>
      </p:sp>
      <p:sp>
        <p:nvSpPr>
          <p:cNvPr id="10" name="NAS 受控副本 → 私有 S3&#10;OpenSearch / 向量候选&#10;Phoen">
            <a:extLst xmlns:a="http://schemas.openxmlformats.org/drawingml/2006/main">
              <a:ext uri="{FF2B5EF4-FFF2-40B4-BE49-F238E27FC236}">
                <a16:creationId xmlns:a16="http://schemas.microsoft.com/office/drawing/2014/main" id="{87463E52-002D-4413-807A-527343CB7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2762250"/>
            <a:ext cx="5048250" cy="2333625"/>
          </a:xfrm>
          <a:prstGeom xmlns:a="http://schemas.openxmlformats.org/drawingml/2006/main" prst="roundRect">
            <a:avLst>
              <a:gd name="adj" fmla="val 2041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3335">
            <a:solidFill>
              <a:srgbClr val="7253AF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NAS 受控副本 → 私有 S3</a:t>
            </a:r>
          </a:p>
          <a:p xmlns:a="http://schemas.openxmlformats.org/drawingml/2006/main">
            <a:pPr algn="ctr">
              <a:defRPr sz="21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OpenSearch / 向量候选</a:t>
            </a:r>
          </a:p>
          <a:p xmlns:a="http://schemas.openxmlformats.org/drawingml/2006/main">
            <a:pPr algn="ctr">
              <a:defRPr sz="21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Phoenix 与 Langfuse 择一</a:t>
            </a:r>
          </a:p>
        </p:txBody>
      </p:sp>
      <p:sp>
        <p:nvSpPr>
          <p:cNvPr id="11" name="独立存储与生命周期">
            <a:extLst xmlns:a="http://schemas.openxmlformats.org/drawingml/2006/main">
              <a:ext uri="{FF2B5EF4-FFF2-40B4-BE49-F238E27FC236}">
                <a16:creationId xmlns:a16="http://schemas.microsoft.com/office/drawing/2014/main" id="{4FD16544-0161-4D4E-B318-1A29433A0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762625"/>
            <a:ext cx="16097250" cy="619125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268AE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独立存储与生命周期</a:t>
            </a:r>
          </a:p>
        </p:txBody>
      </p:sp>
      <p:sp>
        <p:nvSpPr>
          <p:cNvPr id="12" name="业务原件&#10;raw / derived / media">
            <a:extLst xmlns:a="http://schemas.openxmlformats.org/drawingml/2006/main">
              <a:ext uri="{FF2B5EF4-FFF2-40B4-BE49-F238E27FC236}">
                <a16:creationId xmlns:a16="http://schemas.microsoft.com/office/drawing/2014/main" id="{24F4855F-0066-4AB9-AC9A-F9F6B4AE2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715125"/>
            <a:ext cx="5048250" cy="1381125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业务原件</a:t>
            </a:r>
          </a:p>
          <a:p xmlns:a="http://schemas.openxmlformats.org/drawingml/2006/main">
            <a:pPr algn="ctr">
              <a:defRPr sz="20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raw / derived / media</a:t>
            </a:r>
          </a:p>
        </p:txBody>
      </p:sp>
      <p:sp>
        <p:nvSpPr>
          <p:cNvPr id="13" name="轨迹和评测&#10;trace-archive / evaluation">
            <a:extLst xmlns:a="http://schemas.openxmlformats.org/drawingml/2006/main">
              <a:ext uri="{FF2B5EF4-FFF2-40B4-BE49-F238E27FC236}">
                <a16:creationId xmlns:a16="http://schemas.microsoft.com/office/drawing/2014/main" id="{BEF52026-E660-40F6-8AAD-7F1B13814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6715125"/>
            <a:ext cx="5048250" cy="1381125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轨迹和评测</a:t>
            </a:r>
          </a:p>
          <a:p xmlns:a="http://schemas.openxmlformats.org/drawingml/2006/main">
            <a:pPr algn="ctr">
              <a:defRPr sz="20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trace-archive / evaluation</a:t>
            </a:r>
          </a:p>
        </p:txBody>
      </p:sp>
      <p:sp>
        <p:nvSpPr>
          <p:cNvPr id="14" name="模型与快照〔后续〕&#10;model-artifacts / checkpoints">
            <a:extLst xmlns:a="http://schemas.openxmlformats.org/drawingml/2006/main">
              <a:ext uri="{FF2B5EF4-FFF2-40B4-BE49-F238E27FC236}">
                <a16:creationId xmlns:a16="http://schemas.microsoft.com/office/drawing/2014/main" id="{1D41B3E3-8BB9-41DD-8A94-BB08FE744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6715125"/>
            <a:ext cx="5048250" cy="1381125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模型与快照〔后续〕</a:t>
            </a:r>
          </a:p>
          <a:p xmlns:a="http://schemas.openxmlformats.org/drawingml/2006/main">
            <a:pPr algn="ctr">
              <a:defRPr sz="20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model-artifacts / checkpoints</a:t>
            </a:r>
          </a:p>
        </p:txBody>
      </p:sp>
      <p:sp>
        <p:nvSpPr>
          <p:cNvPr id="15" name="逻辑命名示例；是否独立桶由权限与保留规则决定。观测产品私有后端按官方要求部署，不">
            <a:extLst xmlns:a="http://schemas.openxmlformats.org/drawingml/2006/main">
              <a:ext uri="{FF2B5EF4-FFF2-40B4-BE49-F238E27FC236}">
                <a16:creationId xmlns:a16="http://schemas.microsoft.com/office/drawing/2014/main" id="{EB424F71-CCC8-4F46-96E1-4F1CEC8A0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743950"/>
            <a:ext cx="16097250" cy="1085850"/>
          </a:xfrm>
          <a:prstGeom xmlns:a="http://schemas.openxmlformats.org/drawingml/2006/main" prst="roundRect">
            <a:avLst>
              <a:gd name="adj" fmla="val 4386"/>
            </a:avLst>
          </a:prstGeom>
          <a:solidFill xmlns:a="http://schemas.openxmlformats.org/drawingml/2006/main">
            <a:srgbClr val="EAF6F1"/>
          </a:solidFill>
          <a:ln xmlns:a="http://schemas.openxmlformats.org/drawingml/2006/main" w="13335">
            <a:solidFill>
              <a:srgbClr val="128D89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逻辑命名示例；是否独立桶由权限与保留规则决定。观测产品私有后端按官方要求部署，不强改成 OceanBase。</a:t>
            </a:r>
          </a:p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Git / 制品库、MLflow、DVC 与训练热存储在对应阶段增加。所有服务运行于公司内网，外部 API 不进入生产主路径。</a:t>
            </a:r>
          </a:p>
        </p:txBody>
      </p:sp>
    </p:spTree>
    <p:extLst>
      <p:ext uri="{BB962C8B-B14F-4D97-AF65-F5344CB8AC3E}">
        <p14:creationId xmlns:p14="http://schemas.microsoft.com/office/powerpoint/2010/main" val="1325380801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5F787B-93F4-44A4-9DC5-D3679C199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"/>
            <a:ext cx="1609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选型验证与一期决策清单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D49BEF-915D-461F-BBC1-7AFAE83FE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14400"/>
            <a:ext cx="1609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使用同一批真实数据和轨迹作 PoC，先验证授权、数据正确性与可恢复性，再判断性能和运营成本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C99C66-7AD5-4F85-A695-121DC574C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096500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宁德时代香港研究院 · RSI 数据平台架构建议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3B7B7F-F21D-4AF8-A618-A45A43F96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1009650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25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523875" y="1809750"/>
          <a:ext xmlns:a="http://schemas.openxmlformats.org/drawingml/2006/main" cx="16097250" cy="6810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8001000"/>
                <a:gridCol w="5048250"/>
              </a:tblGrid>
              <a:tr h="11350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选型域</a:t>
                      </a:r>
                    </a:p>
                  </a:txBody>
                  <a:tcPr marL="161925" marR="161925" marT="95250" marB="95250" anchor="ctr">
                    <a:solidFill>
                      <a:srgbClr val="1268A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关键验证</a:t>
                      </a:r>
                    </a:p>
                  </a:txBody>
                  <a:tcPr marL="161925" marR="161925" marT="95250" marB="95250" anchor="ctr">
                    <a:solidFill>
                      <a:srgbClr val="1268A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建议决策</a:t>
                      </a:r>
                    </a:p>
                  </a:txBody>
                  <a:tcPr marL="161925" marR="161925" marT="95250" marB="95250" anchor="ctr">
                    <a:solidFill>
                      <a:srgbClr val="1268AE"/>
                    </a:solidFill>
                  </a:tcPr>
                </a:tc>
              </a:tr>
              <a:tr h="11350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结构化与查询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代表性表族、真实 JOIN / 口径、只读执行、昂贵查询隔离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 OceanBase；确认需增加的视图和语义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</a:tr>
              <a:tr h="11350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原件与多模态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NAS 覆盖 / 重命名、对象版本、下载撤权、恢复；扫描与音频证据定位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选受控原件路径；明确 OCR / ASR 模型缺口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</a:tr>
              <a:tr h="11350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检索与向量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权限过滤后召回、图文空间、更新 / 撤回传播与重建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选择一个一期检索组合，不同时建所有数据库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</a:tr>
              <a:tr h="11350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Trace 与记忆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真实 SDK 兼容、离线部署、AD / 项目权限、导出、状态恢复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Phoenix / Langfuse 主工作台择一；记忆审核先建设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</a:tr>
              <a:tr h="11350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制品与进化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Commit → 权重 → 快照 → 评测依赖完整；发布与回滚演练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先固定版本清单；模型训练阶段再增注册工具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</a:tr>
            </a:tbl>
          </a:graphicData>
        </a:graphic>
      </p:graphicFrame>
      <p:sp>
        <p:nvSpPr>
          <p:cNvPr id="6" name="产品许可、维护状态、离线升级和运维责任纳入选型；容量由文件体量、实际活跃并发、T">
            <a:extLst xmlns:a="http://schemas.openxmlformats.org/drawingml/2006/main">
              <a:ext uri="{FF2B5EF4-FFF2-40B4-BE49-F238E27FC236}">
                <a16:creationId xmlns:a16="http://schemas.microsoft.com/office/drawing/2014/main" id="{B9080D8F-7EC9-42F6-8BC4-BC497F84B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048750"/>
            <a:ext cx="16097250" cy="781050"/>
          </a:xfrm>
          <a:prstGeom xmlns:a="http://schemas.openxmlformats.org/drawingml/2006/main" prst="roundRect">
            <a:avLst>
              <a:gd name="adj" fmla="val 6098"/>
            </a:avLst>
          </a:prstGeom>
          <a:solidFill xmlns:a="http://schemas.openxmlformats.org/drawingml/2006/main">
            <a:srgbClr val="EAF6F1"/>
          </a:solidFill>
          <a:ln xmlns:a="http://schemas.openxmlformats.org/drawingml/2006/main" w="13335">
            <a:solidFill>
              <a:srgbClr val="128D89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产品许可、维护状态、离线升级和运维责任纳入选型；容量由文件体量、实际活跃并发、Trace 速率、模型大小与保留期测算。</a:t>
            </a:r>
          </a:p>
        </p:txBody>
      </p:sp>
    </p:spTree>
    <p:extLst>
      <p:ext uri="{BB962C8B-B14F-4D97-AF65-F5344CB8AC3E}">
        <p14:creationId xmlns:p14="http://schemas.microsoft.com/office/powerpoint/2010/main" val="705723929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FCCB6C-EE07-4E50-9F52-B17B4C466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"/>
            <a:ext cx="1609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选型资料与适用范围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C1AFEC-9AE4-44F4-8182-6C2CAB2AB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14400"/>
            <a:ext cx="1609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官方资料访问日期：2026-10-03；引用链接见备注，项目判断以 PoC 为准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34A14D-6536-45EA-AC7A-610CAFC7B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096500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宁德时代香港研究院 · RSI 数据平台架构建议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D301D6-D83D-4212-A5EF-D970B0DA4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1009650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26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523875" y="1666875"/>
          <a:ext xmlns:a="http://schemas.openxmlformats.org/drawingml/2006/main" cx="16097250" cy="8096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715000"/>
                <a:gridCol w="10382250"/>
              </a:tblGrid>
              <a:tr h="67468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资料</a:t>
                      </a:r>
                    </a:p>
                  </a:txBody>
                  <a:tcPr marL="161925" marR="161925" marT="95250" marB="95250" anchor="ctr">
                    <a:solidFill>
                      <a:srgbClr val="1268A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支持的能力与使用边界</a:t>
                      </a:r>
                    </a:p>
                  </a:txBody>
                  <a:tcPr marL="161925" marR="161925" marT="95250" marB="95250" anchor="ctr">
                    <a:solidFill>
                      <a:srgbClr val="1268AE"/>
                    </a:solidFill>
                  </a:tcPr>
                </a:tc>
              </a:tr>
              <a:tr h="67468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S23 Phoenix architecture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轨迹观测，SQLite 与 PostgreSQL 后端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</a:tr>
              <a:tr h="67468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S24 DuckDB concurrency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嵌入式写入模型；远程并发协议需按版本核验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</a:tr>
              <a:tr h="67468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S25 Ceph RGW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内网对象存储的 S3 / Swift 接口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</a:tr>
              <a:tr h="67468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S26 SeaweedFS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S3 与文件存储，可自部署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</a:tr>
              <a:tr h="67468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S27 MinIO maintenance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官方声明开源产品已于 2025-09 停止维护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</a:tr>
              <a:tr h="67468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S28 Milvus multi-vector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多向量字段与融合检索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</a:tr>
              <a:tr h="67468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S29 Qdrant vectors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命名向量及不同表示的管理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</a:tr>
              <a:tr h="67468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S30 LanceDB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Lance 格式与多模态；OSS / Enterprise 边界需区分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</a:tr>
              <a:tr h="67468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S31 Mem0 OSS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库或自托管服务，配置模型与向量后端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</a:tr>
              <a:tr h="67468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S32 LangGraph persistence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线程状态、Checkpoint 与运行恢复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</a:tr>
              <a:tr h="67468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S33 OpenAI conversation state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托管会话状态接口，非公司内网记忆数据库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594744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17D3D3-7422-4434-A6B8-66AE4E17A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"/>
            <a:ext cx="1609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选型资料与适用范围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49E85B-DD30-4F52-BE7F-8217612D3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14400"/>
            <a:ext cx="1609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官方资料访问日期：2026-10-03；引用链接见备注，项目判断以 PoC 为准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02FFAD-E676-4500-90A4-CAEF08F0C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096500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宁德时代香港研究院 · RSI 数据平台架构建议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374E86-44DD-4FCB-9316-0CD073FE8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1009650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27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523875" y="1666875"/>
          <a:ext xmlns:a="http://schemas.openxmlformats.org/drawingml/2006/main" cx="16097250" cy="8096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715000"/>
                <a:gridCol w="10382250"/>
              </a:tblGrid>
              <a:tr h="73602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资料</a:t>
                      </a:r>
                    </a:p>
                  </a:txBody>
                  <a:tcPr marL="161925" marR="161925" marT="95250" marB="95250" anchor="ctr">
                    <a:solidFill>
                      <a:srgbClr val="1268A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支持的能力与使用边界</a:t>
                      </a:r>
                    </a:p>
                  </a:txBody>
                  <a:tcPr marL="161925" marR="161925" marT="95250" marB="95250" anchor="ctr">
                    <a:solidFill>
                      <a:srgbClr val="1268AE"/>
                    </a:solidFill>
                  </a:tcPr>
                </a:tc>
              </a:tr>
              <a:tr h="73602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S34 MLflow artifacts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元数据与大文件存储分离，支持 S3 兼容与 NFS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</a:tr>
              <a:tr h="73602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S35 DVC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Git 中记录大文件版本引用，实际数据另存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</a:tr>
              <a:tr h="73602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S36 MLflow Prompt Registry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Prompt 版本与注册管理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</a:tr>
              <a:tr h="73602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S37 GitLab Registry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制品发布与流水线、Commit 关联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</a:tr>
              <a:tr h="73602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S38 OpenTelemetry Collector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采集、处理与导出遥测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</a:tr>
              <a:tr h="73602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S39 Docling formats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PDF / DOCX / PPTX 等解析支持，旧格式需转码验证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</a:tr>
              <a:tr h="73602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S40 Iceberg snapshots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分析数据快照与生命周期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</a:tr>
              <a:tr h="73602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S41 OceanBase vector SQL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4.3.5 文档介绍 MySQL 租户向量 SQL，现网版本需核验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</a:tr>
              <a:tr h="73602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S42 PyTorch Checkpoint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续训快照包含权重之外的优化器与训练状态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</a:tr>
              <a:tr h="73602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S43 ClickHouse columnar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面向聚合分析的列式存储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0193648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CEAB8F-F38E-4728-9C30-FF98BD2EE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"/>
            <a:ext cx="1609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统一元数据目录的维护边界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8C34D6-4EF0-4FFA-AC0C-D36D531CC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14400"/>
            <a:ext cx="1609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从零建设目录服务。业务和 Agent 适配器通过统一 API 登记，团队负责人维护业务语义与授权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712EBA-7983-4EFD-AC23-082E83824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096500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宁德时代香港研究院 · RSI 数据平台架构建议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EC17EB-DC1B-4637-B633-4041EB3E9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1009650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28</a:t>
            </a:r>
          </a:p>
        </p:txBody>
      </p:sp>
      <p:sp>
        <p:nvSpPr>
          <p:cNvPr id="5" name="接入生产者&#10;Excel / NAS / 填报&#10;Agent SDK / 其他平台">
            <a:extLst xmlns:a="http://schemas.openxmlformats.org/drawingml/2006/main">
              <a:ext uri="{FF2B5EF4-FFF2-40B4-BE49-F238E27FC236}">
                <a16:creationId xmlns:a16="http://schemas.microsoft.com/office/drawing/2014/main" id="{F8D55B1B-5B98-475B-BFA9-3F168511D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143125"/>
            <a:ext cx="3333750" cy="1381125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接入生产者</a:t>
            </a:r>
          </a:p>
          <a:p xmlns:a="http://schemas.openxmlformats.org/drawingml/2006/main">
            <a:pPr algn="ctr">
              <a:defRPr sz="21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Excel / NAS / 填报</a:t>
            </a:r>
          </a:p>
          <a:p xmlns:a="http://schemas.openxmlformats.org/drawingml/2006/main">
            <a:pPr algn="ctr">
              <a:defRPr sz="21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Agent SDK / 其他平台</a:t>
            </a:r>
          </a:p>
        </p:txBody>
      </p:sp>
      <p:sp>
        <p:nvSpPr>
          <p:cNvPr id="6" name="元数据与契约 API&#10;身份绑定 / Schema 校验&#10;版本登记 / 事件幂等">
            <a:extLst xmlns:a="http://schemas.openxmlformats.org/drawingml/2006/main">
              <a:ext uri="{FF2B5EF4-FFF2-40B4-BE49-F238E27FC236}">
                <a16:creationId xmlns:a16="http://schemas.microsoft.com/office/drawing/2014/main" id="{419D9C88-FC62-4D99-8E43-63D3EA36D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43125"/>
            <a:ext cx="4953000" cy="1381125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EAF6F1"/>
          </a:solidFill>
          <a:ln xmlns:a="http://schemas.openxmlformats.org/drawingml/2006/main" w="13335">
            <a:solidFill>
              <a:srgbClr val="128D89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元数据与契约 API</a:t>
            </a:r>
          </a:p>
          <a:p xmlns:a="http://schemas.openxmlformats.org/drawingml/2006/main">
            <a:pPr algn="ctr">
              <a:defRPr sz="21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身份绑定 / Schema 校验</a:t>
            </a:r>
          </a:p>
          <a:p xmlns:a="http://schemas.openxmlformats.org/drawingml/2006/main">
            <a:pPr algn="ctr">
              <a:defRPr sz="21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版本登记 / 事件幂等</a:t>
            </a:r>
          </a:p>
        </p:txBody>
      </p:sp>
      <p:sp>
        <p:nvSpPr>
          <p:cNvPr id="7" name="OceanBase 目录〔新建〕&#10;稳定资产 ID / 版本&#10;输入输出关系 / 质">
            <a:extLst xmlns:a="http://schemas.openxmlformats.org/drawingml/2006/main">
              <a:ext uri="{FF2B5EF4-FFF2-40B4-BE49-F238E27FC236}">
                <a16:creationId xmlns:a16="http://schemas.microsoft.com/office/drawing/2014/main" id="{393062A2-EAC6-4B38-A3E0-152CC45A9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2143125"/>
            <a:ext cx="5524500" cy="1381125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OceanBase 目录〔新建〕</a:t>
            </a:r>
          </a:p>
          <a:p xmlns:a="http://schemas.openxmlformats.org/drawingml/2006/main">
            <a:pPr algn="ctr">
              <a:defRPr sz="21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稳定资产 ID / 版本</a:t>
            </a:r>
          </a:p>
          <a:p xmlns:a="http://schemas.openxmlformats.org/drawingml/2006/main">
            <a:pPr algn="ctr">
              <a:defRPr sz="21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输入输出关系 / 质量结果</a:t>
            </a:r>
          </a:p>
        </p:txBody>
      </p:sp>
      <p:cxnSp>
        <p:nvCxnSpPr>
          <p:cNvPr id="19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857625" y="2833688"/>
            <a:ext cx="1095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68AE"/>
            </a:solidFill>
            <a:prstDash val="solid"/>
            <a:tailEnd type="triangle" w="sm" len="sm"/>
          </a:ln>
        </p:spPr>
      </p:cxnSp>
      <p:cxnSp>
        <p:nvCxnSpPr>
          <p:cNvPr id="20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9906000" y="2833688"/>
            <a:ext cx="1190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68AE"/>
            </a:solidFill>
            <a:prstDash val="solid"/>
            <a:tailEnd type="triangle" w="sm" len="sm"/>
          </a:ln>
        </p:spPr>
      </p:cxnSp>
      <p:graphicFrame>
        <p:nvGraphicFramePr>
          <p:cNvPr id="21" name=""/>
          <p:cNvGraphicFramePr/>
          <p:nvPr/>
        </p:nvGraphicFramePr>
        <p:xfrm>
          <a:off xmlns:a="http://schemas.openxmlformats.org/drawingml/2006/main" x="523875" y="4095750"/>
          <a:ext xmlns:a="http://schemas.openxmlformats.org/drawingml/2006/main" cx="16097250" cy="4333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381500"/>
                <a:gridCol w="6381750"/>
                <a:gridCol w="5334000"/>
              </a:tblGrid>
              <a:tr h="8667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维护对象</a:t>
                      </a:r>
                    </a:p>
                  </a:txBody>
                  <a:tcPr marL="161925" marR="161925" marT="95250" marB="95250" anchor="ctr">
                    <a:solidFill>
                      <a:srgbClr val="1268A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维护责任</a:t>
                      </a:r>
                    </a:p>
                  </a:txBody>
                  <a:tcPr marL="161925" marR="161925" marT="95250" marB="95250" anchor="ctr">
                    <a:solidFill>
                      <a:srgbClr val="1268A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权威位置</a:t>
                      </a:r>
                    </a:p>
                  </a:txBody>
                  <a:tcPr marL="161925" marR="161925" marT="95250" marB="95250" anchor="ctr">
                    <a:solidFill>
                      <a:srgbClr val="1268AE"/>
                    </a:solidFill>
                  </a:tcPr>
                </a:tc>
              </a:tr>
              <a:tr h="8667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资产身份、版本、定位与契约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平台服务写入，团队负责人确认归属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OceanBase 元数据目录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</a:tr>
              <a:tr h="8667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实验字段、单位、粒度与总表口径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业务负责人和专家审核，适配器执行映射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版本化团队数据契约与映射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</a:tr>
              <a:tr h="8667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轨迹、评测与调用详情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Agent 开发团队埋点，观测产品维护详情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Langfuse 后端，目录保存外部引用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</a:tr>
              <a:tr h="8667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记忆、Prompt、候选与发布清单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Agent 负责人审核，发布服务固定版本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目录 + Git / Registry + S3 引用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8E79CE-EA53-405F-9F86-A84CC60E1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953500"/>
            <a:ext cx="1609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28D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28D89"/>
                </a:solidFill>
                <a:latin typeface="Microsoft YaHei"/>
                <a:ea typeface="Microsoft YaHei"/>
                <a:cs typeface="Microsoft YaHei"/>
              </a:rPr>
              <a:t>存储 URI 与对象标签用于定位。统一目录承担跨资产查询、质量状态和影响分析；对象标签不替代目录表。</a:t>
            </a:r>
          </a:p>
        </p:txBody>
      </p:sp>
    </p:spTree>
    <p:extLst>
      <p:ext uri="{BB962C8B-B14F-4D97-AF65-F5344CB8AC3E}">
        <p14:creationId xmlns:p14="http://schemas.microsoft.com/office/powerpoint/2010/main" val="342387724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41A5BC-E20D-48C7-8606-1530DF60D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"/>
            <a:ext cx="1609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业务与 Agent 的元数据和血缘关联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198163-E3D3-4455-8EF5-1A2B08CDC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14400"/>
            <a:ext cx="1609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文件版本、实验记录和 Agent 运行使用不同标识，通过实际输入输出引用形成统一血缘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328166-DFE7-4D7A-9F21-5071285BC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096500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宁德时代香港研究院 · RSI 数据平台架构建议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B19C5F-65FA-4BA4-AF7B-E4B7A9BA3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1009650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29</a:t>
            </a:r>
          </a:p>
        </p:txBody>
      </p:sp>
      <p:sp>
        <p:nvSpPr>
          <p:cNvPr id="5" name="业务原件版本&#10;asset_version + hash">
            <a:extLst xmlns:a="http://schemas.openxmlformats.org/drawingml/2006/main">
              <a:ext uri="{FF2B5EF4-FFF2-40B4-BE49-F238E27FC236}">
                <a16:creationId xmlns:a16="http://schemas.microsoft.com/office/drawing/2014/main" id="{2E1813FB-B975-410F-82D5-7D08EB070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190750"/>
            <a:ext cx="2952750" cy="1285875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业务原件版本</a:t>
            </a:r>
          </a:p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asset_version + hash</a:t>
            </a:r>
          </a:p>
        </p:txBody>
      </p:sp>
      <p:sp>
        <p:nvSpPr>
          <p:cNvPr id="6" name="业务加工 Run&#10;映射 / 解析 / 校验">
            <a:extLst xmlns:a="http://schemas.openxmlformats.org/drawingml/2006/main">
              <a:ext uri="{FF2B5EF4-FFF2-40B4-BE49-F238E27FC236}">
                <a16:creationId xmlns:a16="http://schemas.microsoft.com/office/drawing/2014/main" id="{DFC7AACE-8C38-4C96-98F3-5440EFB24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190750"/>
            <a:ext cx="2952750" cy="1285875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业务加工 Run</a:t>
            </a:r>
          </a:p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映射 / 解析 / 校验</a:t>
            </a:r>
          </a:p>
        </p:txBody>
      </p:sp>
      <p:sp>
        <p:nvSpPr>
          <p:cNvPr id="7" name="已发布资产&#10;视图 / 片段 / 索引">
            <a:extLst xmlns:a="http://schemas.openxmlformats.org/drawingml/2006/main">
              <a:ext uri="{FF2B5EF4-FFF2-40B4-BE49-F238E27FC236}">
                <a16:creationId xmlns:a16="http://schemas.microsoft.com/office/drawing/2014/main" id="{A414DB09-FBB9-4102-8AB9-84FA45B79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190750"/>
            <a:ext cx="2952750" cy="1285875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已发布资产</a:t>
            </a:r>
          </a:p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视图 / 片段 / 索引</a:t>
            </a:r>
          </a:p>
        </p:txBody>
      </p:sp>
      <p:sp>
        <p:nvSpPr>
          <p:cNvPr id="8" name="Agent 查询 Run&#10;SQL / 检索 / 证据">
            <a:extLst xmlns:a="http://schemas.openxmlformats.org/drawingml/2006/main">
              <a:ext uri="{FF2B5EF4-FFF2-40B4-BE49-F238E27FC236}">
                <a16:creationId xmlns:a16="http://schemas.microsoft.com/office/drawing/2014/main" id="{0D99853D-224B-4B06-B7EA-5B8CBE4AF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190750"/>
            <a:ext cx="2952750" cy="1285875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Agent 查询 Run</a:t>
            </a:r>
          </a:p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SQL / 检索 / 证据</a:t>
            </a:r>
          </a:p>
        </p:txBody>
      </p:sp>
      <p:sp>
        <p:nvSpPr>
          <p:cNvPr id="9" name="反馈与候选&#10;记忆 / 评测 / 发布">
            <a:extLst xmlns:a="http://schemas.openxmlformats.org/drawingml/2006/main">
              <a:ext uri="{FF2B5EF4-FFF2-40B4-BE49-F238E27FC236}">
                <a16:creationId xmlns:a16="http://schemas.microsoft.com/office/drawing/2014/main" id="{4ABFC68A-2A98-4483-8CFC-9128C1578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68375" y="2190750"/>
            <a:ext cx="2952750" cy="1285875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反馈与候选</a:t>
            </a:r>
          </a:p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记忆 / 评测 / 发布</a:t>
            </a:r>
          </a:p>
        </p:txBody>
      </p:sp>
      <p:cxnSp>
        <p:nvCxnSpPr>
          <p:cNvPr id="27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476625" y="2833688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68AE"/>
            </a:solidFill>
            <a:prstDash val="solid"/>
            <a:tailEnd type="triangle" w="sm" len="sm"/>
          </a:ln>
        </p:spPr>
      </p:cxnSp>
      <p:cxnSp>
        <p:nvCxnSpPr>
          <p:cNvPr id="28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6762750" y="2833688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68AE"/>
            </a:solidFill>
            <a:prstDash val="solid"/>
            <a:tailEnd type="triangle" w="sm" len="sm"/>
          </a:ln>
        </p:spPr>
      </p:cxnSp>
      <p:cxnSp>
        <p:nvCxnSpPr>
          <p:cNvPr id="29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048875" y="2833688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68AE"/>
            </a:solidFill>
            <a:prstDash val="solid"/>
            <a:tailEnd type="triangle" w="sm" len="sm"/>
          </a:ln>
        </p:spPr>
      </p:cxnSp>
      <p:cxnSp>
        <p:nvCxnSpPr>
          <p:cNvPr id="30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13335000" y="2833688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68AE"/>
            </a:solidFill>
            <a:prstDash val="solid"/>
            <a:tailEnd type="triangle" w="sm" len="sm"/>
          </a:ln>
        </p:spPr>
      </p:cxnSp>
      <p:sp>
        <p:nvSpPr>
          <p:cNvPr id="14" name="业务侧最小元数据&#10;团队 / 项目 / 来源系统 / 负责人&#10;资产与记录版本 / ">
            <a:extLst xmlns:a="http://schemas.openxmlformats.org/drawingml/2006/main">
              <a:ext uri="{FF2B5EF4-FFF2-40B4-BE49-F238E27FC236}">
                <a16:creationId xmlns:a16="http://schemas.microsoft.com/office/drawing/2014/main" id="{0D69D335-A81A-4630-AB3B-E8478DEC1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191000"/>
            <a:ext cx="7667625" cy="2047875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EAF6F1"/>
          </a:solidFill>
          <a:ln xmlns:a="http://schemas.openxmlformats.org/drawingml/2006/main" w="13335">
            <a:solidFill>
              <a:srgbClr val="128D89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业务侧最小元数据</a:t>
            </a:r>
          </a:p>
          <a:p xmlns:a="http://schemas.openxmlformats.org/drawingml/2006/main">
            <a:pPr algn="ctr">
              <a:defRPr sz="21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团队 / 项目 / 来源系统 / 负责人</a:t>
            </a:r>
          </a:p>
          <a:p xmlns:a="http://schemas.openxmlformats.org/drawingml/2006/main">
            <a:pPr algn="ctr">
              <a:defRPr sz="21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资产与记录版本 / Schema / 粒度</a:t>
            </a:r>
          </a:p>
          <a:p xmlns:a="http://schemas.openxmlformats.org/drawingml/2006/main">
            <a:pPr algn="ctr">
              <a:defRPr sz="21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页码或单元格 / 单位 / 质量 / 权限</a:t>
            </a:r>
          </a:p>
        </p:txBody>
      </p:sp>
      <p:sp>
        <p:nvSpPr>
          <p:cNvPr id="15" name="Agent 侧最小元数据&#10;Agent / Run / Trace / 用户与项目">
            <a:extLst xmlns:a="http://schemas.openxmlformats.org/drawingml/2006/main">
              <a:ext uri="{FF2B5EF4-FFF2-40B4-BE49-F238E27FC236}">
                <a16:creationId xmlns:a16="http://schemas.microsoft.com/office/drawing/2014/main" id="{EEEC5AD2-3AAA-428B-9AAC-17AA3650D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191000"/>
            <a:ext cx="7667625" cy="2047875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4F0FB"/>
          </a:solidFill>
          <a:ln xmlns:a="http://schemas.openxmlformats.org/drawingml/2006/main" w="13335">
            <a:solidFill>
              <a:srgbClr val="7253AF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Agent 侧最小元数据</a:t>
            </a:r>
          </a:p>
          <a:p xmlns:a="http://schemas.openxmlformats.org/drawingml/2006/main">
            <a:pPr algn="ctr">
              <a:defRPr sz="21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Agent / Run / Trace / 用户与项目</a:t>
            </a:r>
          </a:p>
          <a:p xmlns:a="http://schemas.openxmlformats.org/drawingml/2006/main">
            <a:pPr algn="ctr">
              <a:defRPr sz="21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Prompt / 工具 / 模型 / 策略版本</a:t>
            </a:r>
          </a:p>
          <a:p xmlns:a="http://schemas.openxmlformats.org/drawingml/2006/main">
            <a:pPr algn="ctr">
              <a:defRPr sz="21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输入证据 / 输出 / 状态 / 反馈来源</a:t>
            </a:r>
          </a:p>
        </p:txBody>
      </p:sp>
      <p:sp>
        <p:nvSpPr>
          <p:cNvPr id="16" name="统一 lineage_edge：输入版本 + 处理 Run + 输出版本 + 关">
            <a:extLst xmlns:a="http://schemas.openxmlformats.org/drawingml/2006/main">
              <a:ext uri="{FF2B5EF4-FFF2-40B4-BE49-F238E27FC236}">
                <a16:creationId xmlns:a16="http://schemas.microsoft.com/office/drawing/2014/main" id="{903E99A3-10ED-4E2D-89B9-60CE8A6D3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000875"/>
            <a:ext cx="16097250" cy="1190625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统一 lineage_edge：输入版本 + 处理 Run + 输出版本 + 关系类型 + 证据位置 + 确认状态</a:t>
            </a:r>
          </a:p>
          <a:p xmlns:a="http://schemas.openxmlformats.org/drawingml/2006/main">
            <a:pPr algn="ctr">
              <a:defRPr sz="21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设计映射和实际执行分开保存。人工总表保留填报口径，历史关系缺失标记 unknown。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E94142-8940-4675-A172-0759D36E0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915400"/>
            <a:ext cx="16097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28D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28D89"/>
                </a:solidFill>
                <a:latin typeface="Microsoft YaHei"/>
                <a:ea typeface="Microsoft YaHei"/>
                <a:cs typeface="Microsoft YaHei"/>
              </a:rPr>
              <a:t>质量结果与血缘一起发布。源数据修订或撤权时，按依赖找到片段、索引、记忆、缓存与发布候选并失效或重建。</a:t>
            </a:r>
          </a:p>
        </p:txBody>
      </p:sp>
    </p:spTree>
    <p:extLst>
      <p:ext uri="{BB962C8B-B14F-4D97-AF65-F5344CB8AC3E}">
        <p14:creationId xmlns:p14="http://schemas.microsoft.com/office/powerpoint/2010/main" val="400769298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69BC5C-3EBB-405B-BE68-910BE4F42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"/>
            <a:ext cx="1609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多团队数据标准与接入准入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72EE4A-F073-40F3-B4CD-BD998DACA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14400"/>
            <a:ext cx="1609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平台共用规范，团队使用版本化数据契约扩展。业务接口、Agent 接口和文件入口执行同一准入流程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A6A6F6-B221-489B-8D6F-01E2C8446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096500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宁德时代香港研究院 · RSI 数据平台架构建议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0DEB53-3378-4EE1-AE0B-DDCA701BE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1009650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30</a:t>
            </a:r>
          </a:p>
        </p:txBody>
      </p:sp>
      <p:graphicFrame>
        <p:nvGraphicFramePr>
          <p:cNvPr id="20" name=""/>
          <p:cNvGraphicFramePr/>
          <p:nvPr/>
        </p:nvGraphicFramePr>
        <p:xfrm>
          <a:off xmlns:a="http://schemas.openxmlformats.org/drawingml/2006/main" x="523875" y="1905000"/>
          <a:ext xmlns:a="http://schemas.openxmlformats.org/drawingml/2006/main" cx="16097250" cy="4857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6858000"/>
                <a:gridCol w="6667500"/>
              </a:tblGrid>
              <a:tr h="9715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标准层</a:t>
                      </a:r>
                    </a:p>
                  </a:txBody>
                  <a:tcPr marL="161925" marR="161925" marT="95250" marB="95250" anchor="ctr">
                    <a:solidFill>
                      <a:srgbClr val="1268A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平台统一</a:t>
                      </a:r>
                    </a:p>
                  </a:txBody>
                  <a:tcPr marL="161925" marR="161925" marT="95250" marB="95250" anchor="ctr">
                    <a:solidFill>
                      <a:srgbClr val="1268A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团队适配</a:t>
                      </a:r>
                    </a:p>
                  </a:txBody>
                  <a:tcPr marL="161925" marR="161925" marT="95250" marB="95250" anchor="ctr">
                    <a:solidFill>
                      <a:srgbClr val="1268AE"/>
                    </a:solidFill>
                  </a:tcPr>
                </a:tc>
              </a:tr>
              <a:tr h="9715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身份与隔离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团队 / 项目 / 服务身份 / 资产 ID / 权限策略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负责人、AD 组映射、显式跨团队授权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</a:tr>
              <a:tr h="9715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数据契约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Schema 版本、时间、类型、生命周期、质量状态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实验模板、字段含义、单位、粒度与枚举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</a:tr>
              <a:tr h="9715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运行与血缘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Run / 输入输出版本 / 幂等事件 / 错误码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映射规则、SQL / 解析任务、Agent SDK 适配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</a:tr>
              <a:tr h="9715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业务与 Agent 扩展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命名空间化扩展、隔离未知字段、变更兼容校验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团队领域字段、工具 Schema、模型和 Prompt 版本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登记团队和生产者&#10;绑定服务身份与项目">
            <a:extLst xmlns:a="http://schemas.openxmlformats.org/drawingml/2006/main">
              <a:ext uri="{FF2B5EF4-FFF2-40B4-BE49-F238E27FC236}">
                <a16:creationId xmlns:a16="http://schemas.microsoft.com/office/drawing/2014/main" id="{BF4ED5BB-2FCD-4254-A7E3-64F991F5C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381875"/>
            <a:ext cx="2952750" cy="1285875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EAF6F1"/>
          </a:solidFill>
          <a:ln xmlns:a="http://schemas.openxmlformats.org/drawingml/2006/main" w="13335">
            <a:solidFill>
              <a:srgbClr val="128D89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登记团队和生产者</a:t>
            </a:r>
          </a:p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绑定服务身份与项目</a:t>
            </a:r>
          </a:p>
        </p:txBody>
      </p:sp>
      <p:sp>
        <p:nvSpPr>
          <p:cNvPr id="7" name="提交契约和适配器&#10;版本化 Schema / 映射">
            <a:extLst xmlns:a="http://schemas.openxmlformats.org/drawingml/2006/main">
              <a:ext uri="{FF2B5EF4-FFF2-40B4-BE49-F238E27FC236}">
                <a16:creationId xmlns:a16="http://schemas.microsoft.com/office/drawing/2014/main" id="{F4E64B56-7C3B-43AD-94AA-9CE8E007C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7381875"/>
            <a:ext cx="2952750" cy="1285875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EAF6F1"/>
          </a:solidFill>
          <a:ln xmlns:a="http://schemas.openxmlformats.org/drawingml/2006/main" w="13335">
            <a:solidFill>
              <a:srgbClr val="128D89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提交契约和适配器</a:t>
            </a:r>
          </a:p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版本化 Schema / 映射</a:t>
            </a:r>
          </a:p>
        </p:txBody>
      </p:sp>
      <p:sp>
        <p:nvSpPr>
          <p:cNvPr id="8" name="沙箱验证&#10;质量 / 权限 / 重试">
            <a:extLst xmlns:a="http://schemas.openxmlformats.org/drawingml/2006/main">
              <a:ext uri="{FF2B5EF4-FFF2-40B4-BE49-F238E27FC236}">
                <a16:creationId xmlns:a16="http://schemas.microsoft.com/office/drawing/2014/main" id="{0CE67693-B81B-49A1-84B7-57769CCB9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7381875"/>
            <a:ext cx="2952750" cy="1285875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EAF6F1"/>
          </a:solidFill>
          <a:ln xmlns:a="http://schemas.openxmlformats.org/drawingml/2006/main" w="13335">
            <a:solidFill>
              <a:srgbClr val="128D89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沙箱验证</a:t>
            </a:r>
          </a:p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质量 / 权限 / 重试</a:t>
            </a:r>
          </a:p>
        </p:txBody>
      </p:sp>
      <p:sp>
        <p:nvSpPr>
          <p:cNvPr id="9" name="准入登记&#10;写入身份 / 发布权限">
            <a:extLst xmlns:a="http://schemas.openxmlformats.org/drawingml/2006/main">
              <a:ext uri="{FF2B5EF4-FFF2-40B4-BE49-F238E27FC236}">
                <a16:creationId xmlns:a16="http://schemas.microsoft.com/office/drawing/2014/main" id="{CF74B625-3F4B-41C6-89A3-79521D22E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7381875"/>
            <a:ext cx="2952750" cy="1285875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EAF6F1"/>
          </a:solidFill>
          <a:ln xmlns:a="http://schemas.openxmlformats.org/drawingml/2006/main" w="13335">
            <a:solidFill>
              <a:srgbClr val="128D89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准入登记</a:t>
            </a:r>
          </a:p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写入身份 / 发布权限</a:t>
            </a:r>
          </a:p>
        </p:txBody>
      </p:sp>
      <p:sp>
        <p:nvSpPr>
          <p:cNvPr id="10" name="生产监控&#10;漂移 / 失败 / 撤权">
            <a:extLst xmlns:a="http://schemas.openxmlformats.org/drawingml/2006/main">
              <a:ext uri="{FF2B5EF4-FFF2-40B4-BE49-F238E27FC236}">
                <a16:creationId xmlns:a16="http://schemas.microsoft.com/office/drawing/2014/main" id="{E03AA6D3-4BF1-4DAE-8129-FE79A5B4B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68375" y="7381875"/>
            <a:ext cx="2952750" cy="1285875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EAF6F1"/>
          </a:solidFill>
          <a:ln xmlns:a="http://schemas.openxmlformats.org/drawingml/2006/main" w="13335">
            <a:solidFill>
              <a:srgbClr val="128D89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生产监控</a:t>
            </a:r>
          </a:p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漂移 / 失败 / 撤权</a:t>
            </a:r>
          </a:p>
        </p:txBody>
      </p:sp>
      <p:cxnSp>
        <p:nvCxnSpPr>
          <p:cNvPr id="26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476625" y="8024813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8D89"/>
            </a:solidFill>
            <a:prstDash val="solid"/>
            <a:tailEnd type="triangle" w="sm" len="sm"/>
          </a:ln>
        </p:spPr>
      </p:cxnSp>
      <p:cxnSp>
        <p:nvCxnSpPr>
          <p:cNvPr id="27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6762750" y="8024813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8D89"/>
            </a:solidFill>
            <a:prstDash val="solid"/>
            <a:tailEnd type="triangle" w="sm" len="sm"/>
          </a:ln>
        </p:spPr>
      </p:cxnSp>
      <p:cxnSp>
        <p:nvCxnSpPr>
          <p:cNvPr id="28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10048875" y="8024813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8D89"/>
            </a:solidFill>
            <a:prstDash val="solid"/>
            <a:tailEnd type="triangle" w="sm" len="sm"/>
          </a:ln>
        </p:spPr>
      </p:cxnSp>
      <p:cxnSp>
        <p:nvCxnSpPr>
          <p:cNvPr id="29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13335000" y="8024813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8D89"/>
            </a:solidFill>
            <a:prstDash val="solid"/>
            <a:tailEnd type="triangle" w="sm" len="sm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E338B1-BD0D-4EC8-8F77-438745534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010650"/>
            <a:ext cx="16097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禁止生产者仅凭请求中的 team_id 越权写入。平台从认证身份解析可用项目，再校验请求范围和源权限。</a:t>
            </a:r>
          </a:p>
        </p:txBody>
      </p:sp>
    </p:spTree>
    <p:extLst>
      <p:ext uri="{BB962C8B-B14F-4D97-AF65-F5344CB8AC3E}">
        <p14:creationId xmlns:p14="http://schemas.microsoft.com/office/powerpoint/2010/main" val="1684454351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F55605-2B01-4569-AC94-B9DA21AEF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"/>
            <a:ext cx="1609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元数据从零建设与准入验收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CF7409-D57B-4A42-878A-8461D5B70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14400"/>
            <a:ext cx="1609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先纳管存量和查询证据，再扩展到其他团队与自进化资产。各阶段保留失败原因与处理责任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4E4076-F4A4-45D3-AA28-23BFC96A1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096500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宁德时代香港研究院 · RSI 数据平台架构建议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19726D-61F9-4121-8E70-D03E40E9E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1009650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31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523875" y="2000250"/>
          <a:ext xmlns:a="http://schemas.openxmlformats.org/drawingml/2006/main" cx="16097250" cy="6762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7239000"/>
                <a:gridCol w="6286500"/>
              </a:tblGrid>
              <a:tr h="11271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阶段</a:t>
                      </a:r>
                    </a:p>
                  </a:txBody>
                  <a:tcPr marL="161925" marR="161925" marT="95250" marB="95250" anchor="ctr">
                    <a:solidFill>
                      <a:srgbClr val="1268A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落地内容</a:t>
                      </a:r>
                    </a:p>
                  </a:txBody>
                  <a:tcPr marL="161925" marR="161925" marT="95250" marB="95250" anchor="ctr">
                    <a:solidFill>
                      <a:srgbClr val="1268A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验收证据</a:t>
                      </a:r>
                    </a:p>
                  </a:txBody>
                  <a:tcPr marL="161925" marR="161925" marT="95250" marB="95250" anchor="ctr">
                    <a:solidFill>
                      <a:srgbClr val="1268AE"/>
                    </a:solidFill>
                  </a:tcPr>
                </a:tc>
              </a:tr>
              <a:tr h="11271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一期基础目录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盘点 3000 张表和 NAS，登记团队、来源、资产、版本和负责人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结构目录自动采集完成，代表性表族业务语义已确认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</a:tr>
              <a:tr h="11271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一期可靠采集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接入契约、原件副本、入库 Outbox、加工事件、质量隔离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重复和乱序可处理，崩溃重启可对账，原件可恢复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</a:tr>
              <a:tr h="11271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一期统一查询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批准视图、授权索引、Langfuse PoC、证据关联和人工反馈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从答案回到真实表 / 记录或原件位置，撤权后检索和下载拒绝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</a:tr>
              <a:tr h="11271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扩展团队接入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团队契约模板、适配器规范、服务账号、沙箱准入和变更管理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另一团队使用独立字段与策略接入，跨团队隔离通过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</a:tr>
              <a:tr h="11271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后续进化资产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候选谱系、Git / Prompt / 模型 manifest、冻结评测与回滚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发布依赖固定，失败候选留档，指定版本可复现或说明限制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678F39-309C-46EA-9BC6-11707350B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096375"/>
            <a:ext cx="1609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28D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28D89"/>
                </a:solidFill>
                <a:latin typeface="Microsoft YaHei"/>
                <a:ea typeface="Microsoft YaHei"/>
                <a:cs typeface="Microsoft YaHei"/>
              </a:rPr>
              <a:t>接入规范作为平台设计的一部分实施。契约、阈值与保留期由项目负责人登记，不把本建议稿视为已生效的公司制度。</a:t>
            </a:r>
          </a:p>
        </p:txBody>
      </p:sp>
    </p:spTree>
    <p:extLst>
      <p:ext uri="{BB962C8B-B14F-4D97-AF65-F5344CB8AC3E}">
        <p14:creationId xmlns:p14="http://schemas.microsoft.com/office/powerpoint/2010/main" val="2284037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2026-10-03T10:59:24.1550000Z</dcterms:created>
  <dcterms:modified xsi:type="dcterms:W3CDTF">2026-10-03T10:59:24.1550000Z</dcterms:modified>
</coreProperties>
</file>