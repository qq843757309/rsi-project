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b8dcccae6e4381" /><Relationship Type="http://schemas.openxmlformats.org/officeDocument/2006/relationships/extended-properties" Target="/docProps/app.xml" Id="Rece6e77ba68d4540" /><Relationship Type="http://schemas.openxmlformats.org/officeDocument/2006/relationships/officeDocument" Target="/ppt/presentation.xml" Id="R4120456959ec43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8d3e8e74a7459d"/>
  </p:sldMasterIdLst>
  <p:notesMasterIdLst>
    <p:notesMasterId xmlns:r="http://schemas.openxmlformats.org/officeDocument/2006/relationships" r:id="R28da5c22f83e442d"/>
  </p:notesMasterIdLst>
  <p:sldIdLst>
    <p:sldId xmlns:r="http://schemas.openxmlformats.org/officeDocument/2006/relationships" id="256" r:id="R0e4bf1a6e59a414a"/>
    <p:sldId xmlns:r="http://schemas.openxmlformats.org/officeDocument/2006/relationships" id="257" r:id="Rc6a798e0ce1d4057"/>
    <p:sldId xmlns:r="http://schemas.openxmlformats.org/officeDocument/2006/relationships" id="258" r:id="R558b9acac2f849e8"/>
    <p:sldId xmlns:r="http://schemas.openxmlformats.org/officeDocument/2006/relationships" id="259" r:id="R63168c27694d4d2d"/>
    <p:sldId xmlns:r="http://schemas.openxmlformats.org/officeDocument/2006/relationships" id="260" r:id="R4236f1b5b92f4f9a"/>
    <p:sldId xmlns:r="http://schemas.openxmlformats.org/officeDocument/2006/relationships" id="261" r:id="R03175e99803a4c35"/>
    <p:sldId xmlns:r="http://schemas.openxmlformats.org/officeDocument/2006/relationships" id="262" r:id="Rb25623da906a46cc"/>
    <p:sldId xmlns:r="http://schemas.openxmlformats.org/officeDocument/2006/relationships" id="263" r:id="Rcdd1b29f5d84445b"/>
    <p:sldId xmlns:r="http://schemas.openxmlformats.org/officeDocument/2006/relationships" id="264" r:id="Raf98d7234c6441fa"/>
    <p:sldId xmlns:r="http://schemas.openxmlformats.org/officeDocument/2006/relationships" id="265" r:id="Rd6fedbf964b841aa"/>
    <p:sldId xmlns:r="http://schemas.openxmlformats.org/officeDocument/2006/relationships" id="266" r:id="Rd0c2fa863bab4804"/>
    <p:sldId xmlns:r="http://schemas.openxmlformats.org/officeDocument/2006/relationships" id="267" r:id="R66f5d2ce27f54af7"/>
    <p:sldId xmlns:r="http://schemas.openxmlformats.org/officeDocument/2006/relationships" id="268" r:id="R7a56bdbdcc8049d0"/>
    <p:sldId xmlns:r="http://schemas.openxmlformats.org/officeDocument/2006/relationships" id="269" r:id="R9b29614763974ba0"/>
    <p:sldId xmlns:r="http://schemas.openxmlformats.org/officeDocument/2006/relationships" id="270" r:id="Rde46344ef0574f06"/>
    <p:sldId xmlns:r="http://schemas.openxmlformats.org/officeDocument/2006/relationships" id="271" r:id="R05b375530d654384"/>
    <p:sldId xmlns:r="http://schemas.openxmlformats.org/officeDocument/2006/relationships" id="272" r:id="R67da780e3df24f09"/>
    <p:sldId xmlns:r="http://schemas.openxmlformats.org/officeDocument/2006/relationships" id="273" r:id="R68dd2e87030c4a31"/>
    <p:sldId xmlns:r="http://schemas.openxmlformats.org/officeDocument/2006/relationships" id="274" r:id="R99271b4a878b4890"/>
    <p:sldId xmlns:r="http://schemas.openxmlformats.org/officeDocument/2006/relationships" id="275" r:id="Ree76018e47274b26"/>
    <p:sldId xmlns:r="http://schemas.openxmlformats.org/officeDocument/2006/relationships" id="276" r:id="R1a5f2accea3245c2"/>
    <p:sldId xmlns:r="http://schemas.openxmlformats.org/officeDocument/2006/relationships" id="277" r:id="R47f7d3ecbd6b4618"/>
    <p:sldId xmlns:r="http://schemas.openxmlformats.org/officeDocument/2006/relationships" id="278" r:id="R4b4974783c1849c8"/>
    <p:sldId xmlns:r="http://schemas.openxmlformats.org/officeDocument/2006/relationships" id="279" r:id="R3fae683aacc34b88"/>
    <p:sldId xmlns:r="http://schemas.openxmlformats.org/officeDocument/2006/relationships" id="280" r:id="Ra3d73b0fe2aa4a9f"/>
    <p:sldId xmlns:r="http://schemas.openxmlformats.org/officeDocument/2006/relationships" id="281" r:id="R02c322b08f6c428a"/>
    <p:sldId xmlns:r="http://schemas.openxmlformats.org/officeDocument/2006/relationships" id="282" r:id="Ra188697e63ad47d9"/>
  </p:sldIdLst>
  <p:sldSz cx="171450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1b854958c74ddc" /><Relationship Type="http://schemas.openxmlformats.org/officeDocument/2006/relationships/slideMaster" Target="/ppt/slideMasters/slideMaster1.xml" Id="Rdd8d3e8e74a7459d" /><Relationship Type="http://schemas.openxmlformats.org/officeDocument/2006/relationships/notesMaster" Target="/ppt/notesMasters/notesMaster1.xml" Id="R28da5c22f83e442d" /><Relationship Type="http://schemas.openxmlformats.org/officeDocument/2006/relationships/presProps" Target="/ppt/presProps.xml" Id="R35f99063e12c40b2" /><Relationship Type="http://schemas.openxmlformats.org/officeDocument/2006/relationships/tableStyles" Target="/ppt/tableStyles.xml" Id="Ref78b7b79f5f448c" /><Relationship Type="http://schemas.openxmlformats.org/officeDocument/2006/relationships/slide" Target="/ppt/slides/slide1.xml" Id="R0e4bf1a6e59a414a" /><Relationship Type="http://schemas.openxmlformats.org/officeDocument/2006/relationships/slide" Target="/ppt/slides/slide2.xml" Id="Rc6a798e0ce1d4057" /><Relationship Type="http://schemas.openxmlformats.org/officeDocument/2006/relationships/slide" Target="/ppt/slides/slide3.xml" Id="R558b9acac2f849e8" /><Relationship Type="http://schemas.openxmlformats.org/officeDocument/2006/relationships/slide" Target="/ppt/slides/slide4.xml" Id="R63168c27694d4d2d" /><Relationship Type="http://schemas.openxmlformats.org/officeDocument/2006/relationships/slide" Target="/ppt/slides/slide5.xml" Id="R4236f1b5b92f4f9a" /><Relationship Type="http://schemas.openxmlformats.org/officeDocument/2006/relationships/slide" Target="/ppt/slides/slide6.xml" Id="R03175e99803a4c35" /><Relationship Type="http://schemas.openxmlformats.org/officeDocument/2006/relationships/slide" Target="/ppt/slides/slide7.xml" Id="Rb25623da906a46cc" /><Relationship Type="http://schemas.openxmlformats.org/officeDocument/2006/relationships/slide" Target="/ppt/slides/slide8.xml" Id="Rcdd1b29f5d84445b" /><Relationship Type="http://schemas.openxmlformats.org/officeDocument/2006/relationships/slide" Target="/ppt/slides/slide9.xml" Id="Raf98d7234c6441fa" /><Relationship Type="http://schemas.openxmlformats.org/officeDocument/2006/relationships/slide" Target="/ppt/slides/slide10.xml" Id="Rd6fedbf964b841aa" /><Relationship Type="http://schemas.openxmlformats.org/officeDocument/2006/relationships/slide" Target="/ppt/slides/slide11.xml" Id="Rd0c2fa863bab4804" /><Relationship Type="http://schemas.openxmlformats.org/officeDocument/2006/relationships/slide" Target="/ppt/slides/slide12.xml" Id="R66f5d2ce27f54af7" /><Relationship Type="http://schemas.openxmlformats.org/officeDocument/2006/relationships/slide" Target="/ppt/slides/slide13.xml" Id="R7a56bdbdcc8049d0" /><Relationship Type="http://schemas.openxmlformats.org/officeDocument/2006/relationships/slide" Target="/ppt/slides/slide14.xml" Id="R9b29614763974ba0" /><Relationship Type="http://schemas.openxmlformats.org/officeDocument/2006/relationships/slide" Target="/ppt/slides/slide15.xml" Id="Rde46344ef0574f06" /><Relationship Type="http://schemas.openxmlformats.org/officeDocument/2006/relationships/slide" Target="/ppt/slides/slide16.xml" Id="R05b375530d654384" /><Relationship Type="http://schemas.openxmlformats.org/officeDocument/2006/relationships/slide" Target="/ppt/slides/slide17.xml" Id="R67da780e3df24f09" /><Relationship Type="http://schemas.openxmlformats.org/officeDocument/2006/relationships/slide" Target="/ppt/slides/slide18.xml" Id="R68dd2e87030c4a31" /><Relationship Type="http://schemas.openxmlformats.org/officeDocument/2006/relationships/slide" Target="/ppt/slides/slide19.xml" Id="R99271b4a878b4890" /><Relationship Type="http://schemas.openxmlformats.org/officeDocument/2006/relationships/slide" Target="/ppt/slides/slide20.xml" Id="Ree76018e47274b26" /><Relationship Type="http://schemas.openxmlformats.org/officeDocument/2006/relationships/slide" Target="/ppt/slides/slide21.xml" Id="R1a5f2accea3245c2" /><Relationship Type="http://schemas.openxmlformats.org/officeDocument/2006/relationships/slide" Target="/ppt/slides/slide22.xml" Id="R47f7d3ecbd6b4618" /><Relationship Type="http://schemas.openxmlformats.org/officeDocument/2006/relationships/slide" Target="/ppt/slides/slide23.xml" Id="R4b4974783c1849c8" /><Relationship Type="http://schemas.openxmlformats.org/officeDocument/2006/relationships/slide" Target="/ppt/slides/slide24.xml" Id="R3fae683aacc34b88" /><Relationship Type="http://schemas.openxmlformats.org/officeDocument/2006/relationships/slide" Target="/ppt/slides/slide25.xml" Id="Ra3d73b0fe2aa4a9f" /><Relationship Type="http://schemas.openxmlformats.org/officeDocument/2006/relationships/slide" Target="/ppt/slides/slide26.xml" Id="R02c322b08f6c428a" /><Relationship Type="http://schemas.openxmlformats.org/officeDocument/2006/relationships/slide" Target="/ppt/slides/slide27.xml" Id="Ra188697e63ad47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607be6f4f945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91785a73a64d81" /><Relationship Type="http://schemas.openxmlformats.org/officeDocument/2006/relationships/notesMaster" Target="/ppt/notesMasters/notesMaster1.xml" Id="R4994f118abb347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dc355f96064f9d" /><Relationship Type="http://schemas.openxmlformats.org/officeDocument/2006/relationships/notesMaster" Target="/ppt/notesMasters/notesMaster1.xml" Id="R27b589442e9449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9d110b0a4f440b" /><Relationship Type="http://schemas.openxmlformats.org/officeDocument/2006/relationships/notesMaster" Target="/ppt/notesMasters/notesMaster1.xml" Id="R0e50ebaae0a94a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092d5afb634bd6" /><Relationship Type="http://schemas.openxmlformats.org/officeDocument/2006/relationships/notesMaster" Target="/ppt/notesMasters/notesMaster1.xml" Id="R1bad10c3827544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bb6a2c912b45c9" /><Relationship Type="http://schemas.openxmlformats.org/officeDocument/2006/relationships/notesMaster" Target="/ppt/notesMasters/notesMaster1.xml" Id="R8a8823914fa043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fa7fa228ea43fd" /><Relationship Type="http://schemas.openxmlformats.org/officeDocument/2006/relationships/notesMaster" Target="/ppt/notesMasters/notesMaster1.xml" Id="Ra55a57c561024f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e3f7b707404ff3" /><Relationship Type="http://schemas.openxmlformats.org/officeDocument/2006/relationships/notesMaster" Target="/ppt/notesMasters/notesMaster1.xml" Id="Rfb29f702db444d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65667f87bb4070" /><Relationship Type="http://schemas.openxmlformats.org/officeDocument/2006/relationships/notesMaster" Target="/ppt/notesMasters/notesMaster1.xml" Id="R2297b00af78a45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a956b3afd5404f" /><Relationship Type="http://schemas.openxmlformats.org/officeDocument/2006/relationships/notesMaster" Target="/ppt/notesMasters/notesMaster1.xml" Id="Rc7411bec956947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d4faa4da1c4f25" /><Relationship Type="http://schemas.openxmlformats.org/officeDocument/2006/relationships/notesMaster" Target="/ppt/notesMasters/notesMaster1.xml" Id="Ref799b5e99ee48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821696b8a64910" /><Relationship Type="http://schemas.openxmlformats.org/officeDocument/2006/relationships/notesMaster" Target="/ppt/notesMasters/notesMaster1.xml" Id="R47cd9603c1a84a4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f9ed20c7bb4485" /><Relationship Type="http://schemas.openxmlformats.org/officeDocument/2006/relationships/notesMaster" Target="/ppt/notesMasters/notesMaster1.xml" Id="R2c5ca2109a8346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f196d728f54612" /><Relationship Type="http://schemas.openxmlformats.org/officeDocument/2006/relationships/notesMaster" Target="/ppt/notesMasters/notesMaster1.xml" Id="Rfebe1bda07134e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dca20779aa48f0" /><Relationship Type="http://schemas.openxmlformats.org/officeDocument/2006/relationships/notesMaster" Target="/ppt/notesMasters/notesMaster1.xml" Id="R6cc4cb35d67a470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c80835ea874429" /><Relationship Type="http://schemas.openxmlformats.org/officeDocument/2006/relationships/notesMaster" Target="/ppt/notesMasters/notesMaster1.xml" Id="Rd85c62f8e9ae4c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03d9ddda6a412e" /><Relationship Type="http://schemas.openxmlformats.org/officeDocument/2006/relationships/notesMaster" Target="/ppt/notesMasters/notesMaster1.xml" Id="Re10c1422e42549e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2e0f000023c4f42" /><Relationship Type="http://schemas.openxmlformats.org/officeDocument/2006/relationships/notesMaster" Target="/ppt/notesMasters/notesMaster1.xml" Id="R0383ace40bea4b6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139e783cd4a4152" /><Relationship Type="http://schemas.openxmlformats.org/officeDocument/2006/relationships/notesMaster" Target="/ppt/notesMasters/notesMaster1.xml" Id="R5516ea159f244ac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8d8bf2c35c84a0e" /><Relationship Type="http://schemas.openxmlformats.org/officeDocument/2006/relationships/notesMaster" Target="/ppt/notesMasters/notesMaster1.xml" Id="Reb27e002c91043a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32b0e00b31245ae" /><Relationship Type="http://schemas.openxmlformats.org/officeDocument/2006/relationships/notesMaster" Target="/ppt/notesMasters/notesMaster1.xml" Id="R6eb01740951b4bc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9e6a46e0ae9452e" /><Relationship Type="http://schemas.openxmlformats.org/officeDocument/2006/relationships/notesMaster" Target="/ppt/notesMasters/notesMaster1.xml" Id="Rab2232a3acc649a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b5cf7fdfcad4941" /><Relationship Type="http://schemas.openxmlformats.org/officeDocument/2006/relationships/notesMaster" Target="/ppt/notesMasters/notesMaster1.xml" Id="R7a0d8185c3fb45b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5bcde2459c0495c" /><Relationship Type="http://schemas.openxmlformats.org/officeDocument/2006/relationships/notesMaster" Target="/ppt/notesMasters/notesMaster1.xml" Id="R24763c1758894b8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56da0b62d684cb7" /><Relationship Type="http://schemas.openxmlformats.org/officeDocument/2006/relationships/notesMaster" Target="/ppt/notesMasters/notesMaster1.xml" Id="R64e536fc185544c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86f97a934d64e27" /><Relationship Type="http://schemas.openxmlformats.org/officeDocument/2006/relationships/notesMaster" Target="/ppt/notesMasters/notesMaster1.xml" Id="Rb8ca0df0c7f34d7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38ce0b559754e3d" /><Relationship Type="http://schemas.openxmlformats.org/officeDocument/2006/relationships/notesMaster" Target="/ppt/notesMasters/notesMaster1.xml" Id="R2eacaf2aec7a4a5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cd4e0c5a8064193" /><Relationship Type="http://schemas.openxmlformats.org/officeDocument/2006/relationships/notesMaster" Target="/ppt/notesMasters/notesMaster1.xml" Id="Rba3140bd5e1a43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OpenLineage | https://openlineage.io/docs/spec/examples/ | Job、Run、Dataset 与输入输出关系</a:t>
            </a:r>
          </a:p>
          <a:p xmlns:a="http://schemas.openxmlformats.org/drawingml/2006/main">
            <a:r>
              <a:t>AiiDA | https://arxiv.org/abs/2003.12476 | 科学计算自动化及数据来源追踪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Great Expectations Checkpoints | https://docs.greatexpectations.io/docs/core/trigger_actions_based_on_results/create_a_checkpoint_with_actions/ | 数据验证和结果驱动动作</a:t>
            </a:r>
          </a:p>
          <a:p xmlns:a="http://schemas.openxmlformats.org/drawingml/2006/main">
            <a:r>
              <a:t>MLflow Evaluation Datasets | https://mlflow.org/docs/latest/genai/datasets/ | 评测数据集与运行记录关联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DuckDB concurrency | https://duckdb.org/docs/current/connect/concurrency | 嵌入式写入模型；远程并发协议需按版本核验</a:t>
            </a:r>
          </a:p>
          <a:p xmlns:a="http://schemas.openxmlformats.org/drawingml/2006/main">
            <a:r>
              <a:t>Iceberg snapshots | https://iceberg.apache.org/docs/latest/branching/ | 分析数据快照与生命周期</a:t>
            </a:r>
          </a:p>
          <a:p xmlns:a="http://schemas.openxmlformats.org/drawingml/2006/main">
            <a:r>
              <a:t>OceanBase vector SQL | https://en.oceanbase.com/docs/common-oceanbase-database-10000000001976352 | 4.3.5 文档介绍 MySQL 租户向量 SQL，现网版本需核验</a:t>
            </a:r>
          </a:p>
          <a:p xmlns:a="http://schemas.openxmlformats.org/drawingml/2006/main">
            <a:r>
              <a:t>ClickHouse columnar | https://clickhouse.com/resources/engineering/when-to-use-columnar-database | 面向聚合分析的列式存储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S3 Versioning | https://docs.aws.amazon.com/AmazonS3/latest/userguide/Versioning.html | 对象多版本与删除标记，作为接口能力参考，不推荐云端部署</a:t>
            </a:r>
          </a:p>
          <a:p xmlns:a="http://schemas.openxmlformats.org/drawingml/2006/main">
            <a:r>
              <a:t>Ceph RGW | https://docs.ceph.com/en/latest/radosgw/index.html | 内网对象存储的 S3 / Swift 接口</a:t>
            </a:r>
          </a:p>
          <a:p xmlns:a="http://schemas.openxmlformats.org/drawingml/2006/main">
            <a:r>
              <a:t>SeaweedFS | https://github.com/seaweedfs/seaweedfs | S3 与文件存储，可自部署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Ceph RGW | https://docs.ceph.com/en/latest/radosgw/index.html | 内网对象存储的 S3 / Swift 接口</a:t>
            </a:r>
          </a:p>
          <a:p xmlns:a="http://schemas.openxmlformats.org/drawingml/2006/main">
            <a:r>
              <a:t>SeaweedFS | https://github.com/seaweedfs/seaweedfs | S3 与文件存储，可自部署</a:t>
            </a:r>
          </a:p>
          <a:p xmlns:a="http://schemas.openxmlformats.org/drawingml/2006/main">
            <a:r>
              <a:t>MinIO maintenance | https://www.min.io/legal | 官方声明开源产品已于 2025-09 停止维护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DoclingDocument | https://docling-project.github.io/docling/concepts/docling_document/ | 统一文档表示与来源位置</a:t>
            </a:r>
          </a:p>
          <a:p xmlns:a="http://schemas.openxmlformats.org/drawingml/2006/main">
            <a:r>
              <a:t>Docling formats | https://docling-project.github.io/docling/usage/supported_formats/ | PDF / DOCX / PPTX 等解析支持，旧格式需转码验证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Milvus multi-vector | https://milvus.io/docs/multi-vector-search.md | 多向量字段与融合检索</a:t>
            </a:r>
          </a:p>
          <a:p xmlns:a="http://schemas.openxmlformats.org/drawingml/2006/main">
            <a:r>
              <a:t>Qdrant vectors | https://qdrant.tech/documentation/manage-data/vectors/ | 命名向量及不同表示的管理</a:t>
            </a:r>
          </a:p>
          <a:p xmlns:a="http://schemas.openxmlformats.org/drawingml/2006/main">
            <a:r>
              <a:t>LanceDB | https://docs.lancedb.com/ | Lance 格式与多模态；OSS / Enterprise 边界需区分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OpenSearch Hybrid Search | https://docs.opensearch.org/latest/vector-search/ai-search/hybrid-search/index/ | 全文与语义检索融合</a:t>
            </a:r>
          </a:p>
          <a:p xmlns:a="http://schemas.openxmlformats.org/drawingml/2006/main">
            <a:r>
              <a:t>pgvector | https://github.com/pgvector/pgvector | PostgreSQL 向量扩展，非 MySQL/OceanBase 插件</a:t>
            </a:r>
          </a:p>
          <a:p xmlns:a="http://schemas.openxmlformats.org/drawingml/2006/main">
            <a:r>
              <a:t>Milvus multi-vector | https://milvus.io/docs/multi-vector-search.md | 多向量字段与融合检索</a:t>
            </a:r>
          </a:p>
          <a:p xmlns:a="http://schemas.openxmlformats.org/drawingml/2006/main">
            <a:r>
              <a:t>Qdrant vectors | https://qdrant.tech/documentation/manage-data/vectors/ | 命名向量及不同表示的管理</a:t>
            </a:r>
          </a:p>
          <a:p xmlns:a="http://schemas.openxmlformats.org/drawingml/2006/main">
            <a:r>
              <a:t>LanceDB | https://docs.lancedb.com/ | Lance 格式与多模态；OSS / Enterprise 边界需区分</a:t>
            </a:r>
          </a:p>
          <a:p xmlns:a="http://schemas.openxmlformats.org/drawingml/2006/main">
            <a:r>
              <a:t>OceanBase vector SQL | https://en.oceanbase.com/docs/common-oceanbase-database-10000000001976352 | 4.3.5 文档介绍 MySQL 租户向量 SQL，现网版本需核验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Langfuse Self-hosting | https://langfuse.com/self-hosting | 本轮官方页面显示 v4，自托管涉及 Postgres、ClickHouse、Redis/Valkey、对象存储</a:t>
            </a:r>
          </a:p>
          <a:p xmlns:a="http://schemas.openxmlformats.org/drawingml/2006/main">
            <a:r>
              <a:t>Phoenix architecture | https://arize.com/docs/phoenix/self-hosting/architecture | 轨迹观测，SQLite 与 PostgreSQL 后端</a:t>
            </a:r>
          </a:p>
          <a:p xmlns:a="http://schemas.openxmlformats.org/drawingml/2006/main">
            <a:r>
              <a:t>OpenTelemetry Collector | https://opentelemetry.io/docs/collector/ | 采集、处理与导出遥测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Langfuse Self-hosting | https://langfuse.com/self-hosting | 本轮官方页面显示 v4，自托管涉及 Postgres、ClickHouse、Redis/Valkey、对象存储</a:t>
            </a:r>
          </a:p>
          <a:p xmlns:a="http://schemas.openxmlformats.org/drawingml/2006/main">
            <a:r>
              <a:t>Phoenix architecture | https://arize.com/docs/phoenix/self-hosting/architecture | 轨迹观测，SQLite 与 PostgreSQL 后端</a:t>
            </a:r>
          </a:p>
          <a:p xmlns:a="http://schemas.openxmlformats.org/drawingml/2006/main">
            <a:r>
              <a:t>DuckDB concurrency | https://duckdb.org/docs/current/connect/concurrency | 嵌入式写入模型；远程并发协议需按版本核验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Mem0 OSS | https://docs.mem0.ai/open-source/overview | 库或自托管服务，配置模型与向量后端</a:t>
            </a:r>
          </a:p>
          <a:p xmlns:a="http://schemas.openxmlformats.org/drawingml/2006/main">
            <a:r>
              <a:t>LangGraph persistence | https://docs.langchain.com/oss/python/langgraph/persistence | 线程状态、Checkpoint 与运行恢复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Mem0 OSS | https://docs.mem0.ai/open-source/overview | 库或自托管服务，配置模型与向量后端</a:t>
            </a:r>
          </a:p>
          <a:p xmlns:a="http://schemas.openxmlformats.org/drawingml/2006/main">
            <a:r>
              <a:t>LangGraph persistence | https://docs.langchain.com/oss/python/langgraph/persistence | 线程状态、Checkpoint 与运行恢复</a:t>
            </a:r>
          </a:p>
          <a:p xmlns:a="http://schemas.openxmlformats.org/drawingml/2006/main">
            <a:r>
              <a:t>OpenAI conversation state | https://developers.openai.com/api/docs/guides/conversation-state | 托管会话状态接口，非公司内网记忆数据库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Langfuse Self-hosting | https://langfuse.com/self-hosting | 本轮官方页面显示 v4，自托管涉及 Postgres、ClickHouse、Redis/Valkey、对象存储</a:t>
            </a:r>
          </a:p>
          <a:p xmlns:a="http://schemas.openxmlformats.org/drawingml/2006/main">
            <a:r>
              <a:t>MLflow Prompt Registry | https://mlflow.org/docs/latest/genai/prompt-registry/ | Prompt 版本与注册管理</a:t>
            </a:r>
          </a:p>
          <a:p xmlns:a="http://schemas.openxmlformats.org/drawingml/2006/main">
            <a:r>
              <a:t>GitLab Registry | https://docs.gitlab.com/user/packages/package_registry/ | 制品发布与流水线、Commit 关联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MLflow artifacts | https://mlflow.org/docs/latest/self-hosting/architecture/artifact-store/ | 元数据与大文件存储分离，支持 S3 兼容与 NFS</a:t>
            </a:r>
          </a:p>
          <a:p xmlns:a="http://schemas.openxmlformats.org/drawingml/2006/main">
            <a:r>
              <a:t>DVC | https://doc.dvc.org/user-guide | Git 中记录大文件版本引用，实际数据另存</a:t>
            </a:r>
          </a:p>
          <a:p xmlns:a="http://schemas.openxmlformats.org/drawingml/2006/main">
            <a:r>
              <a:t>PyTorch Checkpoint | https://docs.pytorch.org/tutorials/beginner/saving_loading_models.html | 续训快照包含权重之外的优化器与训练状态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Phoenix architecture | https://arize.com/docs/phoenix/self-hosting/architecture | 轨迹观测，SQLite 与 PostgreSQL 后端</a:t>
            </a:r>
          </a:p>
          <a:p xmlns:a="http://schemas.openxmlformats.org/drawingml/2006/main">
            <a:r>
              <a:t>DuckDB concurrency | https://duckdb.org/docs/current/connect/concurrency | 嵌入式写入模型；远程并发协议需按版本核验</a:t>
            </a:r>
          </a:p>
          <a:p xmlns:a="http://schemas.openxmlformats.org/drawingml/2006/main">
            <a:r>
              <a:t>Ceph RGW | https://docs.ceph.com/en/latest/radosgw/index.html | 内网对象存储的 S3 / Swift 接口</a:t>
            </a:r>
          </a:p>
          <a:p xmlns:a="http://schemas.openxmlformats.org/drawingml/2006/main">
            <a:r>
              <a:t>SeaweedFS | https://github.com/seaweedfs/seaweedfs | S3 与文件存储，可自部署</a:t>
            </a:r>
          </a:p>
          <a:p xmlns:a="http://schemas.openxmlformats.org/drawingml/2006/main">
            <a:r>
              <a:t>MinIO maintenance | https://www.min.io/legal | 官方声明开源产品已于 2025-09 停止维护</a:t>
            </a:r>
          </a:p>
          <a:p xmlns:a="http://schemas.openxmlformats.org/drawingml/2006/main">
            <a:r>
              <a:t>Milvus multi-vector | https://milvus.io/docs/multi-vector-search.md | 多向量字段与融合检索</a:t>
            </a:r>
          </a:p>
          <a:p xmlns:a="http://schemas.openxmlformats.org/drawingml/2006/main">
            <a:r>
              <a:t>Qdrant vectors | https://qdrant.tech/documentation/manage-data/vectors/ | 命名向量及不同表示的管理</a:t>
            </a:r>
          </a:p>
          <a:p xmlns:a="http://schemas.openxmlformats.org/drawingml/2006/main">
            <a:r>
              <a:t>LanceDB | https://docs.lancedb.com/ | Lance 格式与多模态；OSS / Enterprise 边界需区分</a:t>
            </a:r>
          </a:p>
          <a:p xmlns:a="http://schemas.openxmlformats.org/drawingml/2006/main">
            <a:r>
              <a:t>Mem0 OSS | https://docs.mem0.ai/open-source/overview | 库或自托管服务，配置模型与向量后端</a:t>
            </a:r>
          </a:p>
          <a:p xmlns:a="http://schemas.openxmlformats.org/drawingml/2006/main">
            <a:r>
              <a:t>LangGraph persistence | https://docs.langchain.com/oss/python/langgraph/persistence | 线程状态、Checkpoint 与运行恢复</a:t>
            </a:r>
          </a:p>
          <a:p xmlns:a="http://schemas.openxmlformats.org/drawingml/2006/main">
            <a:r>
              <a:t>OpenAI conversation state | https://developers.openai.com/api/docs/guides/conversation-state | 托管会话状态接口，非公司内网记忆数据库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已确认基础：内网部署，OceanBase MySQL 兼容，约 3000 张独立明细表、少量人工挂测总表，约 50 用户，公司 AD 和内网 LLM/embedding 可用。一期实验填报与自然语言统一查询；后续科研推理、技能和权重进化不属于一期。各组件为架构建议，兼容性和容量经内部 PoC 核验。</a:t>
            </a:r>
          </a:p>
          <a:p xmlns:a="http://schemas.openxmlformats.org/drawingml/2006/main">
            <a:r>
              <a:t>MLflow artifacts | https://mlflow.org/docs/latest/self-hosting/architecture/artifact-store/ | 元数据与大文件存储分离，支持 S3 兼容与 NFS</a:t>
            </a:r>
          </a:p>
          <a:p xmlns:a="http://schemas.openxmlformats.org/drawingml/2006/main">
            <a:r>
              <a:t>DVC | https://doc.dvc.org/user-guide | Git 中记录大文件版本引用，实际数据另存</a:t>
            </a:r>
          </a:p>
          <a:p xmlns:a="http://schemas.openxmlformats.org/drawingml/2006/main">
            <a:r>
              <a:t>MLflow Prompt Registry | https://mlflow.org/docs/latest/genai/prompt-registry/ | Prompt 版本与注册管理</a:t>
            </a:r>
          </a:p>
          <a:p xmlns:a="http://schemas.openxmlformats.org/drawingml/2006/main">
            <a:r>
              <a:t>GitLab Registry | https://docs.gitlab.com/user/packages/package_registry/ | 制品发布与流水线、Commit 关联</a:t>
            </a:r>
          </a:p>
          <a:p xmlns:a="http://schemas.openxmlformats.org/drawingml/2006/main">
            <a:r>
              <a:t>OpenTelemetry Collector | https://opentelemetry.io/docs/collector/ | 采集、处理与导出遥测</a:t>
            </a:r>
          </a:p>
          <a:p xmlns:a="http://schemas.openxmlformats.org/drawingml/2006/main">
            <a:r>
              <a:t>Docling formats | https://docling-project.github.io/docling/usage/supported_formats/ | PDF / DOCX / PPTX 等解析支持，旧格式需转码验证</a:t>
            </a:r>
          </a:p>
          <a:p xmlns:a="http://schemas.openxmlformats.org/drawingml/2006/main">
            <a:r>
              <a:t>Iceberg snapshots | https://iceberg.apache.org/docs/latest/branching/ | 分析数据快照与生命周期</a:t>
            </a:r>
          </a:p>
          <a:p xmlns:a="http://schemas.openxmlformats.org/drawingml/2006/main">
            <a:r>
              <a:t>OceanBase vector SQL | https://en.oceanbase.com/docs/common-oceanbase-database-10000000001976352 | 4.3.5 文档介绍 MySQL 租户向量 SQL，现网版本需核验</a:t>
            </a:r>
          </a:p>
          <a:p xmlns:a="http://schemas.openxmlformats.org/drawingml/2006/main">
            <a:r>
              <a:t>PyTorch Checkpoint | https://docs.pytorch.org/tutorials/beginner/saving_loading_models.html | 续训快照包含权重之外的优化器与训练状态</a:t>
            </a:r>
          </a:p>
          <a:p xmlns:a="http://schemas.openxmlformats.org/drawingml/2006/main">
            <a:r>
              <a:t>ClickHouse columnar | https://clickhouse.com/resources/engineering/when-to-use-columnar-database | 面向聚合分析的列式存储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5ece665d2640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3d8f1d0cc54558" /><Relationship Type="http://schemas.openxmlformats.org/officeDocument/2006/relationships/slideLayout" Target="/ppt/slideLayouts/slideLayout1.xml" Id="R69614fb1ca5f44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614fb1ca5f44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a5a666c91402f" /><Relationship Type="http://schemas.openxmlformats.org/officeDocument/2006/relationships/notesSlide" Target="/ppt/notesSlides/notesSlide1.xml" Id="R8b1266b2565643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831b8f8394111" /><Relationship Type="http://schemas.openxmlformats.org/officeDocument/2006/relationships/notesSlide" Target="/ppt/notesSlides/notesSlide2.xml" Id="R96917ac341d54a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4c5774fe64d1b" /><Relationship Type="http://schemas.openxmlformats.org/officeDocument/2006/relationships/notesSlide" Target="/ppt/notesSlides/notesSlide3.xml" Id="R257f418cca1a4b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7bad620f440d5" /><Relationship Type="http://schemas.openxmlformats.org/officeDocument/2006/relationships/notesSlide" Target="/ppt/notesSlides/notesSlide4.xml" Id="R6c185c7a36284a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d1d7fa0f343af" /><Relationship Type="http://schemas.openxmlformats.org/officeDocument/2006/relationships/notesSlide" Target="/ppt/notesSlides/notesSlide5.xml" Id="R9acc7172655a4c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b7ac8699c4f0e" /><Relationship Type="http://schemas.openxmlformats.org/officeDocument/2006/relationships/notesSlide" Target="/ppt/notesSlides/notesSlide6.xml" Id="Rbea730383f1044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b54dc7a1e4068" /><Relationship Type="http://schemas.openxmlformats.org/officeDocument/2006/relationships/notesSlide" Target="/ppt/notesSlides/notesSlide7.xml" Id="Re06adf3ae9ce47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b3f5cdc8c4ebf" /><Relationship Type="http://schemas.openxmlformats.org/officeDocument/2006/relationships/notesSlide" Target="/ppt/notesSlides/notesSlide8.xml" Id="R25c327675e9c4b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0411b352b4cb2" /><Relationship Type="http://schemas.openxmlformats.org/officeDocument/2006/relationships/notesSlide" Target="/ppt/notesSlides/notesSlide9.xml" Id="R4005501a5c924b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f0ccae023436b" /><Relationship Type="http://schemas.openxmlformats.org/officeDocument/2006/relationships/notesSlide" Target="/ppt/notesSlides/notesSlide10.xml" Id="R0bf66f8998d74e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114e2ae974d48" /><Relationship Type="http://schemas.openxmlformats.org/officeDocument/2006/relationships/notesSlide" Target="/ppt/notesSlides/notesSlide11.xml" Id="Rcca493ca10fd47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74f78c0e94628" /><Relationship Type="http://schemas.openxmlformats.org/officeDocument/2006/relationships/notesSlide" Target="/ppt/notesSlides/notesSlide12.xml" Id="Rdd9a30badcba4e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d5cfc626a404b" /><Relationship Type="http://schemas.openxmlformats.org/officeDocument/2006/relationships/notesSlide" Target="/ppt/notesSlides/notesSlide13.xml" Id="Rfc20188a514440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867ca3ac348a0" /><Relationship Type="http://schemas.openxmlformats.org/officeDocument/2006/relationships/notesSlide" Target="/ppt/notesSlides/notesSlide14.xml" Id="Rc30d0e54765641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854f493814be7" /><Relationship Type="http://schemas.openxmlformats.org/officeDocument/2006/relationships/notesSlide" Target="/ppt/notesSlides/notesSlide15.xml" Id="R61494fdc1b88472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0fcf4b6454644" /><Relationship Type="http://schemas.openxmlformats.org/officeDocument/2006/relationships/notesSlide" Target="/ppt/notesSlides/notesSlide16.xml" Id="Re7e9ee6c46354f7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56e6e0bce4611" /><Relationship Type="http://schemas.openxmlformats.org/officeDocument/2006/relationships/notesSlide" Target="/ppt/notesSlides/notesSlide17.xml" Id="Re52a4d11709e4a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ce1ae497346ba" /><Relationship Type="http://schemas.openxmlformats.org/officeDocument/2006/relationships/notesSlide" Target="/ppt/notesSlides/notesSlide18.xml" Id="Rcd069f8e293440a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47f561cef4a95" /><Relationship Type="http://schemas.openxmlformats.org/officeDocument/2006/relationships/notesSlide" Target="/ppt/notesSlides/notesSlide19.xml" Id="R9c1ff5efa14c44e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f71acfac0462c" /><Relationship Type="http://schemas.openxmlformats.org/officeDocument/2006/relationships/notesSlide" Target="/ppt/notesSlides/notesSlide20.xml" Id="R600a2f21b25e4cd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3a234bf57436d" /><Relationship Type="http://schemas.openxmlformats.org/officeDocument/2006/relationships/notesSlide" Target="/ppt/notesSlides/notesSlide21.xml" Id="R8a2afc6af42c4db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defae5fb94a90" /><Relationship Type="http://schemas.openxmlformats.org/officeDocument/2006/relationships/notesSlide" Target="/ppt/notesSlides/notesSlide22.xml" Id="Rdf84a0f7edc84bc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176aa16c74498" /><Relationship Type="http://schemas.openxmlformats.org/officeDocument/2006/relationships/notesSlide" Target="/ppt/notesSlides/notesSlide23.xml" Id="Rf59280966b374fd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2bedc8f69445b" /><Relationship Type="http://schemas.openxmlformats.org/officeDocument/2006/relationships/notesSlide" Target="/ppt/notesSlides/notesSlide24.xml" Id="Rb6253bb94c9f4d2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4c6af1c2c4857" /><Relationship Type="http://schemas.openxmlformats.org/officeDocument/2006/relationships/notesSlide" Target="/ppt/notesSlides/notesSlide25.xml" Id="R27cdb4a7a7e548f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b46f5210f4295" /><Relationship Type="http://schemas.openxmlformats.org/officeDocument/2006/relationships/notesSlide" Target="/ppt/notesSlides/notesSlide26.xml" Id="Rd02056bb1ba94da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6d00c4d4744f7" /><Relationship Type="http://schemas.openxmlformats.org/officeDocument/2006/relationships/notesSlide" Target="/ppt/notesSlides/notesSlide27.xml" Id="Raaa6fac308604b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4CF512-F2BC-4DC0-A808-DD3EF8D3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RSI 数据平台系统架构图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DA0F1-E116-4C37-864F-B48E544A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业务数据与 Agent 数据分域管理；数据血缘、质量与权限贯穿接入、加工、查询和反馈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305FF-EA0D-45E1-9E9F-656A5661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6BA06-147A-423E-882D-76484F0D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D1DD5-0B70-4016-BD2A-192A80F7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19250"/>
            <a:ext cx="11239500" cy="1047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用户&#10;应用层">
            <a:extLst xmlns:a="http://schemas.openxmlformats.org/drawingml/2006/main">
              <a:ext uri="{FF2B5EF4-FFF2-40B4-BE49-F238E27FC236}">
                <a16:creationId xmlns:a16="http://schemas.microsoft.com/office/drawing/2014/main" id="{07C44119-5DFB-43D1-84F0-A33628A0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1219200" cy="1047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7" name="实验员｜实验填报 / Excel 导入">
            <a:extLst xmlns:a="http://schemas.openxmlformats.org/drawingml/2006/main">
              <a:ext uri="{FF2B5EF4-FFF2-40B4-BE49-F238E27FC236}">
                <a16:creationId xmlns:a16="http://schemas.microsoft.com/office/drawing/2014/main" id="{A0EDCD9F-C1BB-41EE-BD98-AEBF4947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790700"/>
            <a:ext cx="3517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实验员｜实验填报 / Excel 导入</a:t>
            </a:r>
          </a:p>
        </p:txBody>
      </p:sp>
      <p:sp>
        <p:nvSpPr>
          <p:cNvPr id="8" name="化学专家｜自然语言查询 / 证据核验">
            <a:extLst xmlns:a="http://schemas.openxmlformats.org/drawingml/2006/main">
              <a:ext uri="{FF2B5EF4-FFF2-40B4-BE49-F238E27FC236}">
                <a16:creationId xmlns:a16="http://schemas.microsoft.com/office/drawing/2014/main" id="{8AF6B40E-1F26-42A0-BD51-F609438D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1790700"/>
            <a:ext cx="3517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化学专家｜自然语言查询 / 证据核验</a:t>
            </a:r>
          </a:p>
        </p:txBody>
      </p:sp>
      <p:sp>
        <p:nvSpPr>
          <p:cNvPr id="9" name="专家 / 管理员｜经验审核 / Benchmark">
            <a:extLst xmlns:a="http://schemas.openxmlformats.org/drawingml/2006/main">
              <a:ext uri="{FF2B5EF4-FFF2-40B4-BE49-F238E27FC236}">
                <a16:creationId xmlns:a16="http://schemas.microsoft.com/office/drawing/2014/main" id="{CB628628-BC45-461E-A985-3EB84E50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150" y="1790700"/>
            <a:ext cx="35179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专家 / 管理员｜经验审核 / Benchmark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1E3EC-2C12-4A03-A7DF-60DE820C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05125"/>
            <a:ext cx="1123950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统一&#10;服务层">
            <a:extLst xmlns:a="http://schemas.openxmlformats.org/drawingml/2006/main">
              <a:ext uri="{FF2B5EF4-FFF2-40B4-BE49-F238E27FC236}">
                <a16:creationId xmlns:a16="http://schemas.microsoft.com/office/drawing/2014/main" id="{2356BE7D-F174-46CD-ADD5-AE4B4D98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05125"/>
            <a:ext cx="121920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服务层</a:t>
            </a:r>
          </a:p>
        </p:txBody>
      </p:sp>
      <p:sp>
        <p:nvSpPr>
          <p:cNvPr id="12" name="AD / SSO 身份接入&#10;项目 / 数据域授权">
            <a:extLst xmlns:a="http://schemas.openxmlformats.org/drawingml/2006/main">
              <a:ext uri="{FF2B5EF4-FFF2-40B4-BE49-F238E27FC236}">
                <a16:creationId xmlns:a16="http://schemas.microsoft.com/office/drawing/2014/main" id="{4B47AC8A-3F81-41C6-BF72-2761D930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76575"/>
            <a:ext cx="3517900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AD / SSO 身份接入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项目 / 数据域授权</a:t>
            </a:r>
          </a:p>
        </p:txBody>
      </p:sp>
      <p:sp>
        <p:nvSpPr>
          <p:cNvPr id="13" name="统一 API 与 Agent 工具&#10;查询只读 / 填报受限写入">
            <a:extLst xmlns:a="http://schemas.openxmlformats.org/drawingml/2006/main">
              <a:ext uri="{FF2B5EF4-FFF2-40B4-BE49-F238E27FC236}">
                <a16:creationId xmlns:a16="http://schemas.microsoft.com/office/drawing/2014/main" id="{ADC721B7-E088-490D-A1C4-00F4F05C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3076575"/>
            <a:ext cx="3517900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 API 与 Agent 工具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查询只读 / 填报受限写入</a:t>
            </a:r>
          </a:p>
        </p:txBody>
      </p:sp>
      <p:sp>
        <p:nvSpPr>
          <p:cNvPr id="14" name="查询编排&#10;SQL 路由 / 文档检索 / 摘要">
            <a:extLst xmlns:a="http://schemas.openxmlformats.org/drawingml/2006/main">
              <a:ext uri="{FF2B5EF4-FFF2-40B4-BE49-F238E27FC236}">
                <a16:creationId xmlns:a16="http://schemas.microsoft.com/office/drawing/2014/main" id="{1AA247CD-A9E2-435C-9D99-334419A2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150" y="3076575"/>
            <a:ext cx="3517900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查询编排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SQL 路由 / 文档检索 / 摘要</a:t>
            </a:r>
          </a:p>
        </p:txBody>
      </p:sp>
      <p:sp>
        <p:nvSpPr>
          <p:cNvPr id="15" name="业务侧数据平面">
            <a:extLst xmlns:a="http://schemas.openxmlformats.org/drawingml/2006/main">
              <a:ext uri="{FF2B5EF4-FFF2-40B4-BE49-F238E27FC236}">
                <a16:creationId xmlns:a16="http://schemas.microsoft.com/office/drawing/2014/main" id="{AB62784B-43C9-4DA7-8604-4F80B322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86250"/>
            <a:ext cx="5476875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业务侧数据平面</a:t>
            </a:r>
          </a:p>
        </p:txBody>
      </p:sp>
      <p:sp>
        <p:nvSpPr>
          <p:cNvPr id="16" name="Agent 侧数据平面">
            <a:extLst xmlns:a="http://schemas.openxmlformats.org/drawingml/2006/main">
              <a:ext uri="{FF2B5EF4-FFF2-40B4-BE49-F238E27FC236}">
                <a16:creationId xmlns:a16="http://schemas.microsoft.com/office/drawing/2014/main" id="{20699A8F-04C4-4591-A511-FB13AB88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86250"/>
            <a:ext cx="5476875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侧数据平面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C95EE4-20C5-4B21-AAE8-90FA5E93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0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源数据</a:t>
            </a:r>
          </a:p>
        </p:txBody>
      </p:sp>
      <p:sp>
        <p:nvSpPr>
          <p:cNvPr id="18" name="实验明细 / 挂测总表&#10;Excel / PDF / PPT / 专家访谈">
            <a:extLst xmlns:a="http://schemas.openxmlformats.org/drawingml/2006/main">
              <a:ext uri="{FF2B5EF4-FFF2-40B4-BE49-F238E27FC236}">
                <a16:creationId xmlns:a16="http://schemas.microsoft.com/office/drawing/2014/main" id="{25B5DC2A-490D-48BD-AFC3-7C9FFBF3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05375"/>
            <a:ext cx="547687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实验明细 / 挂测总表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Excel / PDF / PPT / 专家访谈</a:t>
            </a:r>
          </a:p>
        </p:txBody>
      </p:sp>
      <p:sp>
        <p:nvSpPr>
          <p:cNvPr id="19" name="请求 / 响应 / 工具调用 / 检索证据&#10;反馈 / 评测集 / Prompt ">
            <a:extLst xmlns:a="http://schemas.openxmlformats.org/drawingml/2006/main">
              <a:ext uri="{FF2B5EF4-FFF2-40B4-BE49-F238E27FC236}">
                <a16:creationId xmlns:a16="http://schemas.microsoft.com/office/drawing/2014/main" id="{42CEC044-D61E-4152-B97A-69AD1A65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547687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请求 / 响应 / 工具调用 / 检索证据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反馈 / 评测集 / Prompt 与工具版本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0B3A42-07AB-4A86-8A35-8271C213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0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加工能力</a:t>
            </a:r>
          </a:p>
        </p:txBody>
      </p:sp>
      <p:sp>
        <p:nvSpPr>
          <p:cNvPr id="21" name="模板映射 / 文档解析 / OCR&#10;单位与标识规范 / 目录与批准语义">
            <a:extLst xmlns:a="http://schemas.openxmlformats.org/drawingml/2006/main">
              <a:ext uri="{FF2B5EF4-FFF2-40B4-BE49-F238E27FC236}">
                <a16:creationId xmlns:a16="http://schemas.microsoft.com/office/drawing/2014/main" id="{85092FFE-8933-4CE7-86BF-E11DFE8E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53125"/>
            <a:ext cx="547687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模板映射 / 文档解析 / OCR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单位与标识规范 / 目录与批准语义</a:t>
            </a:r>
          </a:p>
        </p:txBody>
      </p:sp>
      <p:sp>
        <p:nvSpPr>
          <p:cNvPr id="22" name="Trace 关联 / 失败分类 / 经验候选&#10;专家审核 / 冻结评测 / 候选对">
            <a:extLst xmlns:a="http://schemas.openxmlformats.org/drawingml/2006/main">
              <a:ext uri="{FF2B5EF4-FFF2-40B4-BE49-F238E27FC236}">
                <a16:creationId xmlns:a16="http://schemas.microsoft.com/office/drawing/2014/main" id="{D3A25586-D9A2-458D-ABDB-54E59AD6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953125"/>
            <a:ext cx="547687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Trace 关联 / 失败分类 / 经验候选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专家审核 / 冻结评测 / 候选对比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CC2735-0B66-450E-949F-90F19C41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0"/>
            <a:ext cx="100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发布资产</a:t>
            </a:r>
          </a:p>
        </p:txBody>
      </p:sp>
      <p:sp>
        <p:nvSpPr>
          <p:cNvPr id="24" name="获准实验视图 / 文档片段与索引&#10;已确认经验 / 可核验查询结果">
            <a:extLst xmlns:a="http://schemas.openxmlformats.org/drawingml/2006/main">
              <a:ext uri="{FF2B5EF4-FFF2-40B4-BE49-F238E27FC236}">
                <a16:creationId xmlns:a16="http://schemas.microsoft.com/office/drawing/2014/main" id="{118390AA-12D0-4C5A-B521-DCCEC8DB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000875"/>
            <a:ext cx="547687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获准实验视图 / 文档片段与索引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已确认经验 / 可核验查询结果</a:t>
            </a:r>
          </a:p>
        </p:txBody>
      </p:sp>
      <p:sp>
        <p:nvSpPr>
          <p:cNvPr id="25" name="运行与配置快照 / 评测报告&#10;批准记忆；技能 / 权重制品〔后续〕">
            <a:extLst xmlns:a="http://schemas.openxmlformats.org/drawingml/2006/main">
              <a:ext uri="{FF2B5EF4-FFF2-40B4-BE49-F238E27FC236}">
                <a16:creationId xmlns:a16="http://schemas.microsoft.com/office/drawing/2014/main" id="{414B6C2B-FFCD-44E7-B4D6-35DAFC35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7000875"/>
            <a:ext cx="547687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运行与配置快照 / 评测报告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批准记忆；技能 / 权重制品〔后续〕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20261E-F2C7-4E68-B410-08DB80F1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191500"/>
            <a:ext cx="1123950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存储&#10;资产层">
            <a:extLst xmlns:a="http://schemas.openxmlformats.org/drawingml/2006/main">
              <a:ext uri="{FF2B5EF4-FFF2-40B4-BE49-F238E27FC236}">
                <a16:creationId xmlns:a16="http://schemas.microsoft.com/office/drawing/2014/main" id="{FE30BACD-F01D-40B0-B631-4051C631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191500"/>
            <a:ext cx="121920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存储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资产层</a:t>
            </a:r>
          </a:p>
        </p:txBody>
      </p:sp>
      <p:sp>
        <p:nvSpPr>
          <p:cNvPr id="28" name="OceanBase&#10;业务 / 目录 / 权限 / 版本">
            <a:extLst xmlns:a="http://schemas.openxmlformats.org/drawingml/2006/main">
              <a:ext uri="{FF2B5EF4-FFF2-40B4-BE49-F238E27FC236}">
                <a16:creationId xmlns:a16="http://schemas.microsoft.com/office/drawing/2014/main" id="{AE105CE3-D8F3-4B7D-B159-A2CD7F36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8362950"/>
            <a:ext cx="35179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OceanBase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业务 / 目录 / 权限 / 版本</a:t>
            </a:r>
          </a:p>
        </p:txBody>
      </p:sp>
      <p:sp>
        <p:nvSpPr>
          <p:cNvPr id="29" name="内网原件存储&#10;文件 / 快照 / 评测附件">
            <a:extLst xmlns:a="http://schemas.openxmlformats.org/drawingml/2006/main">
              <a:ext uri="{FF2B5EF4-FFF2-40B4-BE49-F238E27FC236}">
                <a16:creationId xmlns:a16="http://schemas.microsoft.com/office/drawing/2014/main" id="{DCC29B5A-7D0C-42F6-A298-D5EFF140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8362950"/>
            <a:ext cx="35179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内网原件存储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文件 / 快照 / 评测附件</a:t>
            </a:r>
          </a:p>
        </p:txBody>
      </p:sp>
      <p:sp>
        <p:nvSpPr>
          <p:cNvPr id="30" name="全文 + 向量索引&#10;授权片段 / Schema 检索">
            <a:extLst xmlns:a="http://schemas.openxmlformats.org/drawingml/2006/main">
              <a:ext uri="{FF2B5EF4-FFF2-40B4-BE49-F238E27FC236}">
                <a16:creationId xmlns:a16="http://schemas.microsoft.com/office/drawing/2014/main" id="{6C686B12-A286-4FB4-9DFF-0FD66994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150" y="8362950"/>
            <a:ext cx="3517900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全文 + 向量索引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授权片段 / Schema 检索</a:t>
            </a:r>
          </a:p>
        </p:txBody>
      </p:sp>
      <p:sp>
        <p:nvSpPr>
          <p:cNvPr id="31" name="内网基础设施：现有 LLM / embedding · 任务队列与计算 · 服务">
            <a:extLst xmlns:a="http://schemas.openxmlformats.org/drawingml/2006/main">
              <a:ext uri="{FF2B5EF4-FFF2-40B4-BE49-F238E27FC236}">
                <a16:creationId xmlns:a16="http://schemas.microsoft.com/office/drawing/2014/main" id="{EDC500C0-6BA3-458F-AA88-376365CA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9334500"/>
            <a:ext cx="11239500" cy="5238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内网基础设施：现有 LLM / embedding · 任务队列与计算 · 服务监控 · 备份与恢复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9ED875-9DB9-44D5-AE72-C05BDF70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619250"/>
            <a:ext cx="1000125" cy="8239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数据血缘">
            <a:extLst xmlns:a="http://schemas.openxmlformats.org/drawingml/2006/main">
              <a:ext uri="{FF2B5EF4-FFF2-40B4-BE49-F238E27FC236}">
                <a16:creationId xmlns:a16="http://schemas.microsoft.com/office/drawing/2014/main" id="{1BC4C5C2-1701-42E3-A0B7-4520E05D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619250"/>
            <a:ext cx="100012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数据血缘</a:t>
            </a:r>
          </a:p>
        </p:txBody>
      </p:sp>
      <p:sp>
        <p:nvSpPr>
          <p:cNvPr id="34" name="资产 / 字段标识">
            <a:extLst xmlns:a="http://schemas.openxmlformats.org/drawingml/2006/main">
              <a:ext uri="{FF2B5EF4-FFF2-40B4-BE49-F238E27FC236}">
                <a16:creationId xmlns:a16="http://schemas.microsoft.com/office/drawing/2014/main" id="{36BECDF8-09F3-4885-882C-A9C5BAFB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762250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资产 / 字段标识</a:t>
            </a:r>
          </a:p>
        </p:txBody>
      </p:sp>
      <p:sp>
        <p:nvSpPr>
          <p:cNvPr id="35" name="输入 / 运行 / 输出">
            <a:extLst xmlns:a="http://schemas.openxmlformats.org/drawingml/2006/main">
              <a:ext uri="{FF2B5EF4-FFF2-40B4-BE49-F238E27FC236}">
                <a16:creationId xmlns:a16="http://schemas.microsoft.com/office/drawing/2014/main" id="{8471AA5C-4A2F-42AF-851B-23DA863E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124325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输入 / 运行 / 输出</a:t>
            </a:r>
          </a:p>
        </p:txBody>
      </p:sp>
      <p:sp>
        <p:nvSpPr>
          <p:cNvPr id="36" name="解析 / 模型版本">
            <a:extLst xmlns:a="http://schemas.openxmlformats.org/drawingml/2006/main">
              <a:ext uri="{FF2B5EF4-FFF2-40B4-BE49-F238E27FC236}">
                <a16:creationId xmlns:a16="http://schemas.microsoft.com/office/drawing/2014/main" id="{B761CDE9-56F5-4E19-8842-8EC61258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5486400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解析 / 模型版本</a:t>
            </a:r>
          </a:p>
        </p:txBody>
      </p:sp>
      <p:sp>
        <p:nvSpPr>
          <p:cNvPr id="37" name="引用与影响分析">
            <a:extLst xmlns:a="http://schemas.openxmlformats.org/drawingml/2006/main">
              <a:ext uri="{FF2B5EF4-FFF2-40B4-BE49-F238E27FC236}">
                <a16:creationId xmlns:a16="http://schemas.microsoft.com/office/drawing/2014/main" id="{F55BE9A8-69F9-4E44-9A6A-4098A794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6848475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引用与影响分析</a:t>
            </a:r>
          </a:p>
        </p:txBody>
      </p:sp>
      <p:sp>
        <p:nvSpPr>
          <p:cNvPr id="38" name="修订 / 撤回传播">
            <a:extLst xmlns:a="http://schemas.openxmlformats.org/drawingml/2006/main">
              <a:ext uri="{FF2B5EF4-FFF2-40B4-BE49-F238E27FC236}">
                <a16:creationId xmlns:a16="http://schemas.microsoft.com/office/drawing/2014/main" id="{B5EAEF69-0D1F-44EE-949E-BC27B357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8210550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修订 / 撤回传播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B2315B-E614-4D91-A447-967ED339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1619250"/>
            <a:ext cx="1000125" cy="8239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数据质量">
            <a:extLst xmlns:a="http://schemas.openxmlformats.org/drawingml/2006/main">
              <a:ext uri="{FF2B5EF4-FFF2-40B4-BE49-F238E27FC236}">
                <a16:creationId xmlns:a16="http://schemas.microsoft.com/office/drawing/2014/main" id="{B8FC8B3E-4D67-4641-80F6-BD2EA4DF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1619250"/>
            <a:ext cx="100012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数据质量</a:t>
            </a:r>
          </a:p>
        </p:txBody>
      </p:sp>
      <p:sp>
        <p:nvSpPr>
          <p:cNvPr id="41" name="字段 / 单位规则">
            <a:extLst xmlns:a="http://schemas.openxmlformats.org/drawingml/2006/main">
              <a:ext uri="{FF2B5EF4-FFF2-40B4-BE49-F238E27FC236}">
                <a16:creationId xmlns:a16="http://schemas.microsoft.com/office/drawing/2014/main" id="{531E3E63-A2F4-43A9-AEE4-D2481046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2762250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字段 / 单位规则</a:t>
            </a:r>
          </a:p>
        </p:txBody>
      </p:sp>
      <p:sp>
        <p:nvSpPr>
          <p:cNvPr id="42" name="解析与关联验证">
            <a:extLst xmlns:a="http://schemas.openxmlformats.org/drawingml/2006/main">
              <a:ext uri="{FF2B5EF4-FFF2-40B4-BE49-F238E27FC236}">
                <a16:creationId xmlns:a16="http://schemas.microsoft.com/office/drawing/2014/main" id="{493EF4E2-8D63-43D9-9F33-8483DB96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4124325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解析与关联验证</a:t>
            </a:r>
          </a:p>
        </p:txBody>
      </p:sp>
      <p:sp>
        <p:nvSpPr>
          <p:cNvPr id="43" name="科学异常复核">
            <a:extLst xmlns:a="http://schemas.openxmlformats.org/drawingml/2006/main">
              <a:ext uri="{FF2B5EF4-FFF2-40B4-BE49-F238E27FC236}">
                <a16:creationId xmlns:a16="http://schemas.microsoft.com/office/drawing/2014/main" id="{0DF25637-C3EB-4296-8A5A-628876CB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5486400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科学异常复核</a:t>
            </a:r>
          </a:p>
        </p:txBody>
      </p:sp>
      <p:sp>
        <p:nvSpPr>
          <p:cNvPr id="44" name="结果 / 证据评测">
            <a:extLst xmlns:a="http://schemas.openxmlformats.org/drawingml/2006/main">
              <a:ext uri="{FF2B5EF4-FFF2-40B4-BE49-F238E27FC236}">
                <a16:creationId xmlns:a16="http://schemas.microsoft.com/office/drawing/2014/main" id="{9CABA5A8-115A-4E06-8E6A-EDDE4E26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6848475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结果 / 证据评测</a:t>
            </a:r>
          </a:p>
        </p:txBody>
      </p:sp>
      <p:sp>
        <p:nvSpPr>
          <p:cNvPr id="45" name="隔离 / 修复 / 重验">
            <a:extLst xmlns:a="http://schemas.openxmlformats.org/drawingml/2006/main">
              <a:ext uri="{FF2B5EF4-FFF2-40B4-BE49-F238E27FC236}">
                <a16:creationId xmlns:a16="http://schemas.microsoft.com/office/drawing/2014/main" id="{4DA9591F-66A5-4B78-B755-4E375F01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3725" y="8210550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隔离 / 修复 / 重验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19E973-31D8-496B-ABD3-4DED3AAC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1619250"/>
            <a:ext cx="1000125" cy="8239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安全与运维">
            <a:extLst xmlns:a="http://schemas.openxmlformats.org/drawingml/2006/main">
              <a:ext uri="{FF2B5EF4-FFF2-40B4-BE49-F238E27FC236}">
                <a16:creationId xmlns:a16="http://schemas.microsoft.com/office/drawing/2014/main" id="{B9AF4F38-7739-4B11-8832-661A0913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1619250"/>
            <a:ext cx="1000125" cy="8763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安全与运维</a:t>
            </a:r>
          </a:p>
        </p:txBody>
      </p:sp>
      <p:sp>
        <p:nvSpPr>
          <p:cNvPr id="48" name="AD / 服务身份">
            <a:extLst xmlns:a="http://schemas.openxmlformats.org/drawingml/2006/main">
              <a:ext uri="{FF2B5EF4-FFF2-40B4-BE49-F238E27FC236}">
                <a16:creationId xmlns:a16="http://schemas.microsoft.com/office/drawing/2014/main" id="{5830FD9B-0183-42F5-86F4-EC95AEAD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2762250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AD / 服务身份</a:t>
            </a:r>
          </a:p>
        </p:txBody>
      </p:sp>
      <p:sp>
        <p:nvSpPr>
          <p:cNvPr id="49" name="读写 / 项目权限">
            <a:extLst xmlns:a="http://schemas.openxmlformats.org/drawingml/2006/main">
              <a:ext uri="{FF2B5EF4-FFF2-40B4-BE49-F238E27FC236}">
                <a16:creationId xmlns:a16="http://schemas.microsoft.com/office/drawing/2014/main" id="{89B03A04-F3C5-420B-B929-FED6CF1E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4124325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读写 / 项目权限</a:t>
            </a:r>
          </a:p>
        </p:txBody>
      </p:sp>
      <p:sp>
        <p:nvSpPr>
          <p:cNvPr id="50" name="原件 / 索引一致授权">
            <a:extLst xmlns:a="http://schemas.openxmlformats.org/drawingml/2006/main">
              <a:ext uri="{FF2B5EF4-FFF2-40B4-BE49-F238E27FC236}">
                <a16:creationId xmlns:a16="http://schemas.microsoft.com/office/drawing/2014/main" id="{33DF0A3C-0515-4AD3-B25D-4E4C48E6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5486400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原件 / 索引一致授权</a:t>
            </a:r>
          </a:p>
        </p:txBody>
      </p:sp>
      <p:sp>
        <p:nvSpPr>
          <p:cNvPr id="51" name="审计 / 配额 / 告警">
            <a:extLst xmlns:a="http://schemas.openxmlformats.org/drawingml/2006/main">
              <a:ext uri="{FF2B5EF4-FFF2-40B4-BE49-F238E27FC236}">
                <a16:creationId xmlns:a16="http://schemas.microsoft.com/office/drawing/2014/main" id="{60814F04-44E5-4963-9FD1-0A36CA7F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6848475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审计 / 配额 / 告警</a:t>
            </a:r>
          </a:p>
        </p:txBody>
      </p:sp>
      <p:sp>
        <p:nvSpPr>
          <p:cNvPr id="52" name="发布 / 回滚 / 恢复">
            <a:extLst xmlns:a="http://schemas.openxmlformats.org/drawingml/2006/main">
              <a:ext uri="{FF2B5EF4-FFF2-40B4-BE49-F238E27FC236}">
                <a16:creationId xmlns:a16="http://schemas.microsoft.com/office/drawing/2014/main" id="{72E7306D-A4D7-4D47-88C0-51ADC08A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8210550"/>
            <a:ext cx="885825" cy="109537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发布 / 回滚 / 恢复</a:t>
            </a:r>
          </a:p>
        </p:txBody>
      </p:sp>
    </p:spTree>
    <p:extLst>
      <p:ext uri="{BB962C8B-B14F-4D97-AF65-F5344CB8AC3E}">
        <p14:creationId xmlns:p14="http://schemas.microsoft.com/office/powerpoint/2010/main" val="1562245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FBC984-5078-4EE0-9BD1-B0489B69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业务侧与 Agent 侧的数据流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18DA8-C612-4917-8B0D-E6737112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写入、查询与反馈使用不同权限；相同资产 ID、版本和运行 ID 将两侧联接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12866-F557-4DCA-A2A6-2F600445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92CFB-8054-42B7-A364-03955E54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业务数据入库链路">
            <a:extLst xmlns:a="http://schemas.openxmlformats.org/drawingml/2006/main">
              <a:ext uri="{FF2B5EF4-FFF2-40B4-BE49-F238E27FC236}">
                <a16:creationId xmlns:a16="http://schemas.microsoft.com/office/drawing/2014/main" id="{52298F0C-6D49-4595-BFDB-EB8942A6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160972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业务数据入库链路</a:t>
            </a:r>
          </a:p>
        </p:txBody>
      </p:sp>
      <p:sp>
        <p:nvSpPr>
          <p:cNvPr id="6" name="数据入口&#10;填报 / Excel / 共享盘">
            <a:extLst xmlns:a="http://schemas.openxmlformats.org/drawingml/2006/main">
              <a:ext uri="{FF2B5EF4-FFF2-40B4-BE49-F238E27FC236}">
                <a16:creationId xmlns:a16="http://schemas.microsoft.com/office/drawing/2014/main" id="{C5697FF6-850A-4EC2-B529-84083707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2952750" cy="1238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数据入口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填报 / Excel / 共享盘</a:t>
            </a:r>
          </a:p>
        </p:txBody>
      </p:sp>
      <p:sp>
        <p:nvSpPr>
          <p:cNvPr id="7" name="接入登记&#10;批次 / 身份 / 原件版本">
            <a:extLst xmlns:a="http://schemas.openxmlformats.org/drawingml/2006/main">
              <a:ext uri="{FF2B5EF4-FFF2-40B4-BE49-F238E27FC236}">
                <a16:creationId xmlns:a16="http://schemas.microsoft.com/office/drawing/2014/main" id="{365FDAA9-88CF-48A8-837B-A178749F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28875"/>
            <a:ext cx="2952750" cy="1238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接入登记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批次 / 身份 / 原件版本</a:t>
            </a:r>
          </a:p>
        </p:txBody>
      </p:sp>
      <p:sp>
        <p:nvSpPr>
          <p:cNvPr id="8" name="加工校验&#10;字段 / 解析 / 单位 / 关联">
            <a:extLst xmlns:a="http://schemas.openxmlformats.org/drawingml/2006/main">
              <a:ext uri="{FF2B5EF4-FFF2-40B4-BE49-F238E27FC236}">
                <a16:creationId xmlns:a16="http://schemas.microsoft.com/office/drawing/2014/main" id="{F33EAA2E-6E4E-4293-A2DA-A36843D4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28875"/>
            <a:ext cx="2952750" cy="1238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加工校验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字段 / 解析 / 单位 / 关联</a:t>
            </a:r>
          </a:p>
        </p:txBody>
      </p:sp>
      <p:sp>
        <p:nvSpPr>
          <p:cNvPr id="9" name="发布资产&#10;实验视图 / 片段 / 索引">
            <a:extLst xmlns:a="http://schemas.openxmlformats.org/drawingml/2006/main">
              <a:ext uri="{FF2B5EF4-FFF2-40B4-BE49-F238E27FC236}">
                <a16:creationId xmlns:a16="http://schemas.microsoft.com/office/drawing/2014/main" id="{B0AEA6EE-0B80-4891-A868-DE690907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28875"/>
            <a:ext cx="2952750" cy="1238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发布资产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实验视图 / 片段 / 索引</a:t>
            </a:r>
          </a:p>
        </p:txBody>
      </p:sp>
      <p:sp>
        <p:nvSpPr>
          <p:cNvPr id="10" name="统一查询&#10;表格 / 摘要 / 来源证据">
            <a:extLst xmlns:a="http://schemas.openxmlformats.org/drawingml/2006/main">
              <a:ext uri="{FF2B5EF4-FFF2-40B4-BE49-F238E27FC236}">
                <a16:creationId xmlns:a16="http://schemas.microsoft.com/office/drawing/2014/main" id="{94A1C771-D9C6-4FD6-8210-02A91B95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2428875"/>
            <a:ext cx="2952750" cy="1238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统一查询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表格 / 摘要 / 来源证据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76625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762750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048875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3335000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8CDF8-EBC1-42AF-B4D3-0AB2074F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76675"/>
            <a:ext cx="1609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输入：项目、批次、电芯、实验标识及原件  ｜  挂测总表保留人工口径，关联明细而不默认自动重算</a:t>
            </a:r>
          </a:p>
        </p:txBody>
      </p:sp>
      <p:sp>
        <p:nvSpPr>
          <p:cNvPr id="16" name="Agent 运行与反馈链路">
            <a:extLst xmlns:a="http://schemas.openxmlformats.org/drawingml/2006/main">
              <a:ext uri="{FF2B5EF4-FFF2-40B4-BE49-F238E27FC236}">
                <a16:creationId xmlns:a16="http://schemas.microsoft.com/office/drawing/2014/main" id="{EF89471B-0792-4E25-B9EE-6C61338A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0"/>
            <a:ext cx="160972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运行与反馈链路</a:t>
            </a:r>
          </a:p>
        </p:txBody>
      </p:sp>
      <p:sp>
        <p:nvSpPr>
          <p:cNvPr id="17" name="任务与上下文&#10;用户 / 项目 / query_id">
            <a:extLst xmlns:a="http://schemas.openxmlformats.org/drawingml/2006/main">
              <a:ext uri="{FF2B5EF4-FFF2-40B4-BE49-F238E27FC236}">
                <a16:creationId xmlns:a16="http://schemas.microsoft.com/office/drawing/2014/main" id="{D5ECB3E2-1C90-4E5E-8984-83ED9103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295275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任务与上下文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用户 / 项目 / query_id</a:t>
            </a:r>
          </a:p>
        </p:txBody>
      </p:sp>
      <p:sp>
        <p:nvSpPr>
          <p:cNvPr id="18" name="受控执行&#10;选表 / SQL / 检索 / LLM">
            <a:extLst xmlns:a="http://schemas.openxmlformats.org/drawingml/2006/main">
              <a:ext uri="{FF2B5EF4-FFF2-40B4-BE49-F238E27FC236}">
                <a16:creationId xmlns:a16="http://schemas.microsoft.com/office/drawing/2014/main" id="{9216C5CB-D79E-4463-9DED-D18EB473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24500"/>
            <a:ext cx="295275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受控执行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选表 / SQL / 检索 / LLM</a:t>
            </a:r>
          </a:p>
        </p:txBody>
      </p:sp>
      <p:sp>
        <p:nvSpPr>
          <p:cNvPr id="19" name="运行记录&#10;Trace / 工具输入输出&#10;证据引用 / 版本清单">
            <a:extLst xmlns:a="http://schemas.openxmlformats.org/drawingml/2006/main">
              <a:ext uri="{FF2B5EF4-FFF2-40B4-BE49-F238E27FC236}">
                <a16:creationId xmlns:a16="http://schemas.microsoft.com/office/drawing/2014/main" id="{C3484687-D76F-43BB-9300-21B20CBF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524500"/>
            <a:ext cx="295275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运行记录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Trace / 工具输入输出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证据引用 / 版本清单</a:t>
            </a:r>
          </a:p>
        </p:txBody>
      </p:sp>
      <p:sp>
        <p:nvSpPr>
          <p:cNvPr id="20" name="专家反馈&#10;错误类型 / 纠正依据&#10;经验候选 / 复核状态">
            <a:extLst xmlns:a="http://schemas.openxmlformats.org/drawingml/2006/main">
              <a:ext uri="{FF2B5EF4-FFF2-40B4-BE49-F238E27FC236}">
                <a16:creationId xmlns:a16="http://schemas.microsoft.com/office/drawing/2014/main" id="{307C6D8E-E14C-4569-86A6-4FCC4F81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524500"/>
            <a:ext cx="295275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专家反馈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错误类型 / 纠正依据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经验候选 / 复核状态</a:t>
            </a:r>
          </a:p>
        </p:txBody>
      </p:sp>
      <p:sp>
        <p:nvSpPr>
          <p:cNvPr id="21" name="评测与发布&#10;冻结测试 / 基线对比&#10;批准版本 / 回滚依据">
            <a:extLst xmlns:a="http://schemas.openxmlformats.org/drawingml/2006/main">
              <a:ext uri="{FF2B5EF4-FFF2-40B4-BE49-F238E27FC236}">
                <a16:creationId xmlns:a16="http://schemas.microsoft.com/office/drawing/2014/main" id="{03A73CEC-EA13-4E0A-825F-770C686C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5524500"/>
            <a:ext cx="2952750" cy="1428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评测与发布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冻结测试 / 基线对比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批准版本 / 回滚依据</a:t>
            </a:r>
          </a:p>
        </p:txBody>
      </p:sp>
      <p:cxnSp>
        <p:nvCxnSpPr>
          <p:cNvPr id="51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476625" y="62388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762750" y="62388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0048875" y="62388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3335000" y="62388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8572500" y="3667125"/>
            <a:ext cx="6572250" cy="1857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26A7C"/>
            </a:solidFill>
            <a:prstDash val="dash"/>
            <a:tailEnd type="triangle" w="sm" len="sm"/>
          </a:ln>
        </p:spPr>
      </p:cxnSp>
      <p:sp>
        <p:nvSpPr>
          <p:cNvPr id="27" name="统一关联键：asset_id / asset_version · experim">
            <a:extLst xmlns:a="http://schemas.openxmlformats.org/drawingml/2006/main">
              <a:ext uri="{FF2B5EF4-FFF2-40B4-BE49-F238E27FC236}">
                <a16:creationId xmlns:a16="http://schemas.microsoft.com/office/drawing/2014/main" id="{103ABCE7-81ED-49F7-87B9-5674B16B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620000"/>
            <a:ext cx="16097250" cy="762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统一关联键：asset_id / asset_version · experiment_id / batch_id · query_id / trace_id · policy_version</a:t>
            </a:r>
          </a:p>
        </p:txBody>
      </p:sp>
      <p:sp>
        <p:nvSpPr>
          <p:cNvPr id="28" name="一期：更新目录、检索、Prompt 与确认知识&#10;反馈经审核和评测后发布">
            <a:extLst xmlns:a="http://schemas.openxmlformats.org/drawingml/2006/main">
              <a:ext uri="{FF2B5EF4-FFF2-40B4-BE49-F238E27FC236}">
                <a16:creationId xmlns:a16="http://schemas.microsoft.com/office/drawing/2014/main" id="{68ED3B78-6030-48C0-9B7C-39C92FE4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0"/>
            <a:ext cx="7667625" cy="9144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一期：更新目录、检索、Prompt 与确认知识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反馈经审核和评测后发布</a:t>
            </a:r>
          </a:p>
        </p:txBody>
      </p:sp>
      <p:sp>
        <p:nvSpPr>
          <p:cNvPr id="29" name="后续：代码 / 技能 / 权重候选 → 沙箱 → 测试 → 审批&#10;新增训练快照、">
            <a:extLst xmlns:a="http://schemas.openxmlformats.org/drawingml/2006/main">
              <a:ext uri="{FF2B5EF4-FFF2-40B4-BE49-F238E27FC236}">
                <a16:creationId xmlns:a16="http://schemas.microsoft.com/office/drawing/2014/main" id="{A53441CA-A45B-42B0-8B0B-FF1AF430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763000"/>
            <a:ext cx="7858125" cy="9144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dash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后续：代码 / 技能 / 权重候选 → 沙箱 → 测试 → 审批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新增训练快照、Git / 制品和发布门禁</a:t>
            </a:r>
          </a:p>
        </p:txBody>
      </p:sp>
    </p:spTree>
    <p:extLst>
      <p:ext uri="{BB962C8B-B14F-4D97-AF65-F5344CB8AC3E}">
        <p14:creationId xmlns:p14="http://schemas.microsoft.com/office/powerpoint/2010/main" val="8910149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78DF17-7C4F-4429-A9E3-CDAD32D9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数据血缘实现架构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B2C46-69B9-4AE1-9472-629C69E1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服务主动记录来源，数据库结构采集补充目录；LLM 生成的 SQL 仅作候选，实际执行与引用结果才形成运行证据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4DFCC-7D3F-47E2-8EF6-E96B4960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EC8B4-6432-4E82-B8C4-AD6310BA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采集点">
            <a:extLst xmlns:a="http://schemas.openxmlformats.org/drawingml/2006/main">
              <a:ext uri="{FF2B5EF4-FFF2-40B4-BE49-F238E27FC236}">
                <a16:creationId xmlns:a16="http://schemas.microsoft.com/office/drawing/2014/main" id="{D997DCA7-6CEE-4D0F-B7B1-CF5846ED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2381250" cy="5238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采集点</a:t>
            </a:r>
          </a:p>
        </p:txBody>
      </p:sp>
      <p:sp>
        <p:nvSpPr>
          <p:cNvPr id="6" name="Excel 入库 / 填报事务&#10;源文件、映射、记录修订">
            <a:extLst xmlns:a="http://schemas.openxmlformats.org/drawingml/2006/main">
              <a:ext uri="{FF2B5EF4-FFF2-40B4-BE49-F238E27FC236}">
                <a16:creationId xmlns:a16="http://schemas.microsoft.com/office/drawing/2014/main" id="{8A1C80A3-6FE2-48C4-88E8-FDF018A5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2952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Excel 入库 / 填报事务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源文件、映射、记录修订</a:t>
            </a:r>
          </a:p>
        </p:txBody>
      </p:sp>
      <p:sp>
        <p:nvSpPr>
          <p:cNvPr id="7" name="解析 / OCR / 切分任务&#10;原件页码、处理版本、片段">
            <a:extLst xmlns:a="http://schemas.openxmlformats.org/drawingml/2006/main">
              <a:ext uri="{FF2B5EF4-FFF2-40B4-BE49-F238E27FC236}">
                <a16:creationId xmlns:a16="http://schemas.microsoft.com/office/drawing/2014/main" id="{B028973D-F1D1-4DB9-AF03-776BAAC9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81450"/>
            <a:ext cx="2952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解析 / OCR / 切分任务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原件页码、处理版本、片段</a:t>
            </a:r>
          </a:p>
        </p:txBody>
      </p:sp>
      <p:sp>
        <p:nvSpPr>
          <p:cNvPr id="8" name="SQL 执行 / 检索 / 模型调用&#10;实际来源、公开工具输入输出">
            <a:extLst xmlns:a="http://schemas.openxmlformats.org/drawingml/2006/main">
              <a:ext uri="{FF2B5EF4-FFF2-40B4-BE49-F238E27FC236}">
                <a16:creationId xmlns:a16="http://schemas.microsoft.com/office/drawing/2014/main" id="{9CB35802-C7A3-4192-A8BC-CE6001D1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81650"/>
            <a:ext cx="2952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SQL 执行 / 检索 / 模型调用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实际来源、公开工具输入输出</a:t>
            </a:r>
          </a:p>
        </p:txBody>
      </p:sp>
      <p:sp>
        <p:nvSpPr>
          <p:cNvPr id="9" name="评测 / 发布 / 撤回操作&#10;快照、候选、策略和状态">
            <a:extLst xmlns:a="http://schemas.openxmlformats.org/drawingml/2006/main">
              <a:ext uri="{FF2B5EF4-FFF2-40B4-BE49-F238E27FC236}">
                <a16:creationId xmlns:a16="http://schemas.microsoft.com/office/drawing/2014/main" id="{7124C315-69B9-4064-9499-B2090713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181850"/>
            <a:ext cx="2952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评测 / 发布 / 撤回操作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快照、候选、策略和状态</a:t>
            </a:r>
          </a:p>
        </p:txBody>
      </p:sp>
      <p:sp>
        <p:nvSpPr>
          <p:cNvPr id="10" name="统一事件接口&#10;START / COMPLETE / FAIL&#10;run_id + ">
            <a:extLst xmlns:a="http://schemas.openxmlformats.org/drawingml/2006/main">
              <a:ext uri="{FF2B5EF4-FFF2-40B4-BE49-F238E27FC236}">
                <a16:creationId xmlns:a16="http://schemas.microsoft.com/office/drawing/2014/main" id="{A6E31C24-D9B9-45FA-8E38-FB09E0D2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3429000" cy="1952625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统一事件接口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START / COMPLETE / FAIL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run_id + 输入输出引用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事件幂等 / 重试 / 错误队列</a:t>
            </a:r>
          </a:p>
        </p:txBody>
      </p:sp>
      <p:sp>
        <p:nvSpPr>
          <p:cNvPr id="11" name="血缘与版本目录&#10;资产 / 字段 / Run / Job&#10;输入 → 处理 → 输出">
            <a:extLst xmlns:a="http://schemas.openxmlformats.org/drawingml/2006/main">
              <a:ext uri="{FF2B5EF4-FFF2-40B4-BE49-F238E27FC236}">
                <a16:creationId xmlns:a16="http://schemas.microsoft.com/office/drawing/2014/main" id="{E1E89D7A-F805-421B-B752-3056D783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67000"/>
            <a:ext cx="3810000" cy="1952625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血缘与版本目录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资产 / 字段 / Run / Job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输入 → 处理 → 输出关系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记录不可静默覆盖</a:t>
            </a:r>
          </a:p>
        </p:txBody>
      </p:sp>
      <p:sp>
        <p:nvSpPr>
          <p:cNvPr id="12" name="追溯与影响分析&#10;证据回原件 / 字段&#10;变更影响范围&#10;过期标记与重建任务">
            <a:extLst xmlns:a="http://schemas.openxmlformats.org/drawingml/2006/main">
              <a:ext uri="{FF2B5EF4-FFF2-40B4-BE49-F238E27FC236}">
                <a16:creationId xmlns:a16="http://schemas.microsoft.com/office/drawing/2014/main" id="{759F3772-4F6D-4ABB-A747-757B460A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2667000"/>
            <a:ext cx="3333750" cy="1952625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追溯与影响分析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证据回原件 / 字段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变更影响范围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过期标记与重建任务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476625" y="2976563"/>
            <a:ext cx="809625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476625" y="3643313"/>
            <a:ext cx="809625" cy="933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476625" y="3643313"/>
            <a:ext cx="809625" cy="2533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476625" y="3643313"/>
            <a:ext cx="809625" cy="4133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715250" y="3643313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2430125" y="364331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sp>
        <p:nvSpPr>
          <p:cNvPr id="19" name="字段事件契约：project / asset_id / version / ru">
            <a:extLst xmlns:a="http://schemas.openxmlformats.org/drawingml/2006/main">
              <a:ext uri="{FF2B5EF4-FFF2-40B4-BE49-F238E27FC236}">
                <a16:creationId xmlns:a16="http://schemas.microsoft.com/office/drawing/2014/main" id="{148589A3-92FF-49E8-BBB9-935B5F37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43500"/>
            <a:ext cx="12334875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字段事件契约：project / asset_id / version / run_id / job_id / inputs / outputs / code_or_config_version / status / timestamp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C7E9E8-6D65-4ADA-B6D7-37A8CB2E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438900"/>
            <a:ext cx="1233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实例：报告文件 → 解析片段 → 检索运行 → 查询答案 → 专家反馈 → 评测用例</a:t>
            </a:r>
          </a:p>
        </p:txBody>
      </p:sp>
      <p:sp>
        <p:nvSpPr>
          <p:cNvPr id="21" name="报告 V2&#10;asset_id + hash">
            <a:extLst xmlns:a="http://schemas.openxmlformats.org/drawingml/2006/main">
              <a:ext uri="{FF2B5EF4-FFF2-40B4-BE49-F238E27FC236}">
                <a16:creationId xmlns:a16="http://schemas.microsoft.com/office/drawing/2014/main" id="{88B8D39B-68F3-4A85-98BC-44E98A04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239000"/>
            <a:ext cx="2847975" cy="11049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报告 V2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asset_id + hash</a:t>
            </a:r>
          </a:p>
        </p:txBody>
      </p:sp>
      <p:sp>
        <p:nvSpPr>
          <p:cNvPr id="22" name="片段 C17&#10;页码 / 表格位置">
            <a:extLst xmlns:a="http://schemas.openxmlformats.org/drawingml/2006/main">
              <a:ext uri="{FF2B5EF4-FFF2-40B4-BE49-F238E27FC236}">
                <a16:creationId xmlns:a16="http://schemas.microsoft.com/office/drawing/2014/main" id="{EFB7ADC6-5230-4A95-814A-650C9E04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7239000"/>
            <a:ext cx="2847975" cy="11049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片段 C17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页码 / 表格位置</a:t>
            </a:r>
          </a:p>
        </p:txBody>
      </p:sp>
      <p:sp>
        <p:nvSpPr>
          <p:cNvPr id="23" name="查询 Q93&#10;SQL / 证据引用">
            <a:extLst xmlns:a="http://schemas.openxmlformats.org/drawingml/2006/main">
              <a:ext uri="{FF2B5EF4-FFF2-40B4-BE49-F238E27FC236}">
                <a16:creationId xmlns:a16="http://schemas.microsoft.com/office/drawing/2014/main" id="{283680FF-7A7A-426D-B4BB-D5E7FBBF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7239000"/>
            <a:ext cx="2847975" cy="11049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查询 Q93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SQL / 证据引用</a:t>
            </a:r>
          </a:p>
        </p:txBody>
      </p:sp>
      <p:sp>
        <p:nvSpPr>
          <p:cNvPr id="24" name="评测 E12&#10;冻结资产快照">
            <a:extLst xmlns:a="http://schemas.openxmlformats.org/drawingml/2006/main">
              <a:ext uri="{FF2B5EF4-FFF2-40B4-BE49-F238E27FC236}">
                <a16:creationId xmlns:a16="http://schemas.microsoft.com/office/drawing/2014/main" id="{C653A26D-D303-414C-93B6-184674EC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7239000"/>
            <a:ext cx="2847975" cy="11049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评测 E12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冻结资产快照</a:t>
            </a:r>
          </a:p>
        </p:txBody>
      </p:sp>
      <p:cxnSp>
        <p:nvCxnSpPr>
          <p:cNvPr id="53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134225" y="77914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0296525" y="77914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3458825" y="77914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sp>
        <p:nvSpPr>
          <p:cNvPr id="28" name="实施建议：一期在 OceanBase 保存节点 / 关系 / 事件与版本清单；用">
            <a:extLst xmlns:a="http://schemas.openxmlformats.org/drawingml/2006/main">
              <a:ext uri="{FF2B5EF4-FFF2-40B4-BE49-F238E27FC236}">
                <a16:creationId xmlns:a16="http://schemas.microsoft.com/office/drawing/2014/main" id="{78676CBD-31E1-445E-B6AF-32004BC5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8763000"/>
            <a:ext cx="12334875" cy="1019175"/>
          </a:xfrm>
          <a:prstGeom xmlns:a="http://schemas.openxmlformats.org/drawingml/2006/main" prst="roundRect">
            <a:avLst>
              <a:gd name="adj" fmla="val 4673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13335">
            <a:solidFill>
              <a:srgbClr val="C79332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实施建议：一期在 OceanBase 保存节点 / 关系 / 事件与版本清单；用现有服务埋点。复杂跨系统再接 OpenLineage / 专用目录。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表级自动采集 + 实际 SQL 解析 + 应用映射形成字段候选；动态 SQL、UDF 与人工总表关系保留“未确认”状态。</a:t>
            </a:r>
          </a:p>
        </p:txBody>
      </p:sp>
    </p:spTree>
    <p:extLst>
      <p:ext uri="{BB962C8B-B14F-4D97-AF65-F5344CB8AC3E}">
        <p14:creationId xmlns:p14="http://schemas.microsoft.com/office/powerpoint/2010/main" val="4100432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9FC5D5-2110-4BA9-AABD-F01C0D62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数据质量实现架构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175EC-7325-4C3A-B4FD-B2D0B783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入库质量、加工质量、科学复核和 Agent 答案质量分别管理；质量结果也登记为可追溯资产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90B58-A5F0-41E3-8B6C-86630D04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742F5-3C50-46C7-8204-C5872F8B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8CA0B-8FB8-430B-9A37-5065C6D2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160972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CFC59-7F00-45E2-9435-CA601B1F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562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规则库与标准样本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035A5-9C4B-4458-824E-5419D765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1562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模板 / 表族规则 · 必填 / 类型 / 范围 · 单位 / 标识 / 关联 · 文档标注样本 · 专家口径 · Benchmark 评分规则</a:t>
            </a:r>
          </a:p>
        </p:txBody>
      </p:sp>
      <p:sp>
        <p:nvSpPr>
          <p:cNvPr id="8" name="G1 接入门禁">
            <a:extLst xmlns:a="http://schemas.openxmlformats.org/drawingml/2006/main">
              <a:ext uri="{FF2B5EF4-FFF2-40B4-BE49-F238E27FC236}">
                <a16:creationId xmlns:a16="http://schemas.microsoft.com/office/drawing/2014/main" id="{D21C68FA-476A-4103-998C-665D6052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0375"/>
            <a:ext cx="3667125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G1 接入门禁</a:t>
            </a:r>
          </a:p>
        </p:txBody>
      </p:sp>
      <p:sp>
        <p:nvSpPr>
          <p:cNvPr id="9" name="必填 / 类型 / 重复&#10;单位 / 项目权限&#10;幂等 / 并发版本">
            <a:extLst xmlns:a="http://schemas.openxmlformats.org/drawingml/2006/main">
              <a:ext uri="{FF2B5EF4-FFF2-40B4-BE49-F238E27FC236}">
                <a16:creationId xmlns:a16="http://schemas.microsoft.com/office/drawing/2014/main" id="{88D75D89-FD38-44A1-BA71-AC74FD17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38550"/>
            <a:ext cx="3667125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必填 / 类型 / 重复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单位 / 项目权限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幂等 / 并发版本</a:t>
            </a:r>
          </a:p>
        </p:txBody>
      </p:sp>
      <p:sp>
        <p:nvSpPr>
          <p:cNvPr id="10" name="G2 加工验证">
            <a:extLst xmlns:a="http://schemas.openxmlformats.org/drawingml/2006/main">
              <a:ext uri="{FF2B5EF4-FFF2-40B4-BE49-F238E27FC236}">
                <a16:creationId xmlns:a16="http://schemas.microsoft.com/office/drawing/2014/main" id="{7B32170A-BB93-4AD9-948D-8C00ABE2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0375"/>
            <a:ext cx="3667125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G2 加工验证</a:t>
            </a:r>
          </a:p>
        </p:txBody>
      </p:sp>
      <p:sp>
        <p:nvSpPr>
          <p:cNvPr id="11" name="页码 / 表格完整性&#10;原值与规范值&#10;实体与关联置信度">
            <a:extLst xmlns:a="http://schemas.openxmlformats.org/drawingml/2006/main">
              <a:ext uri="{FF2B5EF4-FFF2-40B4-BE49-F238E27FC236}">
                <a16:creationId xmlns:a16="http://schemas.microsoft.com/office/drawing/2014/main" id="{6C5EA328-AAE7-4582-82F7-3F68E6D6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3667125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页码 / 表格完整性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原值与规范值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实体与关联置信度</a:t>
            </a:r>
          </a:p>
        </p:txBody>
      </p:sp>
      <p:sp>
        <p:nvSpPr>
          <p:cNvPr id="12" name="G3 科学复核">
            <a:extLst xmlns:a="http://schemas.openxmlformats.org/drawingml/2006/main">
              <a:ext uri="{FF2B5EF4-FFF2-40B4-BE49-F238E27FC236}">
                <a16:creationId xmlns:a16="http://schemas.microsoft.com/office/drawing/2014/main" id="{CC6962BC-AD02-499D-B552-817E19DA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00375"/>
            <a:ext cx="3667125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G3 科学复核</a:t>
            </a:r>
          </a:p>
        </p:txBody>
      </p:sp>
      <p:sp>
        <p:nvSpPr>
          <p:cNvPr id="13" name="异常值与实验条件&#10;明细 / 总表口径&#10;专家经验冲突">
            <a:extLst xmlns:a="http://schemas.openxmlformats.org/drawingml/2006/main">
              <a:ext uri="{FF2B5EF4-FFF2-40B4-BE49-F238E27FC236}">
                <a16:creationId xmlns:a16="http://schemas.microsoft.com/office/drawing/2014/main" id="{287D024D-5528-4652-8162-F869587D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38550"/>
            <a:ext cx="3667125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异常值与实验条件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明细 / 总表口径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专家经验冲突</a:t>
            </a:r>
          </a:p>
        </p:txBody>
      </p:sp>
      <p:sp>
        <p:nvSpPr>
          <p:cNvPr id="14" name="G4 查询评测">
            <a:extLst xmlns:a="http://schemas.openxmlformats.org/drawingml/2006/main">
              <a:ext uri="{FF2B5EF4-FFF2-40B4-BE49-F238E27FC236}">
                <a16:creationId xmlns:a16="http://schemas.microsoft.com/office/drawing/2014/main" id="{7C23EBF0-F5FF-49ED-A387-DB3818D4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000375"/>
            <a:ext cx="3667125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G4 查询评测</a:t>
            </a:r>
          </a:p>
        </p:txBody>
      </p:sp>
      <p:sp>
        <p:nvSpPr>
          <p:cNvPr id="15" name="SQL 结果与粒度&#10;引用位置与证据支持&#10;越权拒绝 / 空结果">
            <a:extLst xmlns:a="http://schemas.openxmlformats.org/drawingml/2006/main">
              <a:ext uri="{FF2B5EF4-FFF2-40B4-BE49-F238E27FC236}">
                <a16:creationId xmlns:a16="http://schemas.microsoft.com/office/drawing/2014/main" id="{B0A07549-679F-4512-B193-44ACE561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638550"/>
            <a:ext cx="3667125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SQL 结果与粒度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引用位置与证据支持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越权拒绝 / 空结果</a:t>
            </a:r>
          </a:p>
        </p:txBody>
      </p:sp>
      <p:cxnSp>
        <p:nvCxnSpPr>
          <p:cNvPr id="49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191000" y="432911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334375" y="432911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2477750" y="432911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solid"/>
            <a:tailEnd type="triangle" w="sm" len="sm"/>
          </a:ln>
        </p:spPr>
      </p:cxnSp>
      <p:sp>
        <p:nvSpPr>
          <p:cNvPr id="19" name="统一质量结果&#10;rule_id / rule_version · asset_ve">
            <a:extLst xmlns:a="http://schemas.openxmlformats.org/drawingml/2006/main">
              <a:ext uri="{FF2B5EF4-FFF2-40B4-BE49-F238E27FC236}">
                <a16:creationId xmlns:a16="http://schemas.microsoft.com/office/drawing/2014/main" id="{2B9E8EB7-45A1-49B6-8DFF-A241C560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53075"/>
            <a:ext cx="16097250" cy="1028700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统一质量结果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rule_id / rule_version · asset_version / run_id · PASS / FAIL / WARN · severity · 原因 / 证据位置</a:t>
            </a:r>
          </a:p>
        </p:txBody>
      </p:sp>
      <p:cxnSp>
        <p:nvCxnSpPr>
          <p:cNvPr id="53" name=""/>
          <p:cNvCxnSpPr>
            <a:stCxn xmlns:a="http://schemas.openxmlformats.org/drawingml/2006/main" id="9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2357438" y="5019675"/>
            <a:ext cx="6215063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dash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1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500813" y="5019675"/>
            <a:ext cx="2071688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dash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3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8572500" y="5019675"/>
            <a:ext cx="2071688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dash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8572500" y="5019675"/>
            <a:ext cx="6215063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dash"/>
            <a:tailEnd type="triangle" w="sm" len="sm"/>
          </a:ln>
        </p:spPr>
      </p:cxnSp>
      <p:sp>
        <p:nvSpPr>
          <p:cNvPr id="24" name="通过&#10;发布可用资产&#10;查询呈现质量状态">
            <a:extLst xmlns:a="http://schemas.openxmlformats.org/drawingml/2006/main">
              <a:ext uri="{FF2B5EF4-FFF2-40B4-BE49-F238E27FC236}">
                <a16:creationId xmlns:a16="http://schemas.microsoft.com/office/drawing/2014/main" id="{4BE718C5-FAE9-4D72-8721-EFFB608C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191375"/>
            <a:ext cx="3667125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发布可用资产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查询呈现质量状态</a:t>
            </a:r>
          </a:p>
        </p:txBody>
      </p:sp>
      <p:sp>
        <p:nvSpPr>
          <p:cNvPr id="25" name="阻断&#10;隔离异常 / 禁止发布&#10;字段或行错误报告">
            <a:extLst xmlns:a="http://schemas.openxmlformats.org/drawingml/2006/main">
              <a:ext uri="{FF2B5EF4-FFF2-40B4-BE49-F238E27FC236}">
                <a16:creationId xmlns:a16="http://schemas.microsoft.com/office/drawing/2014/main" id="{C01A5793-6292-489A-8B86-8933ADB9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7191375"/>
            <a:ext cx="3667125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13335">
            <a:solidFill>
              <a:srgbClr val="C79332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阻断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隔离异常 / 禁止发布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字段或行错误报告</a:t>
            </a:r>
          </a:p>
        </p:txBody>
      </p:sp>
      <p:sp>
        <p:nvSpPr>
          <p:cNvPr id="26" name="警告 / 待复核&#10;保留科学异常&#10;负责人确认适用条件">
            <a:extLst xmlns:a="http://schemas.openxmlformats.org/drawingml/2006/main">
              <a:ext uri="{FF2B5EF4-FFF2-40B4-BE49-F238E27FC236}">
                <a16:creationId xmlns:a16="http://schemas.microsoft.com/office/drawing/2014/main" id="{D9BFA3A9-3806-4AF0-9418-4103A483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7191375"/>
            <a:ext cx="3667125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警告 / 待复核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保留科学异常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负责人确认适用条件</a:t>
            </a:r>
          </a:p>
        </p:txBody>
      </p:sp>
      <p:sp>
        <p:nvSpPr>
          <p:cNvPr id="27" name="修复闭环&#10;纠正 → 新版本 → 重验&#10;更新索引 / 缓存 / 总表状态">
            <a:extLst xmlns:a="http://schemas.openxmlformats.org/drawingml/2006/main">
              <a:ext uri="{FF2B5EF4-FFF2-40B4-BE49-F238E27FC236}">
                <a16:creationId xmlns:a16="http://schemas.microsoft.com/office/drawing/2014/main" id="{E98F1DCE-D8E6-4101-BE4C-AA35B5D2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191375"/>
            <a:ext cx="3667125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修复闭环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纠正 → 新版本 → 重验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更新索引 / 缓存 / 总表状态</a:t>
            </a:r>
          </a:p>
        </p:txBody>
      </p:sp>
      <p:cxnSp>
        <p:nvCxnSpPr>
          <p:cNvPr id="61" name=""/>
          <p:cNvCxnSpPr>
            <a:stCxn xmlns:a="http://schemas.openxmlformats.org/drawingml/2006/main" id="19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2357438" y="6581775"/>
            <a:ext cx="6215063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9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6500813" y="6581775"/>
            <a:ext cx="2071688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9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572500" y="6581775"/>
            <a:ext cx="2071688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9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572500" y="6581775"/>
            <a:ext cx="6215063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A7C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A74D81-50A4-441C-AC52-EACAE01E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8773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执行方式：普通字段规则用服务 / SQL 校验；规则规模较大时评估 GX。科学异常由专家处理，开放答案以专家评分为主。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D84DEE-D03B-4761-B0F1-18AADECB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458325"/>
            <a:ext cx="1609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监控：失败率、解析抽取准确性、关联待确认率、索引延迟、分题型结果正确率；指标按真实样本与内部 SLA 确定。</a:t>
            </a:r>
          </a:p>
        </p:txBody>
      </p:sp>
    </p:spTree>
    <p:extLst>
      <p:ext uri="{BB962C8B-B14F-4D97-AF65-F5344CB8AC3E}">
        <p14:creationId xmlns:p14="http://schemas.microsoft.com/office/powerpoint/2010/main" val="7517404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564821-1B82-4016-ACDB-F1FC9894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私有化部署与组件边界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054A3-44A0-495C-A6C4-91EC5D82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复用公司已具备的数据库、身份和模型服务；查询凭据、写入凭据与平台管理权限分别配置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DD641-D9BA-4FC5-A159-749952D9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9E956-9E25-4CFB-9827-024BA16B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BE54A-3101-46AE-AF37-31769079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16097250" cy="1047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4FC71-AA4B-466A-A088-CCE32EE9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562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用户与身份区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C4620-75B7-4F6A-B9BE-A53B5CEE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562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内部浏览器 / 现有 Agent 客户端    →    公司 AD / SSO    →    平台网关：身份、项目、接口权限与配额</a:t>
            </a:r>
          </a:p>
        </p:txBody>
      </p:sp>
      <p:sp>
        <p:nvSpPr>
          <p:cNvPr id="8" name="应用服务区">
            <a:extLst xmlns:a="http://schemas.openxmlformats.org/drawingml/2006/main">
              <a:ext uri="{FF2B5EF4-FFF2-40B4-BE49-F238E27FC236}">
                <a16:creationId xmlns:a16="http://schemas.microsoft.com/office/drawing/2014/main" id="{DCD3586B-C001-4B5B-A633-4B296743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90875"/>
            <a:ext cx="7810500" cy="30480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应用服务区</a:t>
            </a:r>
          </a:p>
        </p:txBody>
      </p:sp>
      <p:sp>
        <p:nvSpPr>
          <p:cNvPr id="9" name="平台业务服务">
            <a:extLst xmlns:a="http://schemas.openxmlformats.org/drawingml/2006/main">
              <a:ext uri="{FF2B5EF4-FFF2-40B4-BE49-F238E27FC236}">
                <a16:creationId xmlns:a16="http://schemas.microsoft.com/office/drawing/2014/main" id="{A6C932F2-31DD-406A-BDEA-411C1F2E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90875"/>
            <a:ext cx="7810500" cy="5238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平台业务服务</a:t>
            </a:r>
          </a:p>
        </p:txBody>
      </p:sp>
      <p:sp>
        <p:nvSpPr>
          <p:cNvPr id="10" name="填报 / 导入服务｜受限事务写入">
            <a:extLst xmlns:a="http://schemas.openxmlformats.org/drawingml/2006/main">
              <a:ext uri="{FF2B5EF4-FFF2-40B4-BE49-F238E27FC236}">
                <a16:creationId xmlns:a16="http://schemas.microsoft.com/office/drawing/2014/main" id="{E8D3A491-BA89-45D5-B4C8-087501C8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填报 / 导入服务｜受限事务写入</a:t>
            </a:r>
          </a:p>
        </p:txBody>
      </p:sp>
      <p:sp>
        <p:nvSpPr>
          <p:cNvPr id="11" name="目录 / 语义服务｜批准视图与关联">
            <a:extLst xmlns:a="http://schemas.openxmlformats.org/drawingml/2006/main">
              <a:ext uri="{FF2B5EF4-FFF2-40B4-BE49-F238E27FC236}">
                <a16:creationId xmlns:a16="http://schemas.microsoft.com/office/drawing/2014/main" id="{149EE98E-51C9-4237-92CD-853786A9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目录 / 语义服务｜批准视图与关联</a:t>
            </a:r>
          </a:p>
        </p:txBody>
      </p:sp>
      <p:sp>
        <p:nvSpPr>
          <p:cNvPr id="12" name="查询 / 检索服务｜只读执行、结果授权">
            <a:extLst xmlns:a="http://schemas.openxmlformats.org/drawingml/2006/main">
              <a:ext uri="{FF2B5EF4-FFF2-40B4-BE49-F238E27FC236}">
                <a16:creationId xmlns:a16="http://schemas.microsoft.com/office/drawing/2014/main" id="{F2DAF993-4EC3-44AD-ADD0-7A901C5F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查询 / 检索服务｜只读执行、结果授权</a:t>
            </a:r>
          </a:p>
        </p:txBody>
      </p:sp>
      <p:sp>
        <p:nvSpPr>
          <p:cNvPr id="13" name="知识 / 评测服务｜专家审核与版本对比">
            <a:extLst xmlns:a="http://schemas.openxmlformats.org/drawingml/2006/main">
              <a:ext uri="{FF2B5EF4-FFF2-40B4-BE49-F238E27FC236}">
                <a16:creationId xmlns:a16="http://schemas.microsoft.com/office/drawing/2014/main" id="{91B8874F-0CA9-45FC-865A-EFD65C48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知识 / 评测服务｜专家审核与版本对比</a:t>
            </a:r>
          </a:p>
        </p:txBody>
      </p:sp>
      <p:sp>
        <p:nvSpPr>
          <p:cNvPr id="14" name="后台处理与治理区">
            <a:extLst xmlns:a="http://schemas.openxmlformats.org/drawingml/2006/main">
              <a:ext uri="{FF2B5EF4-FFF2-40B4-BE49-F238E27FC236}">
                <a16:creationId xmlns:a16="http://schemas.microsoft.com/office/drawing/2014/main" id="{E1B0123C-BF48-4FA6-9C34-F859BBAB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90875"/>
            <a:ext cx="7810500" cy="30480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后台处理与治理区</a:t>
            </a:r>
          </a:p>
        </p:txBody>
      </p:sp>
      <p:sp>
        <p:nvSpPr>
          <p:cNvPr id="15" name="异步任务与控制服务">
            <a:extLst xmlns:a="http://schemas.openxmlformats.org/drawingml/2006/main">
              <a:ext uri="{FF2B5EF4-FFF2-40B4-BE49-F238E27FC236}">
                <a16:creationId xmlns:a16="http://schemas.microsoft.com/office/drawing/2014/main" id="{BD58315F-CE1F-4B10-9CDC-B4F37ECA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90875"/>
            <a:ext cx="7810500" cy="5238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异步任务与控制服务</a:t>
            </a:r>
          </a:p>
        </p:txBody>
      </p:sp>
      <p:sp>
        <p:nvSpPr>
          <p:cNvPr id="16" name="接入 / 解析 / OCR / 切分 / 索引任务">
            <a:extLst xmlns:a="http://schemas.openxmlformats.org/drawingml/2006/main">
              <a:ext uri="{FF2B5EF4-FFF2-40B4-BE49-F238E27FC236}">
                <a16:creationId xmlns:a16="http://schemas.microsoft.com/office/drawing/2014/main" id="{58FC76AC-2DE9-489F-9833-8DCF4C5F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43350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接入 / 解析 / OCR / 切分 / 索引任务</a:t>
            </a:r>
          </a:p>
        </p:txBody>
      </p:sp>
      <p:sp>
        <p:nvSpPr>
          <p:cNvPr id="17" name="质量检查 / 人工问题队列 / 重验">
            <a:extLst xmlns:a="http://schemas.openxmlformats.org/drawingml/2006/main">
              <a:ext uri="{FF2B5EF4-FFF2-40B4-BE49-F238E27FC236}">
                <a16:creationId xmlns:a16="http://schemas.microsoft.com/office/drawing/2014/main" id="{4FAC1C0A-DA1C-47FE-8886-B82C6127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67225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质量检查 / 人工问题队列 / 重验</a:t>
            </a:r>
          </a:p>
        </p:txBody>
      </p:sp>
      <p:sp>
        <p:nvSpPr>
          <p:cNvPr id="18" name="血缘事件 / 版本清单 / 审计与告警">
            <a:extLst xmlns:a="http://schemas.openxmlformats.org/drawingml/2006/main">
              <a:ext uri="{FF2B5EF4-FFF2-40B4-BE49-F238E27FC236}">
                <a16:creationId xmlns:a16="http://schemas.microsoft.com/office/drawing/2014/main" id="{AC34DFC7-9778-4CDF-9D6C-9959498A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血缘事件 / 版本清单 / 审计与告警</a:t>
            </a:r>
          </a:p>
        </p:txBody>
      </p:sp>
      <p:sp>
        <p:nvSpPr>
          <p:cNvPr id="19" name="备份恢复 / 索引重建 / 发布回滚">
            <a:extLst xmlns:a="http://schemas.openxmlformats.org/drawingml/2006/main">
              <a:ext uri="{FF2B5EF4-FFF2-40B4-BE49-F238E27FC236}">
                <a16:creationId xmlns:a16="http://schemas.microsoft.com/office/drawing/2014/main" id="{403AD843-A4AF-490E-86FA-27DD809A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514975"/>
            <a:ext cx="73342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备份恢复 / 索引重建 / 发布回滚</a:t>
            </a:r>
          </a:p>
        </p:txBody>
      </p:sp>
      <p:sp>
        <p:nvSpPr>
          <p:cNvPr id="20" name="OceanBase〔复用〕&#10;实验明细 / 人工总表&#10;新增目录、规则、血缘、任务逻">
            <a:extLst xmlns:a="http://schemas.openxmlformats.org/drawingml/2006/main">
              <a:ext uri="{FF2B5EF4-FFF2-40B4-BE49-F238E27FC236}">
                <a16:creationId xmlns:a16="http://schemas.microsoft.com/office/drawing/2014/main" id="{E6DFAC3A-5020-47F3-A9B3-6639E9E1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58000"/>
            <a:ext cx="5143500" cy="13335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OceanBase〔复用〕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实验明细 / 人工总表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新增目录、规则、血缘、任务逻辑表</a:t>
            </a:r>
          </a:p>
        </p:txBody>
      </p:sp>
      <p:sp>
        <p:nvSpPr>
          <p:cNvPr id="21" name="内网原件存储〔建设 / 适配〕&#10;PDF / PPT / Excel / 附件&#10;版">
            <a:extLst xmlns:a="http://schemas.openxmlformats.org/drawingml/2006/main">
              <a:ext uri="{FF2B5EF4-FFF2-40B4-BE49-F238E27FC236}">
                <a16:creationId xmlns:a16="http://schemas.microsoft.com/office/drawing/2014/main" id="{A78CB16F-76A6-46BB-B716-5343008A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858000"/>
            <a:ext cx="5143500" cy="13335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内网原件存储〔建设 / 适配〕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PDF / PPT / Excel / 附件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版本副本 / hash / 受控下载</a:t>
            </a:r>
          </a:p>
        </p:txBody>
      </p:sp>
      <p:sp>
        <p:nvSpPr>
          <p:cNvPr id="22" name="搜索索引〔PoC 选型〕&#10;全文 / 向量 / Schema 候选&#10;继承源权限，可">
            <a:extLst xmlns:a="http://schemas.openxmlformats.org/drawingml/2006/main">
              <a:ext uri="{FF2B5EF4-FFF2-40B4-BE49-F238E27FC236}">
                <a16:creationId xmlns:a16="http://schemas.microsoft.com/office/drawing/2014/main" id="{10FCC2EC-4C00-4A51-83F5-E1B5FF8A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858000"/>
            <a:ext cx="5143500" cy="13335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搜索索引〔PoC 选型〕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全文 / 向量 / Schema 候选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继承源权限，可重建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20562A-0A58-4CBF-B835-60A3DF21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868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访问边界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1857E-60E5-47DD-8E79-D71CA908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582025"/>
            <a:ext cx="1376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用户 / Agent 经业务 API 访问数据；后台任务使用独立服务身份。模型不接触数据库生产写凭据。</a:t>
            </a:r>
          </a:p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原件、目录、片段、缓存和导出执行同一授权语义；审计日志也受权限与保留策略控制。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E1CF2D-BB8B-4E4C-9630-C9B44497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0"/>
            <a:ext cx="1609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模型服务：现有内网 LLM / embedding 通过适配接口调用；代码 / 权重进化启用后另设沙箱与制品区。</a:t>
            </a:r>
          </a:p>
        </p:txBody>
      </p:sp>
    </p:spTree>
    <p:extLst>
      <p:ext uri="{BB962C8B-B14F-4D97-AF65-F5344CB8AC3E}">
        <p14:creationId xmlns:p14="http://schemas.microsoft.com/office/powerpoint/2010/main" val="16350122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B656E6-5191-4CB8-9D49-F087A2CC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存储与管理组件的职责分工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089B6-26CE-4CFC-9F05-D3FB8B70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业务数据、Agent 数据和进化制品共享目录与血缘；采用不同的物理存储和管理工具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374BA-0305-4393-BCDE-418E07F6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F96B5-EC46-494B-BE8B-57ED68BB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业务交易与目录">
            <a:extLst xmlns:a="http://schemas.openxmlformats.org/drawingml/2006/main">
              <a:ext uri="{FF2B5EF4-FFF2-40B4-BE49-F238E27FC236}">
                <a16:creationId xmlns:a16="http://schemas.microsoft.com/office/drawing/2014/main" id="{AF98A68D-AF6A-42D9-961A-476BD278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27622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业务交易与目录</a:t>
            </a:r>
          </a:p>
        </p:txBody>
      </p:sp>
      <p:sp>
        <p:nvSpPr>
          <p:cNvPr id="6" name="实验明细 / 总表 / 权限 / 元数据">
            <a:extLst xmlns:a="http://schemas.openxmlformats.org/drawingml/2006/main">
              <a:ext uri="{FF2B5EF4-FFF2-40B4-BE49-F238E27FC236}">
                <a16:creationId xmlns:a16="http://schemas.microsoft.com/office/drawing/2014/main" id="{D96C099B-CE12-48A4-AA57-724563A6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62125"/>
            <a:ext cx="60007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实验明细 / 总表 / 权限 / 元数据</a:t>
            </a:r>
          </a:p>
        </p:txBody>
      </p:sp>
      <p:sp>
        <p:nvSpPr>
          <p:cNvPr id="7" name="OceanBase〔复用〕&#10;MySQL / PostgreSQL〔替代候选〕">
            <a:extLst xmlns:a="http://schemas.openxmlformats.org/drawingml/2006/main">
              <a:ext uri="{FF2B5EF4-FFF2-40B4-BE49-F238E27FC236}">
                <a16:creationId xmlns:a16="http://schemas.microsoft.com/office/drawing/2014/main" id="{1D5702F1-23C0-4A25-8BCE-463BB24C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62125"/>
            <a:ext cx="67627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OceanBase〔复用〕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MySQL / PostgreSQL〔替代候选〕</a:t>
            </a:r>
          </a:p>
        </p:txBody>
      </p:sp>
      <p:sp>
        <p:nvSpPr>
          <p:cNvPr id="8" name="文件与多模态原件">
            <a:extLst xmlns:a="http://schemas.openxmlformats.org/drawingml/2006/main">
              <a:ext uri="{FF2B5EF4-FFF2-40B4-BE49-F238E27FC236}">
                <a16:creationId xmlns:a16="http://schemas.microsoft.com/office/drawing/2014/main" id="{477AA997-1D5A-4BEE-94F9-66BC8C05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00400"/>
            <a:ext cx="27622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文件与多模态原件</a:t>
            </a:r>
          </a:p>
        </p:txBody>
      </p:sp>
      <p:sp>
        <p:nvSpPr>
          <p:cNvPr id="9" name="PDF / PPT / Word / MD / 图片 / 音频">
            <a:extLst xmlns:a="http://schemas.openxmlformats.org/drawingml/2006/main">
              <a:ext uri="{FF2B5EF4-FFF2-40B4-BE49-F238E27FC236}">
                <a16:creationId xmlns:a16="http://schemas.microsoft.com/office/drawing/2014/main" id="{1EFAA7FE-8A09-409E-B783-671BB7CA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00400"/>
            <a:ext cx="60007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PDF / PPT / Word / MD / 图片 / 音频</a:t>
            </a:r>
          </a:p>
        </p:txBody>
      </p:sp>
      <p:sp>
        <p:nvSpPr>
          <p:cNvPr id="10" name="受管 NAS 或私有对象存储&#10;Ceph / SeaweedFS / 商业 S3">
            <a:extLst xmlns:a="http://schemas.openxmlformats.org/drawingml/2006/main">
              <a:ext uri="{FF2B5EF4-FFF2-40B4-BE49-F238E27FC236}">
                <a16:creationId xmlns:a16="http://schemas.microsoft.com/office/drawing/2014/main" id="{9593EF21-E617-4EAE-9CC5-890888DB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200400"/>
            <a:ext cx="67627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受管 NAS 或私有对象存储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Ceph / SeaweedFS / 商业 S3</a:t>
            </a:r>
          </a:p>
        </p:txBody>
      </p:sp>
      <p:sp>
        <p:nvSpPr>
          <p:cNvPr id="11" name="检索与分析副本">
            <a:extLst xmlns:a="http://schemas.openxmlformats.org/drawingml/2006/main">
              <a:ext uri="{FF2B5EF4-FFF2-40B4-BE49-F238E27FC236}">
                <a16:creationId xmlns:a16="http://schemas.microsoft.com/office/drawing/2014/main" id="{C78F2AF8-C9CE-4C8E-AE8E-42588F23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38675"/>
            <a:ext cx="27622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检索与分析副本</a:t>
            </a:r>
          </a:p>
        </p:txBody>
      </p:sp>
      <p:sp>
        <p:nvSpPr>
          <p:cNvPr id="12" name="全文 / 文本、图像向量 / Parquet">
            <a:extLst xmlns:a="http://schemas.openxmlformats.org/drawingml/2006/main">
              <a:ext uri="{FF2B5EF4-FFF2-40B4-BE49-F238E27FC236}">
                <a16:creationId xmlns:a16="http://schemas.microsoft.com/office/drawing/2014/main" id="{5FAFF715-B2B9-4D56-B8DC-49FEA654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638675"/>
            <a:ext cx="60007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全文 / 文本、图像向量 / Parquet</a:t>
            </a:r>
          </a:p>
        </p:txBody>
      </p:sp>
      <p:sp>
        <p:nvSpPr>
          <p:cNvPr id="13" name="OpenSearch / Qdrant / Milvus&#10;DuckDB / Ic">
            <a:extLst xmlns:a="http://schemas.openxmlformats.org/drawingml/2006/main">
              <a:ext uri="{FF2B5EF4-FFF2-40B4-BE49-F238E27FC236}">
                <a16:creationId xmlns:a16="http://schemas.microsoft.com/office/drawing/2014/main" id="{F274936F-43CF-4740-BF3B-892E3A4C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638675"/>
            <a:ext cx="67627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OpenSearch / Qdrant / Milvus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DuckDB / Iceberg / ClickHouse</a:t>
            </a:r>
          </a:p>
        </p:txBody>
      </p:sp>
      <p:sp>
        <p:nvSpPr>
          <p:cNvPr id="14" name="Agent 运行与知识">
            <a:extLst xmlns:a="http://schemas.openxmlformats.org/drawingml/2006/main">
              <a:ext uri="{FF2B5EF4-FFF2-40B4-BE49-F238E27FC236}">
                <a16:creationId xmlns:a16="http://schemas.microsoft.com/office/drawing/2014/main" id="{15A19557-79AA-4C53-B7EA-2C84E495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76950"/>
            <a:ext cx="27622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运行与知识</a:t>
            </a:r>
          </a:p>
        </p:txBody>
      </p:sp>
      <p:sp>
        <p:nvSpPr>
          <p:cNvPr id="15" name="Trace / 会话状态 / 记忆 / 评测">
            <a:extLst xmlns:a="http://schemas.openxmlformats.org/drawingml/2006/main">
              <a:ext uri="{FF2B5EF4-FFF2-40B4-BE49-F238E27FC236}">
                <a16:creationId xmlns:a16="http://schemas.microsoft.com/office/drawing/2014/main" id="{9FAEF99C-5831-4A64-93D7-D91AB8B1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076950"/>
            <a:ext cx="60007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Trace / 会话状态 / 记忆 / 评测</a:t>
            </a:r>
          </a:p>
        </p:txBody>
      </p:sp>
      <p:sp>
        <p:nvSpPr>
          <p:cNvPr id="16" name="Phoenix / Langfuse〔择一 PoC〕&#10;自建记忆 / Mem0 /">
            <a:extLst xmlns:a="http://schemas.openxmlformats.org/drawingml/2006/main">
              <a:ext uri="{FF2B5EF4-FFF2-40B4-BE49-F238E27FC236}">
                <a16:creationId xmlns:a16="http://schemas.microsoft.com/office/drawing/2014/main" id="{013F5A81-BB94-4365-A768-34876486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076950"/>
            <a:ext cx="67627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Phoenix / Langfuse〔择一 PoC〕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自建记忆 / Mem0 / Checkpointer</a:t>
            </a:r>
          </a:p>
        </p:txBody>
      </p:sp>
      <p:sp>
        <p:nvSpPr>
          <p:cNvPr id="17" name="自进化候选与制品">
            <a:extLst xmlns:a="http://schemas.openxmlformats.org/drawingml/2006/main">
              <a:ext uri="{FF2B5EF4-FFF2-40B4-BE49-F238E27FC236}">
                <a16:creationId xmlns:a16="http://schemas.microsoft.com/office/drawing/2014/main" id="{DC3B01A5-49CF-424A-9725-F27246A4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15225"/>
            <a:ext cx="27622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自进化候选与制品</a:t>
            </a:r>
          </a:p>
        </p:txBody>
      </p:sp>
      <p:sp>
        <p:nvSpPr>
          <p:cNvPr id="18" name="源码 / Prompt / 模型 / 训练快照">
            <a:extLst xmlns:a="http://schemas.openxmlformats.org/drawingml/2006/main">
              <a:ext uri="{FF2B5EF4-FFF2-40B4-BE49-F238E27FC236}">
                <a16:creationId xmlns:a16="http://schemas.microsoft.com/office/drawing/2014/main" id="{FAA8895D-7A09-4D6F-BE45-59F437D6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515225"/>
            <a:ext cx="60007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源码 / Prompt / 模型 / 训练快照</a:t>
            </a:r>
          </a:p>
        </p:txBody>
      </p:sp>
      <p:sp>
        <p:nvSpPr>
          <p:cNvPr id="19" name="Git + 制品库 + 原件存储&#10;MLflow / DVC〔按阶段启用〕">
            <a:extLst xmlns:a="http://schemas.openxmlformats.org/drawingml/2006/main">
              <a:ext uri="{FF2B5EF4-FFF2-40B4-BE49-F238E27FC236}">
                <a16:creationId xmlns:a16="http://schemas.microsoft.com/office/drawing/2014/main" id="{41030CD8-4D34-4C95-9B0B-B0BBC692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515225"/>
            <a:ext cx="6762750" cy="1171575"/>
          </a:xfrm>
          <a:prstGeom xmlns:a="http://schemas.openxmlformats.org/drawingml/2006/main" prst="roundRect">
            <a:avLst>
              <a:gd name="adj" fmla="val 4065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Git + 制品库 + 原件存储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MLflow / DVC〔按阶段启用〕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95BE9A-B037-4B6D-B459-8613E159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344025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统一治理：asset_id、版本、项目权限、来源位置、质量状态与发布清单；原件、向量与工作台互相引用。</a:t>
            </a:r>
          </a:p>
        </p:txBody>
      </p:sp>
    </p:spTree>
    <p:extLst>
      <p:ext uri="{BB962C8B-B14F-4D97-AF65-F5344CB8AC3E}">
        <p14:creationId xmlns:p14="http://schemas.microsoft.com/office/powerpoint/2010/main" val="155119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3F8DD-C448-42BC-8E17-5EFC0ECE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结构化实验数据：替代与补充方案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8450E-4545-4EAD-BB7E-E5B8F96E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候选方案能力来自官方资料；适用判断与推荐为本项目建议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200D9-99A9-4153-9A93-A1F2F349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0ED75-8161-41C6-A478-C60F7E0C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953000"/>
                <a:gridCol w="4857750"/>
                <a:gridCol w="2857500"/>
              </a:tblGrid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解决什么问题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 / 使用边界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Excel → OceanBase → API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保留现有写入链路；在只读视图和业务语义层之上查询。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目录 / 单位 / 关联治理仍需建设；数据库 MySQL 兼容不等于所有插件兼容。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一期推荐保留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MySQL / PostgreSQL 关系库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作为替代业务库，或工具专用后端；统一实验类型的主题模型。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迁移、SQL 适配与双写成本；PG 专用组件不能直接改接 OceanBase。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有明确缺口再迁移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OceanBase + 分析副本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长范围统计和曲线分析从生产查询隔离；可评估 ClickHouse。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同步、口径、延迟和权限治理；分析副本不接管填报事务。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分析负载瓶颈时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Parquet / Iceberg + 查询引擎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历史快照、训练样本与跨域批分析；DuckDB 适合离线实验分析。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需额外目录、快照和批处理；不能代替多人在线事务入口。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二期分析 / 训练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OceanBase 原生向量候选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 4.3.5 文档包含 MySQL 租户向量 SQL 能力。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当前安装版本与索引、过滤、融合检索能力未核实；需专项 PoC。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与独立检索方案对比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6" name="3000 张表的首要问题是语义与关联治理。先组织表族与批准视图，新增实验逐步规范">
            <a:extLst xmlns:a="http://schemas.openxmlformats.org/drawingml/2006/main">
              <a:ext uri="{FF2B5EF4-FFF2-40B4-BE49-F238E27FC236}">
                <a16:creationId xmlns:a16="http://schemas.microsoft.com/office/drawing/2014/main" id="{85728B21-20C8-44CA-B190-41892C98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0"/>
            <a:ext cx="1609725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3000 张表的首要问题是语义与关联治理。先组织表族与批准视图，新增实验逐步规范模型，不因表数直接更换数据库。</a:t>
            </a:r>
          </a:p>
        </p:txBody>
      </p:sp>
    </p:spTree>
    <p:extLst>
      <p:ext uri="{BB962C8B-B14F-4D97-AF65-F5344CB8AC3E}">
        <p14:creationId xmlns:p14="http://schemas.microsoft.com/office/powerpoint/2010/main" val="1992480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116F2-2F35-4984-944F-44D43EED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非结构化原件：NAS 与对象存储路径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0AF90-BD52-46D8-87BD-C44B07AE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候选方案能力来自官方资料；适用判断与推荐为本项目建议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9CB10-DE0F-4489-8246-9ED381EF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CA0A3-49C7-452C-8AE8-24470A4C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953000"/>
                <a:gridCol w="4857750"/>
                <a:gridCol w="2857500"/>
              </a:tblGrid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解决什么问题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 / 使用边界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保留 NAS + 目录登记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原件留业务共享盘；平台扫描、hash、权限映射，登记稳定资产 ID。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 / 改名 / 删除影响历史证据；NAS ACL 与项目授权需同步。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快速接入，过渡方案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NAS → 受控原件副本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业务继续用 NAS；平台复制正式版本到独立存储，再解析和索引。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存在两份数据；需定义正式版本、更新周期、撤回和保留责任。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一期优先路径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上传直达对象存储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原件存私有 S3，关系库存元数据；版本 / 上传 / 生命周期由平台管理。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改变业务上传入口；对象版本、下载鉴权和备份需实现与测试。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新上传优先采用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企业内容管理系统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利用既有文档审批、版本和权限系统，通过接口同步。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当前未确认有此系统；连接器、许可与跨系统授权需评估。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已有成熟系统时复用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建议保留 NAS 作为业务来源，正式入库原件保存受控版本副本。NAS 路径和对象">
            <a:extLst xmlns:a="http://schemas.openxmlformats.org/drawingml/2006/main">
              <a:ext uri="{FF2B5EF4-FFF2-40B4-BE49-F238E27FC236}">
                <a16:creationId xmlns:a16="http://schemas.microsoft.com/office/drawing/2014/main" id="{F081FABB-350F-4FDC-B6EB-B760C52F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0"/>
            <a:ext cx="1609725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建议保留 NAS 作为业务来源，正式入库原件保存受控版本副本。NAS 路径和对象 Key 都不是业务资产 ID。</a:t>
            </a:r>
          </a:p>
        </p:txBody>
      </p:sp>
    </p:spTree>
    <p:extLst>
      <p:ext uri="{BB962C8B-B14F-4D97-AF65-F5344CB8AC3E}">
        <p14:creationId xmlns:p14="http://schemas.microsoft.com/office/powerpoint/2010/main" val="14628125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06C49-78B6-4C26-B915-471561D4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私有对象存储：产品选型对比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23508-CFB6-480F-8256-A182B01D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候选方案能力来自官方资料；适用判断与推荐为本项目建议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2865C-6804-4F8D-AA37-94AD8B22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8DCFB-482F-477A-B305-40C1BBC1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953000"/>
                <a:gridCol w="4857750"/>
                <a:gridCol w="2857500"/>
              </a:tblGrid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解决什么问题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 / 使用边界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Ceph RGW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 / Swift 接口，适合统一的私有存储基础设施。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集群、磁盘和恢复运维较重；已有 Ceph 团队时更有利。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企业已有基础时优先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SeaweedFS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文件与 S3 接口，可采用分布式部署。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生产拓扑、元数据后端、权限、版本和恢复需实际验证。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试点新建 PoC 候选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商业对象存储 / MinIO AIStor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采购支持、交付与服务保障；按合同及能力选择。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预算、产品许可、离线授权、AD 集成及维护支持分别核实。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需要厂商支持时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 MinIO 开源版本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已有环境可作为兼容性与迁移评估对象。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官方声明开源产品自 2025-09 起停止维护；需维护、补丁及替换方案。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不作新建默认推荐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按能力验收：版本/生命周期、完整性校验、断点上传、访问审计、权限撤回、备份恢复。">
            <a:extLst xmlns:a="http://schemas.openxmlformats.org/drawingml/2006/main">
              <a:ext uri="{FF2B5EF4-FFF2-40B4-BE49-F238E27FC236}">
                <a16:creationId xmlns:a16="http://schemas.microsoft.com/office/drawing/2014/main" id="{E3E74149-7979-4668-9C49-155D3954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0"/>
            <a:ext cx="1609725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按能力验收：版本/生命周期、完整性校验、断点上传、访问审计、权限撤回、备份恢复。S3 兼容不等于每项能力一致。</a:t>
            </a:r>
          </a:p>
        </p:txBody>
      </p:sp>
    </p:spTree>
    <p:extLst>
      <p:ext uri="{BB962C8B-B14F-4D97-AF65-F5344CB8AC3E}">
        <p14:creationId xmlns:p14="http://schemas.microsoft.com/office/powerpoint/2010/main" val="6625072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5C346E-4404-4CA5-B5AA-9B71B55A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文档采集与原始数据加工方案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F1686-4810-4605-8B60-5C5B147D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PDF、PPT、Word、MD 原件不可被解析文本替代；解析后保存结构、来源位置和可重建索引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29410-7CB7-4D91-BDEC-424C49D2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8C033-D34C-48B9-A1F1-D447C770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NAS 增量扫描&#10;或受控上传">
            <a:extLst xmlns:a="http://schemas.openxmlformats.org/drawingml/2006/main">
              <a:ext uri="{FF2B5EF4-FFF2-40B4-BE49-F238E27FC236}">
                <a16:creationId xmlns:a16="http://schemas.microsoft.com/office/drawing/2014/main" id="{64363230-1D5E-43F4-BDA2-324A789B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NAS 增量扫描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或受控上传</a:t>
            </a:r>
          </a:p>
        </p:txBody>
      </p:sp>
      <p:sp>
        <p:nvSpPr>
          <p:cNvPr id="6" name="资产与版本登记&#10;hash / 项目 / 权限">
            <a:extLst xmlns:a="http://schemas.openxmlformats.org/drawingml/2006/main">
              <a:ext uri="{FF2B5EF4-FFF2-40B4-BE49-F238E27FC236}">
                <a16:creationId xmlns:a16="http://schemas.microsoft.com/office/drawing/2014/main" id="{68D91574-8ABC-4C68-AD36-B8EA814B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9550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资产与版本登记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hash / 项目 / 权限</a:t>
            </a:r>
          </a:p>
        </p:txBody>
      </p:sp>
      <p:sp>
        <p:nvSpPr>
          <p:cNvPr id="7" name="原件副本持久化&#10;对象存储 / 受管 NAS">
            <a:extLst xmlns:a="http://schemas.openxmlformats.org/drawingml/2006/main">
              <a:ext uri="{FF2B5EF4-FFF2-40B4-BE49-F238E27FC236}">
                <a16:creationId xmlns:a16="http://schemas.microsoft.com/office/drawing/2014/main" id="{2A0972CE-721F-4E5A-ACB9-0D4DF394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原件副本持久化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对象存储 / 受管 NAS</a:t>
            </a:r>
          </a:p>
        </p:txBody>
      </p:sp>
      <p:sp>
        <p:nvSpPr>
          <p:cNvPr id="8" name="按格式解析&#10;文本 / 表格 / 图片">
            <a:extLst xmlns:a="http://schemas.openxmlformats.org/drawingml/2006/main">
              <a:ext uri="{FF2B5EF4-FFF2-40B4-BE49-F238E27FC236}">
                <a16:creationId xmlns:a16="http://schemas.microsoft.com/office/drawing/2014/main" id="{FCA915DD-3742-4F84-96F2-B2E25992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9550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按格式解析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文本 / 表格 / 图片</a:t>
            </a:r>
          </a:p>
        </p:txBody>
      </p:sp>
      <p:sp>
        <p:nvSpPr>
          <p:cNvPr id="9" name="质量校验与发布&#10;片段 / 索引 / 证据">
            <a:extLst xmlns:a="http://schemas.openxmlformats.org/drawingml/2006/main">
              <a:ext uri="{FF2B5EF4-FFF2-40B4-BE49-F238E27FC236}">
                <a16:creationId xmlns:a16="http://schemas.microsoft.com/office/drawing/2014/main" id="{7F604910-0A04-4E9F-A0D6-98F78B0C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209550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质量校验与发布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片段 / 索引 / 证据</a:t>
            </a:r>
          </a:p>
        </p:txBody>
      </p: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76625" y="2738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762750" y="2738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048875" y="2738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3335000" y="273843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sp>
        <p:nvSpPr>
          <p:cNvPr id="14" name="解析路由">
            <a:extLst xmlns:a="http://schemas.openxmlformats.org/drawingml/2006/main">
              <a:ext uri="{FF2B5EF4-FFF2-40B4-BE49-F238E27FC236}">
                <a16:creationId xmlns:a16="http://schemas.microsoft.com/office/drawing/2014/main" id="{5393CC04-9E3D-4E39-AD9A-2CC1AEF7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238125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解析路由</a:t>
            </a:r>
          </a:p>
        </p:txBody>
      </p:sp>
      <p:sp>
        <p:nvSpPr>
          <p:cNvPr id="15" name="PDF">
            <a:extLst xmlns:a="http://schemas.openxmlformats.org/drawingml/2006/main">
              <a:ext uri="{FF2B5EF4-FFF2-40B4-BE49-F238E27FC236}">
                <a16:creationId xmlns:a16="http://schemas.microsoft.com/office/drawing/2014/main" id="{6EEB36D5-74BA-491F-B3FD-8A0D789A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2952750" cy="733425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C39C6-652F-4055-8E15-1D69343E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53000"/>
            <a:ext cx="12715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原生文本 / 版面抽取；扫描页 OCR；保留页码和表格位置。</a:t>
            </a:r>
          </a:p>
        </p:txBody>
      </p:sp>
      <p:sp>
        <p:nvSpPr>
          <p:cNvPr id="17" name="PPTX / DOCX">
            <a:extLst xmlns:a="http://schemas.openxmlformats.org/drawingml/2006/main">
              <a:ext uri="{FF2B5EF4-FFF2-40B4-BE49-F238E27FC236}">
                <a16:creationId xmlns:a16="http://schemas.microsoft.com/office/drawing/2014/main" id="{B227F607-E1CB-4B35-A5FA-A9EFAB9D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76925"/>
            <a:ext cx="2952750" cy="733425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PPTX / DOCX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D1587-E769-41CB-BD02-75798921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76925"/>
            <a:ext cx="12715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Docling 或格式专用解析器；标题、段落、表格、备注、图片分别保留。</a:t>
            </a:r>
          </a:p>
        </p:txBody>
      </p:sp>
      <p:sp>
        <p:nvSpPr>
          <p:cNvPr id="19" name="MD / 文本">
            <a:extLst xmlns:a="http://schemas.openxmlformats.org/drawingml/2006/main">
              <a:ext uri="{FF2B5EF4-FFF2-40B4-BE49-F238E27FC236}">
                <a16:creationId xmlns:a16="http://schemas.microsoft.com/office/drawing/2014/main" id="{DA9287A4-1432-49C9-95A5-3413A31A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00850"/>
            <a:ext cx="2952750" cy="733425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MD / 文本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97C662-0B1C-468F-A75B-021197CA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800850"/>
            <a:ext cx="12715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标题、代码块、链接及段落切分；保留原路径与段落定位。</a:t>
            </a:r>
          </a:p>
        </p:txBody>
      </p:sp>
      <p:sp>
        <p:nvSpPr>
          <p:cNvPr id="21" name="旧 PPT / DOC / 复杂版面">
            <a:extLst xmlns:a="http://schemas.openxmlformats.org/drawingml/2006/main">
              <a:ext uri="{FF2B5EF4-FFF2-40B4-BE49-F238E27FC236}">
                <a16:creationId xmlns:a16="http://schemas.microsoft.com/office/drawing/2014/main" id="{E3211483-0ED9-4BE0-9544-A54C8C6C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724775"/>
            <a:ext cx="2952750" cy="733425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旧 PPT / DOC / 复杂版面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060ADD-64B3-4BB8-ADC3-9C005672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724775"/>
            <a:ext cx="12715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隔离转码或专用解析；转换件登记 parent_asset，不覆盖原件。</a:t>
            </a:r>
          </a:p>
        </p:txBody>
      </p:sp>
      <p:sp>
        <p:nvSpPr>
          <p:cNvPr id="23" name="发布策略：低质量解析进入人工队列；修复后生成新版本，重建对应片段和索引。索引记录">
            <a:extLst xmlns:a="http://schemas.openxmlformats.org/drawingml/2006/main">
              <a:ext uri="{FF2B5EF4-FFF2-40B4-BE49-F238E27FC236}">
                <a16:creationId xmlns:a16="http://schemas.microsoft.com/office/drawing/2014/main" id="{CDEADAF5-6C08-41D3-B0EB-01CAF8F7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29700"/>
            <a:ext cx="16097250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发布策略：低质量解析进入人工队列；修复后生成新版本，重建对应片段和索引。索引记录 parser / chunker / embedding 版本。</a:t>
            </a:r>
          </a:p>
        </p:txBody>
      </p:sp>
    </p:spTree>
    <p:extLst>
      <p:ext uri="{BB962C8B-B14F-4D97-AF65-F5344CB8AC3E}">
        <p14:creationId xmlns:p14="http://schemas.microsoft.com/office/powerpoint/2010/main" val="16499190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750590-26C0-4DB2-B41C-51AF04C7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图片与音频：多模态存储和检索架构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CFC1D-117A-44A4-B482-A5CDE0A4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原件、派生产物和向量分层保存；跨模态检索由合适的 embedding 模型与数据集验证支持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42CD2-0FC3-46AE-A79A-A3CDE476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C6F8C-5A5C-478E-A0BE-3E208BD8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图片入口&#10;实验图像 / 文档插图&#10;原始分辨率与格式">
            <a:extLst xmlns:a="http://schemas.openxmlformats.org/drawingml/2006/main">
              <a:ext uri="{FF2B5EF4-FFF2-40B4-BE49-F238E27FC236}">
                <a16:creationId xmlns:a16="http://schemas.microsoft.com/office/drawing/2014/main" id="{696F78A4-79CF-4F8E-B2DD-9A9990BD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762250" cy="13335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图片入口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实验图像 / 文档插图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原始分辨率与格式</a:t>
            </a:r>
          </a:p>
        </p:txBody>
      </p:sp>
      <p:sp>
        <p:nvSpPr>
          <p:cNvPr id="6" name="音频入口&#10;专家访谈 / 任务录音&#10;原始采样率与时长">
            <a:extLst xmlns:a="http://schemas.openxmlformats.org/drawingml/2006/main">
              <a:ext uri="{FF2B5EF4-FFF2-40B4-BE49-F238E27FC236}">
                <a16:creationId xmlns:a16="http://schemas.microsoft.com/office/drawing/2014/main" id="{EBB52AE2-3219-4C57-B122-D558A492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2762250" cy="13335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音频入口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专家访谈 / 任务录音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原始采样率与时长</a:t>
            </a:r>
          </a:p>
        </p:txBody>
      </p:sp>
      <p:sp>
        <p:nvSpPr>
          <p:cNvPr id="7" name="原件与派生产物存储&#10;原图 / 原音频 / 缩略图&#10;裁剪区域 / 转写 / 分段附">
            <a:extLst xmlns:a="http://schemas.openxmlformats.org/drawingml/2006/main">
              <a:ext uri="{FF2B5EF4-FFF2-40B4-BE49-F238E27FC236}">
                <a16:creationId xmlns:a16="http://schemas.microsoft.com/office/drawing/2014/main" id="{4FF4CC60-927A-4309-B7E4-CA5C037B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14625"/>
            <a:ext cx="4191000" cy="23812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原件与派生产物存储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原图 / 原音频 / 缩略图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裁剪区域 / 转写 / 分段附件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asset_id + version + hash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86125" y="2619375"/>
            <a:ext cx="904875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286125" y="3905250"/>
            <a:ext cx="904875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sp>
        <p:nvSpPr>
          <p:cNvPr id="10" name="图片处理&#10;OCR / 图像描述 / 区域标注&#10;图文向量，保留区域坐标">
            <a:extLst xmlns:a="http://schemas.openxmlformats.org/drawingml/2006/main">
              <a:ext uri="{FF2B5EF4-FFF2-40B4-BE49-F238E27FC236}">
                <a16:creationId xmlns:a16="http://schemas.microsoft.com/office/drawing/2014/main" id="{6368F2DF-C33B-4BAB-9E48-05DD134C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3333750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图片处理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OCR / 图像描述 / 区域标注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图文向量，保留区域坐标</a:t>
            </a:r>
          </a:p>
        </p:txBody>
      </p:sp>
      <p:sp>
        <p:nvSpPr>
          <p:cNvPr id="11" name="音频处理&#10;ASR / 分段 / 术语复核&#10;音频向量〔需要时〕 / 时间戳">
            <a:extLst xmlns:a="http://schemas.openxmlformats.org/drawingml/2006/main">
              <a:ext uri="{FF2B5EF4-FFF2-40B4-BE49-F238E27FC236}">
                <a16:creationId xmlns:a16="http://schemas.microsoft.com/office/drawing/2014/main" id="{1C69BC6C-7DCE-4EED-8225-34908AE8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72000"/>
            <a:ext cx="3333750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音频处理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ASR / 分段 / 术语复核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音频向量〔需要时〕 / 时间戳</a:t>
            </a:r>
          </a:p>
        </p:txBody>
      </p: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8382000" y="2643188"/>
            <a:ext cx="857250" cy="1262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382000" y="3905250"/>
            <a:ext cx="857250" cy="1357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sp>
        <p:nvSpPr>
          <p:cNvPr id="14" name="检索索引&#10;全文：OCR / 转写&#10;向量：文本 / 图像 / 音频&#10;引用原件及区域">
            <a:extLst xmlns:a="http://schemas.openxmlformats.org/drawingml/2006/main">
              <a:ext uri="{FF2B5EF4-FFF2-40B4-BE49-F238E27FC236}">
                <a16:creationId xmlns:a16="http://schemas.microsoft.com/office/drawing/2014/main" id="{1C992A3C-43BC-4E46-92B0-540440CF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2714625"/>
            <a:ext cx="3190875" cy="23812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检索索引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全文：OCR / 转写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向量：文本 / 图像 / 音频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引用原件及区域 / 时间段</a:t>
            </a:r>
          </a:p>
        </p:txBody>
      </p:sp>
      <p:cxnSp>
        <p:nvCxnSpPr>
          <p:cNvPr id="33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2573000" y="2643188"/>
            <a:ext cx="857250" cy="1262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8D89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12573000" y="3905250"/>
            <a:ext cx="857250" cy="1357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sp>
        <p:nvSpPr>
          <p:cNvPr id="17" name="元数据：modality / mime / width / height / d">
            <a:extLst xmlns:a="http://schemas.openxmlformats.org/drawingml/2006/main">
              <a:ext uri="{FF2B5EF4-FFF2-40B4-BE49-F238E27FC236}">
                <a16:creationId xmlns:a16="http://schemas.microsoft.com/office/drawing/2014/main" id="{E6C91E66-ADDE-4A26-B130-54AD86CD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096125"/>
            <a:ext cx="160972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元数据：modality / mime / width / height / duration / sample_rate · region_bbox 或 start_ms / end_ms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处理与模型版本、权限、置信度、审核状态；文本向量与图像向量只有在同一对齐模型空间中才可直接比较。</a:t>
            </a:r>
          </a:p>
        </p:txBody>
      </p:sp>
      <p:sp>
        <p:nvSpPr>
          <p:cNvPr id="18" name="一期建议：先支持原件管理、OCR / ASR 文本查询；确有“以图搜图 / 文本">
            <a:extLst xmlns:a="http://schemas.openxmlformats.org/drawingml/2006/main">
              <a:ext uri="{FF2B5EF4-FFF2-40B4-BE49-F238E27FC236}">
                <a16:creationId xmlns:a16="http://schemas.microsoft.com/office/drawing/2014/main" id="{4C4C5175-8FD3-4815-BA36-B517E934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43950"/>
            <a:ext cx="16097250" cy="1047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一期建议：先支持原件管理、OCR / ASR 文本查询；确有“以图搜图 / 文本搜图 / 声学检索”场景再启用多模态 embedding。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已确认有文本 embedding，不能据此假定内网已有视觉、语音或跨模态模型。</a:t>
            </a:r>
          </a:p>
        </p:txBody>
      </p:sp>
    </p:spTree>
    <p:extLst>
      <p:ext uri="{BB962C8B-B14F-4D97-AF65-F5344CB8AC3E}">
        <p14:creationId xmlns:p14="http://schemas.microsoft.com/office/powerpoint/2010/main" val="6845147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5D210-3CDC-4B3D-9626-C8993B41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多模态与向量检索：数据库对比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B1A94-5D0B-4656-B653-9FDD4048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候选方案能力来自官方资料；适用判断与推荐为本项目建议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18122-FF87-41C7-B226-BD57649A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0C3A1-5A17-4647-95E7-26400054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953000"/>
                <a:gridCol w="4857750"/>
                <a:gridCol w="2857500"/>
              </a:tblGrid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解决什么问题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 / 使用边界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OpenSearch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全文 / 文档关键词 + 语义检索；利用现有文档检索路径。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多模态需外部模型与字段设计；权限、重排和版本同步仍需服务层实现。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文档查询优先候选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Qdrant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命名向量、元数据过滤，适合多表示的向量检索服务。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全文引擎与向量服务可能分开；不负责 PDF 或音频原件的生命周期。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独立向量 PoC 候选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Milvus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多向量字段及融合搜索；适合文本、图像等向量组合。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部署形态、索引成本和过滤性能按真实负载测试；不自动产生多模态向量。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多向量需求明确时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Lance / LanceDB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多模态数据集、向量与训练数据读取；OSS 和企业版形态不同。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嵌入式库与企业服务不能混为一谈；多人在线访问、权限和部署模式需核验。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二期多模态 / 训练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OceanBase 原生 / PG + pgvector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复用关系查询或建立 PG 向量后端，减少部分数据链路。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 能力受版本约束；pgvector 要新增 PostgreSQL，不是 OB 插件。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作为整合路线 PoC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6" name="选择依据：授权过滤后的召回、图文对齐、更新 / 撤回一致性、索引重建、活跃并发和">
            <a:extLst xmlns:a="http://schemas.openxmlformats.org/drawingml/2006/main">
              <a:ext uri="{FF2B5EF4-FFF2-40B4-BE49-F238E27FC236}">
                <a16:creationId xmlns:a16="http://schemas.microsoft.com/office/drawing/2014/main" id="{8E342B99-E5E7-4A00-B0E9-668DB161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0"/>
            <a:ext cx="1609725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选择依据：授权过滤后的召回、图文对齐、更新 / 撤回一致性、索引重建、活跃并发和运维成本，不用统一向量数量阈值选型。</a:t>
            </a:r>
          </a:p>
        </p:txBody>
      </p:sp>
    </p:spTree>
    <p:extLst>
      <p:ext uri="{BB962C8B-B14F-4D97-AF65-F5344CB8AC3E}">
        <p14:creationId xmlns:p14="http://schemas.microsoft.com/office/powerpoint/2010/main" val="5552910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39FA6-A2B5-4F09-9F60-32B9830B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业务侧采集：不同入口的实施方案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7B103-918A-484C-A699-3368CDE9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候选方案能力来自官方资料；适用判断与推荐为本项目建议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E68F5-39A7-4D3D-96B3-AAD0B14D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ADD37-7C3E-4409-9472-35F1A953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953000"/>
                <a:gridCol w="4857750"/>
                <a:gridCol w="2857500"/>
              </a:tblGrid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解决什么问题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 / 使用边界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Excel 脚本适配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 import_batch、模板映射版本、源文件引用、幂等键和逐行错误。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盘点现有脚本；失败重跑不得重复写入；重要写入事务化。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一期保留并统一契约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 / API 填报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结构化模板、草稿、预校验、受限提交、修订旧值及附件。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与脚本使用同一单位和标识；写接口与查询只读身份分离。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一期建设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NAS 增量扫描 / 上传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快照扫描、内容 hash、覆盖版本判定、项目 ACL 映射与撤回事件。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扫描不是瞬时 CDC；活跃修改文件需稳定读取与重试策略。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一期接入主路径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仪器 / ELN / LIMS / CDC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外部接口或事件驱动采集，按业务时效补流式入口。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尚未确认已有系统；协议、标识、时序和保留规则需专门适配。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后续按数据源启用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业务采集统一输出：submission / import_batch / ass">
            <a:extLst xmlns:a="http://schemas.openxmlformats.org/drawingml/2006/main">
              <a:ext uri="{FF2B5EF4-FFF2-40B4-BE49-F238E27FC236}">
                <a16:creationId xmlns:a16="http://schemas.microsoft.com/office/drawing/2014/main" id="{EC72A7B6-D836-4BF4-A27D-B138483C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0"/>
            <a:ext cx="1609725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业务采集统一输出：submission / import_batch / asset_version / source_ref / quality_report / lineage_event；只对正式发布版本开放查询。</a:t>
            </a:r>
          </a:p>
        </p:txBody>
      </p:sp>
    </p:spTree>
    <p:extLst>
      <p:ext uri="{BB962C8B-B14F-4D97-AF65-F5344CB8AC3E}">
        <p14:creationId xmlns:p14="http://schemas.microsoft.com/office/powerpoint/2010/main" val="15409750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169406-420B-4A57-B1EA-10FC5E6A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Agent 数据采集：埋点、导出与归档链路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E20E5-B71A-49C1-9C17-AF75AE0F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统一事件契约优先于观测产品；公开请求、工具调用与结果按项目权限采集，不采集隐藏思维链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8ABE0-6AE0-4FAB-B435-138BFE2E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AA721-7BB3-450C-B05D-2C03F8A1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SDK / 包装器埋点&#10;Agent / LLM / 工具">
            <a:extLst xmlns:a="http://schemas.openxmlformats.org/drawingml/2006/main">
              <a:ext uri="{FF2B5EF4-FFF2-40B4-BE49-F238E27FC236}">
                <a16:creationId xmlns:a16="http://schemas.microsoft.com/office/drawing/2014/main" id="{1D115E79-36CA-46A8-A094-10044D5B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SDK / 包装器埋点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Agent / LLM / 工具</a:t>
            </a:r>
          </a:p>
        </p:txBody>
      </p:sp>
      <p:sp>
        <p:nvSpPr>
          <p:cNvPr id="6" name="Collector / 接收服务&#10;鉴权 / 脱敏 / 批量">
            <a:extLst xmlns:a="http://schemas.openxmlformats.org/drawingml/2006/main">
              <a:ext uri="{FF2B5EF4-FFF2-40B4-BE49-F238E27FC236}">
                <a16:creationId xmlns:a16="http://schemas.microsoft.com/office/drawing/2014/main" id="{691C104E-5E1E-4007-9D8C-47E201F7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9075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Collector / 接收服务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鉴权 / 脱敏 / 批量</a:t>
            </a:r>
          </a:p>
        </p:txBody>
      </p:sp>
      <p:sp>
        <p:nvSpPr>
          <p:cNvPr id="7" name="队列与缓冲&#10;重试 / 防重 / 错误队列">
            <a:extLst xmlns:a="http://schemas.openxmlformats.org/drawingml/2006/main">
              <a:ext uri="{FF2B5EF4-FFF2-40B4-BE49-F238E27FC236}">
                <a16:creationId xmlns:a16="http://schemas.microsoft.com/office/drawing/2014/main" id="{8ACCE06C-8FD3-4375-9C11-51143525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9075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队列与缓冲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重试 / 防重 / 错误队列</a:t>
            </a:r>
          </a:p>
        </p:txBody>
      </p:sp>
      <p:sp>
        <p:nvSpPr>
          <p:cNvPr id="8" name="观测工作台&#10;Phoenix 或 Langfuse">
            <a:extLst xmlns:a="http://schemas.openxmlformats.org/drawingml/2006/main">
              <a:ext uri="{FF2B5EF4-FFF2-40B4-BE49-F238E27FC236}">
                <a16:creationId xmlns:a16="http://schemas.microsoft.com/office/drawing/2014/main" id="{D4AEE0D6-E27D-46BB-81BE-BCA319DB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19075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观测工作台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Phoenix 或 Langfuse</a:t>
            </a:r>
          </a:p>
        </p:txBody>
      </p:sp>
      <p:sp>
        <p:nvSpPr>
          <p:cNvPr id="9" name="独立归档与评测&#10;JSONL / Parquet / 附件">
            <a:extLst xmlns:a="http://schemas.openxmlformats.org/drawingml/2006/main">
              <a:ext uri="{FF2B5EF4-FFF2-40B4-BE49-F238E27FC236}">
                <a16:creationId xmlns:a16="http://schemas.microsoft.com/office/drawing/2014/main" id="{6C5770FE-6CDE-4EBB-9EF5-1835FBA0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2190750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独立归档与评测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JSONL / Parquet / 附件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76625" y="283368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762750" y="283368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048875" y="283368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3335000" y="2833688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sp>
        <p:nvSpPr>
          <p:cNvPr id="14" name="哪些环节需要采集">
            <a:extLst xmlns:a="http://schemas.openxmlformats.org/drawingml/2006/main">
              <a:ext uri="{FF2B5EF4-FFF2-40B4-BE49-F238E27FC236}">
                <a16:creationId xmlns:a16="http://schemas.microsoft.com/office/drawing/2014/main" id="{4B5F5341-EE68-42B7-9D3B-DA95C7BF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16097250" cy="571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哪些环节需要采集</a:t>
            </a:r>
          </a:p>
        </p:txBody>
      </p:sp>
      <p:sp>
        <p:nvSpPr>
          <p:cNvPr id="15" name="任务 / 模型">
            <a:extLst xmlns:a="http://schemas.openxmlformats.org/drawingml/2006/main">
              <a:ext uri="{FF2B5EF4-FFF2-40B4-BE49-F238E27FC236}">
                <a16:creationId xmlns:a16="http://schemas.microsoft.com/office/drawing/2014/main" id="{A73A89D5-5923-4471-9B63-16810874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95875"/>
            <a:ext cx="2857500" cy="990600"/>
          </a:xfrm>
          <a:prstGeom xmlns:a="http://schemas.openxmlformats.org/drawingml/2006/main" prst="roundRect">
            <a:avLst>
              <a:gd name="adj" fmla="val 4808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任务 / 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A8A88-45CB-49E5-ACD5-18A15E05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095875"/>
            <a:ext cx="1276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query_id、trace_id、span_id、parent_span_id、用户项目、模型标识、Prompt 版本、参数与结果状态。</a:t>
            </a:r>
          </a:p>
        </p:txBody>
      </p:sp>
      <p:sp>
        <p:nvSpPr>
          <p:cNvPr id="17" name="SQL / 检索 / 工具">
            <a:extLst xmlns:a="http://schemas.openxmlformats.org/drawingml/2006/main">
              <a:ext uri="{FF2B5EF4-FFF2-40B4-BE49-F238E27FC236}">
                <a16:creationId xmlns:a16="http://schemas.microsoft.com/office/drawing/2014/main" id="{41FFD272-2EEC-4462-A7FF-887E397C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53175"/>
            <a:ext cx="2857500" cy="990600"/>
          </a:xfrm>
          <a:prstGeom xmlns:a="http://schemas.openxmlformats.org/drawingml/2006/main" prst="roundRect">
            <a:avLst>
              <a:gd name="adj" fmla="val 4808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SQL / 检索 / 工具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48228-6A8F-4E27-85BF-EAF37553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353175"/>
            <a:ext cx="1276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实际 SQL 引用、获准 Schema、工具版本、耗时、返回行数、证据 asset_version / chunk_id；凭据不进入日志。</a:t>
            </a:r>
          </a:p>
        </p:txBody>
      </p:sp>
      <p:sp>
        <p:nvSpPr>
          <p:cNvPr id="19" name="反馈 / 评测 / 制品">
            <a:extLst xmlns:a="http://schemas.openxmlformats.org/drawingml/2006/main">
              <a:ext uri="{FF2B5EF4-FFF2-40B4-BE49-F238E27FC236}">
                <a16:creationId xmlns:a16="http://schemas.microsoft.com/office/drawing/2014/main" id="{E916AF23-924F-42E4-8FDB-96FD7EEB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610475"/>
            <a:ext cx="2857500" cy="990600"/>
          </a:xfrm>
          <a:prstGeom xmlns:a="http://schemas.openxmlformats.org/drawingml/2006/main" prst="roundRect">
            <a:avLst>
              <a:gd name="adj" fmla="val 4808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反馈 / 评测 / 制品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4C6045-AE61-4F4C-8FF8-96C1D6ED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610475"/>
            <a:ext cx="1276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专家纠正、失败分类、expected_refs、eval_run、candidate_id、code_commit、model_ref 与发布清单。</a:t>
            </a:r>
          </a:p>
        </p:txBody>
      </p:sp>
      <p:sp>
        <p:nvSpPr>
          <p:cNvPr id="21" name="业务审计 / 血缘事件采用可靠记录和对账；性能 Trace 可按策略采样。采样后">
            <a:extLst xmlns:a="http://schemas.openxmlformats.org/drawingml/2006/main">
              <a:ext uri="{FF2B5EF4-FFF2-40B4-BE49-F238E27FC236}">
                <a16:creationId xmlns:a16="http://schemas.microsoft.com/office/drawing/2014/main" id="{F7338999-33D1-4B00-A613-13BC119A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05900"/>
            <a:ext cx="16097250" cy="790575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13335">
            <a:solidFill>
              <a:srgbClr val="C79332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业务审计 / 血缘事件采用可靠记录和对账；性能 Trace 可按策略采样。采样后的观测记录不能替代完整业务血缘。</a:t>
            </a:r>
          </a:p>
          <a:p xmlns:a="http://schemas.openxmlformats.org/drawingml/2006/main">
            <a:pPr algn="ctr">
              <a:def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 trace_id 不代表产品可直接双写：验证 OTLP / OpenInference / SDK 属性映射、模型服务协议与导出再导入。</a:t>
            </a:r>
          </a:p>
        </p:txBody>
      </p:sp>
    </p:spTree>
    <p:extLst>
      <p:ext uri="{BB962C8B-B14F-4D97-AF65-F5344CB8AC3E}">
        <p14:creationId xmlns:p14="http://schemas.microsoft.com/office/powerpoint/2010/main" val="12381320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368FA-18B6-4723-8E8D-218EC929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Agent 轨迹：Langfuse、Phoenix 与 DuckDB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74C7B-1E03-4027-8649-4A2DA7C3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候选方案能力来自官方资料；适用判断与推荐为本项目建议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C2917-9314-474E-9FE6-AA6F8EBA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6E334-204A-4B28-BDB1-E3B61864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953000"/>
                <a:gridCol w="4857750"/>
                <a:gridCol w="2857500"/>
              </a:tblGrid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解决什么问题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 / 使用边界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Langfuse 自托管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Trace、评分、数据集及 Prompt 工作台；面向统一 Agent 观测。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当前官方架构含 Postgres、ClickHouse、Redis/Valkey、S3；许可和 AD 接入按版本核验。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 + 观测需求强时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Phoenix 自托管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轨迹采集与分析；支持 SQL 后端，适合排查检索 / 工具与评测问题。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SQLite；官方建议生产多人场景用 PostgreSQL。需验证鉴权、AD 和数据权限。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较少存储依赖的 PoC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DuckDB + Parquet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 Trace 导出分析、错误聚合、样本构建和科研分析。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它是分析引擎；嵌入式多写线程在一个进程内，远程协议成熟度按安装版核验。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辅助分析，非主工作台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自建事件接收 + 业务目录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 Trace Schema、对象归档、查询链接与指标，复用现有基础。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工作台、评测和 Prompt 运营功能需要自研；维护负担随需求增长。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最小采集兜底方案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先统一采集，再用同一批真实轨迹比较 Phoenix 与 Langfuse，选择一">
            <a:extLst xmlns:a="http://schemas.openxmlformats.org/drawingml/2006/main">
              <a:ext uri="{FF2B5EF4-FFF2-40B4-BE49-F238E27FC236}">
                <a16:creationId xmlns:a16="http://schemas.microsoft.com/office/drawing/2014/main" id="{B6F81F72-6BB0-4B78-8C02-55251922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0"/>
            <a:ext cx="1609725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先统一采集，再用同一批真实轨迹比较 Phoenix 与 Langfuse，选择一个主工作台；DuckDB 做离线分析。不默认两套同时长期运行。</a:t>
            </a:r>
          </a:p>
        </p:txBody>
      </p:sp>
    </p:spTree>
    <p:extLst>
      <p:ext uri="{BB962C8B-B14F-4D97-AF65-F5344CB8AC3E}">
        <p14:creationId xmlns:p14="http://schemas.microsoft.com/office/powerpoint/2010/main" val="16737481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45ED57-F243-478C-A71D-9C1B2D91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Agent 记忆：状态、经验和技能分层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F8F0C-182F-4803-B1F0-C5C9FE64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知识库、会话 Checkpoint 和长期记忆的生命周期不同；向量只是召回索引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4A81F-A2C9-46D3-B9CC-4FEB370C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8DA6E-CDA4-4B45-9730-072CC26D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工作 / 会话状态">
            <a:extLst xmlns:a="http://schemas.openxmlformats.org/drawingml/2006/main">
              <a:ext uri="{FF2B5EF4-FFF2-40B4-BE49-F238E27FC236}">
                <a16:creationId xmlns:a16="http://schemas.microsoft.com/office/drawing/2014/main" id="{7575AB33-94EB-4F12-9222-CF25B919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276225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 / 会话状态</a:t>
            </a:r>
          </a:p>
        </p:txBody>
      </p:sp>
      <p:sp>
        <p:nvSpPr>
          <p:cNvPr id="6" name="消息、任务中间状态、恢复位置&#10;thread_id / checkpoint_id">
            <a:extLst xmlns:a="http://schemas.openxmlformats.org/drawingml/2006/main">
              <a:ext uri="{FF2B5EF4-FFF2-40B4-BE49-F238E27FC236}">
                <a16:creationId xmlns:a16="http://schemas.microsoft.com/office/drawing/2014/main" id="{3ABF86E4-10B3-429B-A280-69CC400A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09750"/>
            <a:ext cx="552450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消息、任务中间状态、恢复位置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thread_id / checkpoint_id / TTL</a:t>
            </a:r>
          </a:p>
        </p:txBody>
      </p:sp>
      <p:sp>
        <p:nvSpPr>
          <p:cNvPr id="7" name="持久化 Checkpointer；OceanBase 自定义适配或框架支持的数据">
            <a:extLst xmlns:a="http://schemas.openxmlformats.org/drawingml/2006/main">
              <a:ext uri="{FF2B5EF4-FFF2-40B4-BE49-F238E27FC236}">
                <a16:creationId xmlns:a16="http://schemas.microsoft.com/office/drawing/2014/main" id="{C1D85D84-9D03-4C16-98FF-34EB451F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809750"/>
            <a:ext cx="723900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持久化 Checkpointer；OceanBase 自定义适配或框架支持的数据库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Redis 可作缓存；InMemory 只用于开发</a:t>
            </a:r>
          </a:p>
        </p:txBody>
      </p:sp>
      <p:sp>
        <p:nvSpPr>
          <p:cNvPr id="8" name="情景记忆">
            <a:extLst xmlns:a="http://schemas.openxmlformats.org/drawingml/2006/main">
              <a:ext uri="{FF2B5EF4-FFF2-40B4-BE49-F238E27FC236}">
                <a16:creationId xmlns:a16="http://schemas.microsoft.com/office/drawing/2014/main" id="{BE76631E-9FC1-42F5-AF46-8BD28096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0"/>
            <a:ext cx="276225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情景记忆</a:t>
            </a:r>
          </a:p>
        </p:txBody>
      </p:sp>
      <p:sp>
        <p:nvSpPr>
          <p:cNvPr id="9" name="任务发生经过、工具结果、成败与引用&#10;trace_ref / outcome / ">
            <a:extLst xmlns:a="http://schemas.openxmlformats.org/drawingml/2006/main">
              <a:ext uri="{FF2B5EF4-FFF2-40B4-BE49-F238E27FC236}">
                <a16:creationId xmlns:a16="http://schemas.microsoft.com/office/drawing/2014/main" id="{9F405A17-E846-415F-956C-C8A25CF8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19500"/>
            <a:ext cx="552450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任务发生经过、工具结果、成败与引用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trace_ref / outcome / evidence_refs</a:t>
            </a:r>
          </a:p>
        </p:txBody>
      </p:sp>
      <p:sp>
        <p:nvSpPr>
          <p:cNvPr id="10" name="OceanBase 保存结构与生命周期；长文本存原件存储&#10;全文 / 向量索引按用">
            <a:extLst xmlns:a="http://schemas.openxmlformats.org/drawingml/2006/main">
              <a:ext uri="{FF2B5EF4-FFF2-40B4-BE49-F238E27FC236}">
                <a16:creationId xmlns:a16="http://schemas.microsoft.com/office/drawing/2014/main" id="{E40F9BBE-FB02-4066-84EE-018895B8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19500"/>
            <a:ext cx="723900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OceanBase 保存结构与生命周期；长文本存原件存储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全文 / 向量索引按用户与项目召回</a:t>
            </a:r>
          </a:p>
        </p:txBody>
      </p:sp>
      <p:sp>
        <p:nvSpPr>
          <p:cNvPr id="11" name="语义 / 专家经验">
            <a:extLst xmlns:a="http://schemas.openxmlformats.org/drawingml/2006/main">
              <a:ext uri="{FF2B5EF4-FFF2-40B4-BE49-F238E27FC236}">
                <a16:creationId xmlns:a16="http://schemas.microsoft.com/office/drawing/2014/main" id="{9EB769B8-ED0E-485C-844F-DA8C7F85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0"/>
            <a:ext cx="276225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语义 / 专家经验</a:t>
            </a:r>
          </a:p>
        </p:txBody>
      </p:sp>
      <p:sp>
        <p:nvSpPr>
          <p:cNvPr id="12" name="术语、已确认经验、适用条件和反例&#10;reviewer / valid_scope ">
            <a:extLst xmlns:a="http://schemas.openxmlformats.org/drawingml/2006/main">
              <a:ext uri="{FF2B5EF4-FFF2-40B4-BE49-F238E27FC236}">
                <a16:creationId xmlns:a16="http://schemas.microsoft.com/office/drawing/2014/main" id="{E966B975-FA15-4CAF-A84E-56D6E491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29250"/>
            <a:ext cx="552450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术语、已确认经验、适用条件和反例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reviewer / valid_scope / supersedes</a:t>
            </a:r>
          </a:p>
        </p:txBody>
      </p:sp>
      <p:sp>
        <p:nvSpPr>
          <p:cNvPr id="13" name="经验卡、审核与版本是权威记录；Mem0 可生成候选&#10;未经审核内容不直接发布为科研">
            <a:extLst xmlns:a="http://schemas.openxmlformats.org/drawingml/2006/main">
              <a:ext uri="{FF2B5EF4-FFF2-40B4-BE49-F238E27FC236}">
                <a16:creationId xmlns:a16="http://schemas.microsoft.com/office/drawing/2014/main" id="{3DA483DD-E088-4DBA-9E80-872A49CB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429250"/>
            <a:ext cx="723900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经验卡、审核与版本是权威记录；Mem0 可生成候选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未经审核内容不直接发布为科研事实</a:t>
            </a:r>
          </a:p>
        </p:txBody>
      </p:sp>
      <p:sp>
        <p:nvSpPr>
          <p:cNvPr id="14" name="程序性记忆 / 技能">
            <a:extLst xmlns:a="http://schemas.openxmlformats.org/drawingml/2006/main">
              <a:ext uri="{FF2B5EF4-FFF2-40B4-BE49-F238E27FC236}">
                <a16:creationId xmlns:a16="http://schemas.microsoft.com/office/drawing/2014/main" id="{358CF925-74DD-4EC2-8E2F-0866F428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0"/>
            <a:ext cx="276225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程序性记忆 / 技能</a:t>
            </a:r>
          </a:p>
        </p:txBody>
      </p:sp>
      <p:sp>
        <p:nvSpPr>
          <p:cNvPr id="15" name="Prompt 模板、工具用法、可执行代码&#10;skill_version / com">
            <a:extLst xmlns:a="http://schemas.openxmlformats.org/drawingml/2006/main">
              <a:ext uri="{FF2B5EF4-FFF2-40B4-BE49-F238E27FC236}">
                <a16:creationId xmlns:a16="http://schemas.microsoft.com/office/drawing/2014/main" id="{24596A9C-908D-4B52-87C2-7C5CC7A2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239000"/>
            <a:ext cx="552450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Prompt 模板、工具用法、可执行代码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skill_version / commit / tool_schema</a:t>
            </a:r>
          </a:p>
        </p:txBody>
      </p:sp>
      <p:sp>
        <p:nvSpPr>
          <p:cNvPr id="16" name="Git / 制品库保存执行版本；目录保存描述、权限和证据&#10;执行需沙箱与回归测试〔">
            <a:extLst xmlns:a="http://schemas.openxmlformats.org/drawingml/2006/main">
              <a:ext uri="{FF2B5EF4-FFF2-40B4-BE49-F238E27FC236}">
                <a16:creationId xmlns:a16="http://schemas.microsoft.com/office/drawing/2014/main" id="{394D795E-A31B-41EC-9F04-762DCA1B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7239000"/>
            <a:ext cx="7239000" cy="1485900"/>
          </a:xfrm>
          <a:prstGeom xmlns:a="http://schemas.openxmlformats.org/drawingml/2006/main" prst="roundRect">
            <a:avLst>
              <a:gd name="adj" fmla="val 320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Git / 制品库保存执行版本；目录保存描述、权限和证据</a:t>
            </a:r>
          </a:p>
          <a:p xmlns:a="http://schemas.openxmlformats.org/drawingml/2006/main">
            <a:pPr algn="ctr">
              <a:def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执行需沙箱与回归测试〔后续〕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FE4C0-7E55-483C-8883-3C2DB6D5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372600"/>
            <a:ext cx="1609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共同要求：namespace = 用户 / 项目 / Agent，确认状态、证据、版本、过期时间、删除传播；记忆不能绕过源数据授权。</a:t>
            </a:r>
          </a:p>
        </p:txBody>
      </p:sp>
    </p:spTree>
    <p:extLst>
      <p:ext uri="{BB962C8B-B14F-4D97-AF65-F5344CB8AC3E}">
        <p14:creationId xmlns:p14="http://schemas.microsoft.com/office/powerpoint/2010/main" val="4394790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42D56-8221-4C18-A3DE-FFF1F76B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记忆方案：自建、Mem0 与框架持久化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36A4D-1D24-41E3-829F-F98F2FA4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候选方案能力来自官方资料；适用判断与推荐为本项目建议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22D1F-54E4-46C2-9D92-B776F52B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2BF5F-EFAB-4043-9E12-B48130F0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953000"/>
                <a:gridCol w="4857750"/>
                <a:gridCol w="2857500"/>
              </a:tblGrid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解决什么问题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 / 使用边界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自建记忆 API + OceanBase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状态与经验结构化管理，检索复用全文 / 向量；契合专家审核流程。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需开发提取、冲突、过期、删除、授权和召回策略。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一期权威记忆推荐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Mem0 OSS + 内网模型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以库或自托管服务部署，配置 LLM、embedding、向量后端；图记忆可选。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默认示例不等于适配内网模型；审核与项目隔离需补，图后端会新增依赖。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经验候选提取 PoC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LangGraph Checkpointer / Store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线程状态持久化与恢复，长期 Store 管理跨线程内容。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不是专家知识审批系统；框架官方 PG 适配不等于支持 OceanBase，需自定义或新增后端。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已有框架时复用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OpenAI Conversations 等托管接口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 OpenAI API 的会话状态；应用也可自管消息上下文。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托管 API 路径依赖外部服务；当前严格内网条件下不纳入生产方案。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仅作能力模式参考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一期先实现有证据和审核的记忆资产；自动总结生成候选，不覆盖专家意见。存储层、提取">
            <a:extLst xmlns:a="http://schemas.openxmlformats.org/drawingml/2006/main">
              <a:ext uri="{FF2B5EF4-FFF2-40B4-BE49-F238E27FC236}">
                <a16:creationId xmlns:a16="http://schemas.microsoft.com/office/drawing/2014/main" id="{232AB9BF-EB0A-4BC9-A825-63482C1B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0"/>
            <a:ext cx="1609725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一期先实现有证据和审核的记忆资产；自动总结生成候选，不覆盖专家意见。存储层、提取引擎与框架接口分开选型。</a:t>
            </a:r>
          </a:p>
        </p:txBody>
      </p:sp>
    </p:spTree>
    <p:extLst>
      <p:ext uri="{BB962C8B-B14F-4D97-AF65-F5344CB8AC3E}">
        <p14:creationId xmlns:p14="http://schemas.microsoft.com/office/powerpoint/2010/main" val="20510931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C5693-5090-4132-8B31-FA9ED53C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自进化需要管理的完整数据资产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10F9E-059E-4DCA-A1E3-F7ACDCBD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覆盖知识、工具与模型候选；新增资产按进化阶段启用，不要求一期开始训练模型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DE9E7-9F7B-4206-9EE9-0B51AF12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70C5F-C206-45B2-9675-0CA9824A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95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048500"/>
                <a:gridCol w="6191250"/>
              </a:tblGrid>
              <a:tr h="993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资产类型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保存内容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权威存储 / 管理方式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993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源码与技能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源代码、工具 Schema、依赖锁文件、测试、构建日志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 Commit + 内网制品库；目录登记 candidate_id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993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 与配置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模板、变量 Schema、模型参数、检索策略、路由和权限配置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 / Prompt Registry；调用记录绑定不可变版本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993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模型权重 / Adapter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基础模型引用、权重、Tokenizer、Adapter、配置、校验清单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私有对象存储 / 受管文件；模型注册表引用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993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Checkpoint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权重、优化器、调度器、步数及训练恢复状态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大文件存储 + run_id / step / manifest；运行区按需缓存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993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数据与评测快照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/ 开发 / 冻结测试集、标注、评分规则、逐题结果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Parquet / JSONL + 目录版本；答案与检索知识隔离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993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候选与发布证据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父候选、修改理由、运行、失败、批准、部署与回滚记录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OceanBase 候选目录 + MLflow / 流水线关联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94913-5062-4020-BDFF-CE1A6043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229725"/>
            <a:ext cx="1609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一期登记版本和证据；后续打开技能 / 模型进化时，增加训练制品、沙箱执行与独立评测门禁。</a:t>
            </a:r>
          </a:p>
        </p:txBody>
      </p:sp>
    </p:spTree>
    <p:extLst>
      <p:ext uri="{BB962C8B-B14F-4D97-AF65-F5344CB8AC3E}">
        <p14:creationId xmlns:p14="http://schemas.microsoft.com/office/powerpoint/2010/main" val="1722308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B9BA9-38DF-423D-995F-5934596E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代码、Prompt 与可执行制品选型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E0D79-2E7D-40BF-B0A2-C7523736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候选方案能力来自官方资料；适用判断与推荐为本项目建议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A588D-01B8-41E7-8834-9177E134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0D45F-7717-4AAF-8B3E-3BE79BC5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953000"/>
                <a:gridCol w="4857750"/>
                <a:gridCol w="2857500"/>
              </a:tblGrid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解决什么问题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 / 使用边界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 + 内网流水线 / 制品库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源码与小配置由 Commit 管理；镜像 / wheel / 包按版本和 digest 发布。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不把训练权重直接塞入普通 Git；公司是否已有 Git 服务仍需实施盘点。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基础必需，优先复用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 管理 Prompt + 配置发布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模板文本、变量、工具 Schema 共同评审；运行绑定版本。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需要简单注册、别名、评测和回滚入口；不能只记录“latest”。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一期最小方案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Langfuse Prompt 工作台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 版本与调用观测联接，适合非代码人员参与迭代。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已选 Langfuse 才有复用优势；内网模型调用、权限和许可证需验证。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随观测主平台选用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MLflow Prompt Registry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 注册、版本与实验关联，适合统一评测 / 模型治理。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MLflow 或扩大其管理范围；避免与 Git / Langfuse 重复权威版本。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MLflow 时优先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确定唯一权威版本与发布清单。工作台可读镜像或管理别名，发布时解析到固定 prom">
            <a:extLst xmlns:a="http://schemas.openxmlformats.org/drawingml/2006/main">
              <a:ext uri="{FF2B5EF4-FFF2-40B4-BE49-F238E27FC236}">
                <a16:creationId xmlns:a16="http://schemas.microsoft.com/office/drawing/2014/main" id="{2C8BF927-0F13-481C-852A-161C127C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0"/>
            <a:ext cx="1609725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确定唯一权威版本与发布清单。工作台可读镜像或管理别名，发布时解析到固定 prompt_version、code_commit 和 artifact_digest。</a:t>
            </a:r>
          </a:p>
        </p:txBody>
      </p:sp>
    </p:spTree>
    <p:extLst>
      <p:ext uri="{BB962C8B-B14F-4D97-AF65-F5344CB8AC3E}">
        <p14:creationId xmlns:p14="http://schemas.microsoft.com/office/powerpoint/2010/main" val="14877404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56872-B011-43A6-A75B-D058082E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模型与训练 Checkpoint：存储管理选型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E25A6-CF60-4BAB-9437-9B3AEB77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候选方案能力来自官方资料；适用判断与推荐为本项目建议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0631A-94FB-4416-B7EF-10AAC81B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59845-25D4-4BE6-9168-014CF4ED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953000"/>
                <a:gridCol w="4857750"/>
                <a:gridCol w="2857500"/>
              </a:tblGrid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解决什么问题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 / 使用边界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私有对象存储 + 模型目录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模型、Tokenizer、Adapter、分片文件及 manifest 持久化；目录保存状态与引用。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上传原子性、hash 校验、生命周期、下载带宽和恢复需测试。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推荐制品保存基础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MLflow Registry + Artifact Store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Run、参数、指标、模型版本与大文件分离；可使用 S3 兼容或 NFS。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注册元数据需要后端；MySQL 支持不等于 OceanBase 已认证兼容；权限需端到端设计。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启用模型进化时 PoC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 + DVC + 大文件存储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 保存数据 / 模型版本引用，实际大文件存远端或内网存储。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适合数据和代码共版；不等于在线模型发布、审批和观测平台。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训练数据版本候选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训练区 NAS / 并行文件系统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面向高吞吐续训和共享工作目录；按作业加载 / 写入快照。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适合作业热存储；权威归档和生命周期仍需目录与大文件存储。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高训练 IO 场景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区分三类：推理模型制品、训练恢复 Checkpoint、Agent 会话 Che">
            <a:extLst xmlns:a="http://schemas.openxmlformats.org/drawingml/2006/main">
              <a:ext uri="{FF2B5EF4-FFF2-40B4-BE49-F238E27FC236}">
                <a16:creationId xmlns:a16="http://schemas.microsoft.com/office/drawing/2014/main" id="{8D078ED1-85BB-4538-9C40-E3D9CB46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572500"/>
            <a:ext cx="1609725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区分三类：推理模型制品、训练恢复 Checkpoint、Agent 会话 Checkpoint。分别采用模型注册、训练 manifest 和状态持久化契约。</a:t>
            </a:r>
          </a:p>
        </p:txBody>
      </p:sp>
    </p:spTree>
    <p:extLst>
      <p:ext uri="{BB962C8B-B14F-4D97-AF65-F5344CB8AC3E}">
        <p14:creationId xmlns:p14="http://schemas.microsoft.com/office/powerpoint/2010/main" val="50033270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A25FD-3E76-4F59-BED8-ACFD4942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统一元数据模型：业务与多模态资产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D0DA8-B05C-4375-9F13-F53E0F48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这里将“原数据”同时落实为原始文件保存和元数据登记；字段为设计草案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98769-4DD7-4CDC-A7F2-1BBB1F12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FD9A0-04EF-402A-8DD6-981B86BE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95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01000"/>
                <a:gridCol w="5143500"/>
              </a:tblGrid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实体 / 关系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核心字段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行为约束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asset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asset_id、type、project、owner、classification、status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稳定逻辑身份；内容相同也不能合并不同项目权限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asset_version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version_id、parent_version、hash、storage_uri、mime、size、source_uri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原件不可静默覆盖；路径与 S3 Key 可变化，业务 ID 不变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source / observation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experiment_id、batch_id、cell_id、source_table、source_record、unit、method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原值 / 标准值并存；人工总表登记粒度、口径与确认人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segment / representation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segment_id、page / slide、bbox 或 start_ms / end_ms、text / object_ref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图像区域、音频时间段、文档表格定位回指定原件版本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processing / index_manifest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run_id、parser、chunker、embedding、dimension、index_ref、quality_ref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每次重处理产出新版本；撤回 / 修订关联索引与缓存更新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9EFA2-C8D9-4455-8950-F5116DD1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229725"/>
            <a:ext cx="1609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源权限继承到派生资产；下载与引用分别鉴权。对象 metadata / tags 用于辅助定位，关系目录承担统一业务查询与治理。</a:t>
            </a:r>
          </a:p>
        </p:txBody>
      </p:sp>
    </p:spTree>
    <p:extLst>
      <p:ext uri="{BB962C8B-B14F-4D97-AF65-F5344CB8AC3E}">
        <p14:creationId xmlns:p14="http://schemas.microsoft.com/office/powerpoint/2010/main" val="57567175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D7003-3BB6-467C-9BDE-CDAC3DCB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统一元数据模型：Agent 与进化资产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B9732-6B53-4743-B2F5-F43916B2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Trace 详情可由观测产品管理；平台保留稳定索引、资产引用和发布依赖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972D3-F817-4448-B3B1-416CB0E4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F6F42-8177-4623-95DE-EF5287BA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95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01000"/>
                <a:gridCol w="5143500"/>
              </a:tblGrid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实体 / 关系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核心字段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血缘与治理要求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agent_run / span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trace_id、span_id、parent_span、query_id、principal、project、tool / model / prompt_ref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关联公开调用与结果；观测平台 ID 保存为 external_ref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memory_item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memory_id、kind、namespace、source_refs、valid_scope、review_status、supersedes、TTL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 / 确认 / 冲突 / 失效；引用跟随源权限与删除策略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candidate / artifact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candidate_id、parent_ids、commit、prompt_ref、model_ref、artifact_digest、change_reason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记录分支与候选谱系；大文件由 manifest 关联完整性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training_checkpoint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training_run、step、base_model、dataset_snapshot、optimizer_ref、manifest、hashes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续训所需状态按训练框架保存；区别 Agent 状态快照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158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eval_run / release_manifest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dataset_snapshot、rubric_version、candidate_refs、results、approver、release、rollback_ref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冻结测试不可进入检索；发布固定依赖版本，回滚有证据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35E26-D855-438B-8CC1-1EB5FB69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229725"/>
            <a:ext cx="1609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8D89"/>
                </a:solidFill>
                <a:latin typeface="Microsoft YaHei"/>
                <a:ea typeface="Microsoft YaHei"/>
                <a:cs typeface="Microsoft YaHei"/>
              </a:rPr>
              <a:t>版本清单把代码、Prompt、模型、数据、索引和权限串成可复现的运行；元数据表具体物理设计按 OceanBase 版本和查询负载确定。</a:t>
            </a:r>
          </a:p>
        </p:txBody>
      </p:sp>
    </p:spTree>
    <p:extLst>
      <p:ext uri="{BB962C8B-B14F-4D97-AF65-F5344CB8AC3E}">
        <p14:creationId xmlns:p14="http://schemas.microsoft.com/office/powerpoint/2010/main" val="21246616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B156EF-90B4-4CB9-AB41-04F6F86F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候选进化、数据血缘与发布闭环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48764-EC4E-4EBD-BF68-79B819AA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同一血缘模型覆盖业务加工与 Agent 候选；生成、评测和发布具有不同状态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F002D-5519-4443-AEEF-578F18E1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32F06-4804-4668-A8D7-6EC66A40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5" name="数据 / 专家反馈&#10;资产与快照引用">
            <a:extLst xmlns:a="http://schemas.openxmlformats.org/drawingml/2006/main">
              <a:ext uri="{FF2B5EF4-FFF2-40B4-BE49-F238E27FC236}">
                <a16:creationId xmlns:a16="http://schemas.microsoft.com/office/drawing/2014/main" id="{2B3DBB5B-80D1-4F85-9102-ACE9D4AA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数据 / 专家反馈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资产与快照引用</a:t>
            </a:r>
          </a:p>
        </p:txBody>
      </p:sp>
      <p:sp>
        <p:nvSpPr>
          <p:cNvPr id="6" name="候选变更&#10;Prompt / 技能 / 模型">
            <a:extLst xmlns:a="http://schemas.openxmlformats.org/drawingml/2006/main">
              <a:ext uri="{FF2B5EF4-FFF2-40B4-BE49-F238E27FC236}">
                <a16:creationId xmlns:a16="http://schemas.microsoft.com/office/drawing/2014/main" id="{C9EF52A7-3CEA-41E8-9D01-13DDB84A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33625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候选变更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Prompt / 技能 / 模型</a:t>
            </a:r>
          </a:p>
        </p:txBody>
      </p:sp>
      <p:sp>
        <p:nvSpPr>
          <p:cNvPr id="7" name="执行与评测&#10;沙箱 / 冻结测试">
            <a:extLst xmlns:a="http://schemas.openxmlformats.org/drawingml/2006/main">
              <a:ext uri="{FF2B5EF4-FFF2-40B4-BE49-F238E27FC236}">
                <a16:creationId xmlns:a16="http://schemas.microsoft.com/office/drawing/2014/main" id="{C61B2FE6-7A04-4D8D-8356-94E39469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333625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执行与评测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沙箱 / 冻结测试</a:t>
            </a:r>
          </a:p>
        </p:txBody>
      </p:sp>
      <p:sp>
        <p:nvSpPr>
          <p:cNvPr id="8" name="批准发布&#10;固定依赖版本">
            <a:extLst xmlns:a="http://schemas.openxmlformats.org/drawingml/2006/main">
              <a:ext uri="{FF2B5EF4-FFF2-40B4-BE49-F238E27FC236}">
                <a16:creationId xmlns:a16="http://schemas.microsoft.com/office/drawing/2014/main" id="{0A16689D-6F29-4EC1-BADD-97CD8A8A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33625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批准发布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固定依赖版本</a:t>
            </a:r>
          </a:p>
        </p:txBody>
      </p:sp>
      <p:sp>
        <p:nvSpPr>
          <p:cNvPr id="9" name="线上使用与反馈&#10;Trace / 错误 / 回滚">
            <a:extLst xmlns:a="http://schemas.openxmlformats.org/drawingml/2006/main">
              <a:ext uri="{FF2B5EF4-FFF2-40B4-BE49-F238E27FC236}">
                <a16:creationId xmlns:a16="http://schemas.microsoft.com/office/drawing/2014/main" id="{CBD5A301-AA8F-4C55-B066-1B86DCFC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2333625"/>
            <a:ext cx="2952750" cy="1285875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线上使用与反馈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Trace / 错误 / 回滚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76625" y="297656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762750" y="297656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048875" y="297656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3335000" y="297656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253AF"/>
            </a:solidFill>
            <a:prstDash val="solid"/>
            <a:tailEnd type="triangle" w="sm" len="sm"/>
          </a:ln>
        </p:spPr>
      </p:cxnSp>
      <p:sp>
        <p:nvSpPr>
          <p:cNvPr id="14" name="候选谱系与运行版本清单">
            <a:extLst xmlns:a="http://schemas.openxmlformats.org/drawingml/2006/main">
              <a:ext uri="{FF2B5EF4-FFF2-40B4-BE49-F238E27FC236}">
                <a16:creationId xmlns:a16="http://schemas.microsoft.com/office/drawing/2014/main" id="{6FC6E53B-DD0D-4D86-91C6-A0359916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00550"/>
            <a:ext cx="16097250" cy="5238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候选谱系与运行版本清单</a:t>
            </a:r>
          </a:p>
        </p:txBody>
      </p:sp>
      <p:sp>
        <p:nvSpPr>
          <p:cNvPr id="15" name="输入资产&#10;原件版本 / 实验视图&#10;已确认知识 / 数据快照">
            <a:extLst xmlns:a="http://schemas.openxmlformats.org/drawingml/2006/main">
              <a:ext uri="{FF2B5EF4-FFF2-40B4-BE49-F238E27FC236}">
                <a16:creationId xmlns:a16="http://schemas.microsoft.com/office/drawing/2014/main" id="{F86B2826-8291-45FC-B590-E882CFBA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75"/>
            <a:ext cx="390525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输入资产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原件版本 / 实验视图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已确认知识 / 数据快照</a:t>
            </a:r>
          </a:p>
        </p:txBody>
      </p:sp>
      <p:sp>
        <p:nvSpPr>
          <p:cNvPr id="16" name="候选执行 Run&#10;parent_candidate / commit&#10;Promp">
            <a:extLst xmlns:a="http://schemas.openxmlformats.org/drawingml/2006/main">
              <a:ext uri="{FF2B5EF4-FFF2-40B4-BE49-F238E27FC236}">
                <a16:creationId xmlns:a16="http://schemas.microsoft.com/office/drawing/2014/main" id="{2285AA86-1B08-4208-91A7-9E85C519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76875"/>
            <a:ext cx="4191000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0FB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候选执行 Run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parent_candidate / commit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Prompt / tool / model / index</a:t>
            </a:r>
          </a:p>
        </p:txBody>
      </p:sp>
      <p:sp>
        <p:nvSpPr>
          <p:cNvPr id="17" name="输出证据&#10;Trace / 结果 / 评测&#10;制品 digest / release">
            <a:extLst xmlns:a="http://schemas.openxmlformats.org/drawingml/2006/main">
              <a:ext uri="{FF2B5EF4-FFF2-40B4-BE49-F238E27FC236}">
                <a16:creationId xmlns:a16="http://schemas.microsoft.com/office/drawing/2014/main" id="{59DFE8E8-7306-4C87-B8AA-0601D0E0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476875"/>
            <a:ext cx="3857625" cy="1524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输出证据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Trace / 结果 / 评测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制品 digest / release_manifest</a:t>
            </a:r>
          </a:p>
        </p:txBody>
      </p:sp>
      <p:cxnSp>
        <p:nvCxnSpPr>
          <p:cNvPr id="39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429125" y="6238875"/>
            <a:ext cx="2047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668000" y="6238875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8AE"/>
            </a:solidFill>
            <a:prstDash val="solid"/>
            <a:tailEnd type="triangle" w="sm" len="sm"/>
          </a:ln>
        </p:spPr>
      </p:cxnSp>
      <p:sp>
        <p:nvSpPr>
          <p:cNvPr id="20" name="质量门禁：数据规则 + 证据支持 + 分题型评测 + 权限回归 + 制品完整性&#10;">
            <a:extLst xmlns:a="http://schemas.openxmlformats.org/drawingml/2006/main">
              <a:ext uri="{FF2B5EF4-FFF2-40B4-BE49-F238E27FC236}">
                <a16:creationId xmlns:a16="http://schemas.microsoft.com/office/drawing/2014/main" id="{A0DEEADE-DEA1-4A05-88D7-A40E46C3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858125"/>
            <a:ext cx="16097250" cy="13335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质量门禁：数据规则 + 证据支持 + 分题型评测 + 权限回归 + 制品完整性</a:t>
            </a:r>
          </a:p>
          <a:p xmlns:a="http://schemas.openxmlformats.org/drawingml/2006/main">
            <a:pPr algn="ctr">
              <a:def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不通过 → 保存失败原因 / 回到候选；通过 → 发布固定版本；线上异常 → 回滚并沉淀失败样本。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EA82BD-7C03-4CD8-9D0A-073293DF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401175"/>
            <a:ext cx="1609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对象版本化、Git Commit 与观测 Trace 都是局部能力；跨资产可复现仍需 release_manifest 和统一来源引用。</a:t>
            </a:r>
          </a:p>
        </p:txBody>
      </p:sp>
    </p:spTree>
    <p:extLst>
      <p:ext uri="{BB962C8B-B14F-4D97-AF65-F5344CB8AC3E}">
        <p14:creationId xmlns:p14="http://schemas.microsoft.com/office/powerpoint/2010/main" val="175135600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9D5C8-4160-4272-BB15-EDF1F482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一期推荐组件组合与可扩展部署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18D21-B96C-461A-A2B8-853557EE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一个业务目录、一套正式原件存储、一个主要观测工作台；其他组件按数据缺口和进化阶段启用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8CEAC-B063-40E1-80AB-E10E708F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2594B-D35D-459E-89FB-ED1C4E8E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5" name="复用区">
            <a:extLst xmlns:a="http://schemas.openxmlformats.org/drawingml/2006/main">
              <a:ext uri="{FF2B5EF4-FFF2-40B4-BE49-F238E27FC236}">
                <a16:creationId xmlns:a16="http://schemas.microsoft.com/office/drawing/2014/main" id="{1595DAA3-021F-494B-A6C5-8A12B3F2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048250" cy="61912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复用区</a:t>
            </a:r>
          </a:p>
        </p:txBody>
      </p:sp>
      <p:sp>
        <p:nvSpPr>
          <p:cNvPr id="6" name="公司 AD / SSO&#10;OceanBase / 现有 Excel 脚本&#10;内网 L">
            <a:extLst xmlns:a="http://schemas.openxmlformats.org/drawingml/2006/main">
              <a:ext uri="{FF2B5EF4-FFF2-40B4-BE49-F238E27FC236}">
                <a16:creationId xmlns:a16="http://schemas.microsoft.com/office/drawing/2014/main" id="{3703776A-1975-451D-89C4-3A1DDBFC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5048250" cy="2333625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公司 AD / SSO</a:t>
            </a:r>
          </a:p>
          <a:p xmlns:a="http://schemas.openxmlformats.org/drawingml/2006/main">
            <a:pPr algn="ctr">
              <a:def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OceanBase / 现有 Excel 脚本</a:t>
            </a:r>
          </a:p>
          <a:p xmlns:a="http://schemas.openxmlformats.org/drawingml/2006/main">
            <a:pPr algn="ctr">
              <a:def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内网 LLM 与文本 embedding</a:t>
            </a:r>
          </a:p>
        </p:txBody>
      </p:sp>
      <p:sp>
        <p:nvSpPr>
          <p:cNvPr id="7" name="平台建设区">
            <a:extLst xmlns:a="http://schemas.openxmlformats.org/drawingml/2006/main">
              <a:ext uri="{FF2B5EF4-FFF2-40B4-BE49-F238E27FC236}">
                <a16:creationId xmlns:a16="http://schemas.microsoft.com/office/drawing/2014/main" id="{A7FA988A-A69D-4ED4-BC49-48F10CEF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52625"/>
            <a:ext cx="5048250" cy="61912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8D89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平台建设区</a:t>
            </a:r>
          </a:p>
        </p:txBody>
      </p:sp>
      <p:sp>
        <p:nvSpPr>
          <p:cNvPr id="8" name="统一 API / 填报与查询&#10;目录 / 元数据 / 血缘 / 质量&#10;原件接入与可">
            <a:extLst xmlns:a="http://schemas.openxmlformats.org/drawingml/2006/main">
              <a:ext uri="{FF2B5EF4-FFF2-40B4-BE49-F238E27FC236}">
                <a16:creationId xmlns:a16="http://schemas.microsoft.com/office/drawing/2014/main" id="{8B5CED64-4C0D-4FFC-AAF9-F97AF53F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62250"/>
            <a:ext cx="5048250" cy="2333625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统一 API / 填报与查询</a:t>
            </a:r>
          </a:p>
          <a:p xmlns:a="http://schemas.openxmlformats.org/drawingml/2006/main">
            <a:pPr algn="ctr">
              <a:def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目录 / 元数据 / 血缘 / 质量</a:t>
            </a:r>
          </a:p>
          <a:p xmlns:a="http://schemas.openxmlformats.org/drawingml/2006/main">
            <a:pPr algn="ctr">
              <a:def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原件接入与可靠事件记录</a:t>
            </a:r>
          </a:p>
        </p:txBody>
      </p:sp>
      <p:sp>
        <p:nvSpPr>
          <p:cNvPr id="9" name="PoC 选型区">
            <a:extLst xmlns:a="http://schemas.openxmlformats.org/drawingml/2006/main">
              <a:ext uri="{FF2B5EF4-FFF2-40B4-BE49-F238E27FC236}">
                <a16:creationId xmlns:a16="http://schemas.microsoft.com/office/drawing/2014/main" id="{DB8BC826-2DBE-4881-8136-05DF24D5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1952625"/>
            <a:ext cx="5048250" cy="61912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7253AF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PoC 选型区</a:t>
            </a:r>
          </a:p>
        </p:txBody>
      </p:sp>
      <p:sp>
        <p:nvSpPr>
          <p:cNvPr id="10" name="NAS 受控副本 → 私有 S3&#10;OpenSearch / 向量候选&#10;Phoen">
            <a:extLst xmlns:a="http://schemas.openxmlformats.org/drawingml/2006/main">
              <a:ext uri="{FF2B5EF4-FFF2-40B4-BE49-F238E27FC236}">
                <a16:creationId xmlns:a16="http://schemas.microsoft.com/office/drawing/2014/main" id="{C991EC12-C6DB-4063-9727-E72B7A18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762250"/>
            <a:ext cx="5048250" cy="2333625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7253AF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NAS 受控副本 → 私有 S3</a:t>
            </a:r>
          </a:p>
          <a:p xmlns:a="http://schemas.openxmlformats.org/drawingml/2006/main">
            <a:pPr algn="ctr">
              <a:def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OpenSearch / 向量候选</a:t>
            </a:r>
          </a:p>
          <a:p xmlns:a="http://schemas.openxmlformats.org/drawingml/2006/main">
            <a:pPr algn="ctr">
              <a:def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Phoenix 与 Langfuse 择一</a:t>
            </a:r>
          </a:p>
        </p:txBody>
      </p:sp>
      <p:sp>
        <p:nvSpPr>
          <p:cNvPr id="11" name="独立存储与生命周期">
            <a:extLst xmlns:a="http://schemas.openxmlformats.org/drawingml/2006/main">
              <a:ext uri="{FF2B5EF4-FFF2-40B4-BE49-F238E27FC236}">
                <a16:creationId xmlns:a16="http://schemas.microsoft.com/office/drawing/2014/main" id="{D7517DFC-3272-44C6-98C8-E4B1FF6D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62625"/>
            <a:ext cx="16097250" cy="61912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68AE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独立存储与生命周期</a:t>
            </a:r>
          </a:p>
        </p:txBody>
      </p:sp>
      <p:sp>
        <p:nvSpPr>
          <p:cNvPr id="12" name="业务原件&#10;raw / derived / media">
            <a:extLst xmlns:a="http://schemas.openxmlformats.org/drawingml/2006/main">
              <a:ext uri="{FF2B5EF4-FFF2-40B4-BE49-F238E27FC236}">
                <a16:creationId xmlns:a16="http://schemas.microsoft.com/office/drawing/2014/main" id="{8FE86D00-6D4E-4872-B6E5-4204AEB3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715125"/>
            <a:ext cx="5048250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业务原件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raw / derived / media</a:t>
            </a:r>
          </a:p>
        </p:txBody>
      </p:sp>
      <p:sp>
        <p:nvSpPr>
          <p:cNvPr id="13" name="轨迹和评测&#10;trace-archive / evaluation">
            <a:extLst xmlns:a="http://schemas.openxmlformats.org/drawingml/2006/main">
              <a:ext uri="{FF2B5EF4-FFF2-40B4-BE49-F238E27FC236}">
                <a16:creationId xmlns:a16="http://schemas.microsoft.com/office/drawing/2014/main" id="{DCC6697C-E9E2-4EBD-94F8-F9C30BD7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6715125"/>
            <a:ext cx="5048250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轨迹和评测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trace-archive / evaluation</a:t>
            </a:r>
          </a:p>
        </p:txBody>
      </p:sp>
      <p:sp>
        <p:nvSpPr>
          <p:cNvPr id="14" name="模型与快照〔后续〕&#10;model-artifacts / checkpoints">
            <a:extLst xmlns:a="http://schemas.openxmlformats.org/drawingml/2006/main">
              <a:ext uri="{FF2B5EF4-FFF2-40B4-BE49-F238E27FC236}">
                <a16:creationId xmlns:a16="http://schemas.microsoft.com/office/drawing/2014/main" id="{ABE1877C-E980-473E-96D3-471874ED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715125"/>
            <a:ext cx="5048250" cy="138112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3335">
            <a:solidFill>
              <a:srgbClr val="1268AE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模型与快照〔后续〕</a:t>
            </a:r>
          </a:p>
          <a:p xmlns:a="http://schemas.openxmlformats.org/drawingml/2006/main">
            <a:pPr algn="ctr">
              <a:def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model-artifacts / checkpoints</a:t>
            </a:r>
          </a:p>
        </p:txBody>
      </p:sp>
      <p:sp>
        <p:nvSpPr>
          <p:cNvPr id="15" name="逻辑命名示例；是否独立桶由权限与保留规则决定。观测产品私有后端按官方要求部署，不">
            <a:extLst xmlns:a="http://schemas.openxmlformats.org/drawingml/2006/main">
              <a:ext uri="{FF2B5EF4-FFF2-40B4-BE49-F238E27FC236}">
                <a16:creationId xmlns:a16="http://schemas.microsoft.com/office/drawing/2014/main" id="{DA962C02-5888-4255-A02E-FE3E4603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43950"/>
            <a:ext cx="16097250" cy="1085850"/>
          </a:xfrm>
          <a:prstGeom xmlns:a="http://schemas.openxmlformats.org/drawingml/2006/main" prst="roundRect">
            <a:avLst>
              <a:gd name="adj" fmla="val 4386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逻辑命名示例；是否独立桶由权限与保留规则决定。观测产品私有后端按官方要求部署，不强改成 OceanBase。</a:t>
            </a:r>
          </a:p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Git / 制品库、MLflow、DVC 与训练热存储在对应阶段增加。所有服务运行于公司内网，外部 API 不进入生产主路径。</a:t>
            </a:r>
          </a:p>
        </p:txBody>
      </p:sp>
    </p:spTree>
    <p:extLst>
      <p:ext uri="{BB962C8B-B14F-4D97-AF65-F5344CB8AC3E}">
        <p14:creationId xmlns:p14="http://schemas.microsoft.com/office/powerpoint/2010/main" val="21211360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50ECF-D26A-46EB-9121-3F1C2F2E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选型验证与一期决策清单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251E8-0662-48BE-9817-24D63F22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使用同一批真实数据和轨迹作 PoC，先验证授权、数据正确性与可恢复性，再判断性能和运营成本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4CA65-BD3E-4674-8D84-D6666FF1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8DE90-713E-434D-BDD5-06078194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809750"/>
          <a:ext xmlns:a="http://schemas.openxmlformats.org/drawingml/2006/main" cx="160972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8001000"/>
                <a:gridCol w="5048250"/>
              </a:tblGrid>
              <a:tr h="1135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选型域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关键验证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建议决策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1135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结构化与查询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代表性表族、真实 JOIN / 口径、只读执行、昂贵查询隔离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 OceanBase；确认需增加的视图和语义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135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原件与多模态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NAS 覆盖 / 重命名、对象版本、下载撤权、恢复；扫描与音频证据定位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选受控原件路径；明确 OCR / ASR 模型缺口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135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检索与向量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权限过滤后召回、图文空间、更新 / 撤回传播与重建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选择一个一期检索组合，不同时建所有数据库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1135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Trace 与记忆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SDK 兼容、离线部署、AD / 项目权限、导出、状态恢复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Phoenix / Langfuse 主工作台择一；记忆审核先建设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1135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制品与进化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Commit → 权重 → 快照 → 评测依赖完整；发布与回滚演练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先固定版本清单；模型训练阶段再增注册工具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6" name="产品许可、维护状态、离线升级和运维责任纳入选型；容量由文件体量、实际活跃并发、T">
            <a:extLst xmlns:a="http://schemas.openxmlformats.org/drawingml/2006/main">
              <a:ext uri="{FF2B5EF4-FFF2-40B4-BE49-F238E27FC236}">
                <a16:creationId xmlns:a16="http://schemas.microsoft.com/office/drawing/2014/main" id="{915B605C-0DA6-441A-8F47-C56BEA68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48750"/>
            <a:ext cx="16097250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13335">
            <a:solidFill>
              <a:srgbClr val="128D89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产品许可、维护状态、离线升级和运维责任纳入选型；容量由文件体量、实际活跃并发、Trace 速率、模型大小与保留期测算。</a:t>
            </a:r>
          </a:p>
        </p:txBody>
      </p:sp>
    </p:spTree>
    <p:extLst>
      <p:ext uri="{BB962C8B-B14F-4D97-AF65-F5344CB8AC3E}">
        <p14:creationId xmlns:p14="http://schemas.microsoft.com/office/powerpoint/2010/main" val="54041994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05ED0-D281-415C-8645-B9F6FBA5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选型资料与适用范围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FFA1A-57E4-4AFE-BF02-9B5181C1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官方资料访问日期：2026-10-03；引用链接见备注，项目判断以 PoC 为准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F780A-D9D5-4122-89A3-7914D370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156D4-1719-4114-BDDA-F8E27D4B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23875" y="1666875"/>
          <a:ext xmlns:a="http://schemas.openxmlformats.org/drawingml/2006/main" cx="16097250" cy="809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10382250"/>
              </a:tblGrid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支持的能力与使用边界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S23 Phoenix architecture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轨迹观测，SQLite 与 PostgreSQL 后端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S24 DuckDB concurrency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嵌入式写入模型；远程并发协议需按版本核验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S25 Ceph RGW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内网对象存储的 S3 / Swift 接口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S26 SeaweedFS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 与文件存储，可自部署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S27 MinIO maintenance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官方声明开源产品已于 2025-09 停止维护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S28 Milvus multi-vector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多向量字段与融合检索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S29 Qdrant vectors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命名向量及不同表示的管理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S30 LanceDB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Lance 格式与多模态；OSS / Enterprise 边界需区分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S31 Mem0 OSS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库或自托管服务，配置模型与向量后端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S32 LangGraph persistence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线程状态、Checkpoint 与运行恢复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S33 OpenAI conversation state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托管会话状态接口，非公司内网记忆数据库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604001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BC286-129B-4078-939C-A1A1223B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609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B65"/>
                </a:solidFill>
                <a:latin typeface="Microsoft YaHei"/>
                <a:ea typeface="Microsoft YaHei"/>
                <a:cs typeface="Microsoft YaHei"/>
              </a:rPr>
              <a:t>选型资料与适用范围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2C864-3BC5-4DD6-9378-4084ADE3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4400"/>
            <a:ext cx="1609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官方资料访问日期：2026-10-03；引用链接见备注，项目判断以 PoC 为准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92FAD-A92E-4670-A901-7AC25192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965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宁德时代香港研究院 · RSI 数据平台架构建议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D771F-4680-4563-953D-88FF3668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09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A7C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23875" y="1666875"/>
          <a:ext xmlns:a="http://schemas.openxmlformats.org/drawingml/2006/main" cx="16097250" cy="809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10382250"/>
              </a:tblGrid>
              <a:tr h="73602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支持的能力与使用边界</a:t>
                      </a:r>
                    </a:p>
                  </a:txBody>
                  <a:tcPr marL="161925" marR="161925" marT="95250" marB="95250" anchor="ctr">
                    <a:solidFill>
                      <a:srgbClr val="1268AE"/>
                    </a:solidFill>
                  </a:tcPr>
                </a:tc>
              </a:tr>
              <a:tr h="73602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S34 MLflow artifacts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元数据与大文件存储分离，支持 S3 兼容与 NFS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73602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S35 DVC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 中记录大文件版本引用，实际数据另存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73602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S36 MLflow Prompt Registry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 版本与注册管理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73602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S37 GitLab Registry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制品发布与流水线、Commit 关联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73602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S38 OpenTelemetry Collector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采集、处理与导出遥测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73602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S39 Docling formats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 / DOCX / PPTX 等解析支持，旧格式需转码验证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73602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S40 Iceberg snapshots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分析数据快照与生命周期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73602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S41 OceanBase vector SQL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4.3.5 文档介绍 MySQL 租户向量 SQL，现网版本需核验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  <a:tr h="73602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S42 PyTorch Checkpoint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续训快照包含权重之外的优化器与训练状态</a:t>
                      </a:r>
                    </a:p>
                  </a:txBody>
                  <a:tcPr marL="161925" marR="161925" marT="95250" marB="95250" anchor="ctr">
                    <a:solidFill>
                      <a:srgbClr val="F0F6FC"/>
                    </a:solidFill>
                  </a:tcPr>
                </a:tc>
              </a:tr>
              <a:tr h="73602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S43 ClickHouse columnar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3B6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面向聚合分析的列式存储</a:t>
                      </a:r>
                    </a:p>
                  </a:txBody>
                  <a:tcPr marL="161925" marR="16192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028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2026-10-03T10:19:23.8000000Z</dcterms:created>
  <dcterms:modified xsi:type="dcterms:W3CDTF">2026-10-03T10:19:23.8000000Z</dcterms:modified>
</coreProperties>
</file>