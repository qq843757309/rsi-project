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98854444e048be" /><Relationship Type="http://schemas.openxmlformats.org/officeDocument/2006/relationships/extended-properties" Target="/docProps/app.xml" Id="Ra784a41e531d43be" /><Relationship Type="http://schemas.openxmlformats.org/officeDocument/2006/relationships/officeDocument" Target="/ppt/presentation.xml" Id="R626606313cf840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b11e7229e841c0"/>
  </p:sldMasterIdLst>
  <p:notesMasterIdLst>
    <p:notesMasterId xmlns:r="http://schemas.openxmlformats.org/officeDocument/2006/relationships" r:id="Re75cff324c6c4b5c"/>
  </p:notesMasterIdLst>
  <p:sldIdLst>
    <p:sldId xmlns:r="http://schemas.openxmlformats.org/officeDocument/2006/relationships" id="256" r:id="R2f45effdb41f491e"/>
    <p:sldId xmlns:r="http://schemas.openxmlformats.org/officeDocument/2006/relationships" id="257" r:id="R6d7da9a596fc40d6"/>
    <p:sldId xmlns:r="http://schemas.openxmlformats.org/officeDocument/2006/relationships" id="258" r:id="R27e4ad97f93b41e7"/>
    <p:sldId xmlns:r="http://schemas.openxmlformats.org/officeDocument/2006/relationships" id="259" r:id="R9a600e0a5c024c3b"/>
    <p:sldId xmlns:r="http://schemas.openxmlformats.org/officeDocument/2006/relationships" id="260" r:id="R97be2f0ed7614168"/>
    <p:sldId xmlns:r="http://schemas.openxmlformats.org/officeDocument/2006/relationships" id="261" r:id="R243ea79d256e499f"/>
    <p:sldId xmlns:r="http://schemas.openxmlformats.org/officeDocument/2006/relationships" id="262" r:id="Rdb256d9b83bf4d8e"/>
    <p:sldId xmlns:r="http://schemas.openxmlformats.org/officeDocument/2006/relationships" id="263" r:id="R5fb7cf1586874b60"/>
    <p:sldId xmlns:r="http://schemas.openxmlformats.org/officeDocument/2006/relationships" id="264" r:id="Rd25e8afab80d4856"/>
    <p:sldId xmlns:r="http://schemas.openxmlformats.org/officeDocument/2006/relationships" id="265" r:id="Rd1e7e78296a54fbd"/>
    <p:sldId xmlns:r="http://schemas.openxmlformats.org/officeDocument/2006/relationships" id="266" r:id="R3e49ee1795504008"/>
    <p:sldId xmlns:r="http://schemas.openxmlformats.org/officeDocument/2006/relationships" id="267" r:id="Ra9908ea978a9458e"/>
    <p:sldId xmlns:r="http://schemas.openxmlformats.org/officeDocument/2006/relationships" id="268" r:id="R530137cce9e54eb6"/>
    <p:sldId xmlns:r="http://schemas.openxmlformats.org/officeDocument/2006/relationships" id="269" r:id="R199319ef1b1646dd"/>
    <p:sldId xmlns:r="http://schemas.openxmlformats.org/officeDocument/2006/relationships" id="270" r:id="R3ca2e90d21b44505"/>
    <p:sldId xmlns:r="http://schemas.openxmlformats.org/officeDocument/2006/relationships" id="271" r:id="Racdfaa4906414e64"/>
    <p:sldId xmlns:r="http://schemas.openxmlformats.org/officeDocument/2006/relationships" id="272" r:id="R50949d9ca72d4eaf"/>
    <p:sldId xmlns:r="http://schemas.openxmlformats.org/officeDocument/2006/relationships" id="273" r:id="R8a7782864a34466b"/>
    <p:sldId xmlns:r="http://schemas.openxmlformats.org/officeDocument/2006/relationships" id="274" r:id="Ra16a60ae73db470a"/>
    <p:sldId xmlns:r="http://schemas.openxmlformats.org/officeDocument/2006/relationships" id="275" r:id="R435b5db2450c46b3"/>
    <p:sldId xmlns:r="http://schemas.openxmlformats.org/officeDocument/2006/relationships" id="276" r:id="R8747e23754064e2f"/>
    <p:sldId xmlns:r="http://schemas.openxmlformats.org/officeDocument/2006/relationships" id="277" r:id="R2855329656994e7a"/>
    <p:sldId xmlns:r="http://schemas.openxmlformats.org/officeDocument/2006/relationships" id="278" r:id="R33d2560690914525"/>
    <p:sldId xmlns:r="http://schemas.openxmlformats.org/officeDocument/2006/relationships" id="279" r:id="R4dbf29fd4b144d85"/>
    <p:sldId xmlns:r="http://schemas.openxmlformats.org/officeDocument/2006/relationships" id="280" r:id="Rc53be57d1ca042bb"/>
    <p:sldId xmlns:r="http://schemas.openxmlformats.org/officeDocument/2006/relationships" id="281" r:id="R9e7fe25f022f460b"/>
    <p:sldId xmlns:r="http://schemas.openxmlformats.org/officeDocument/2006/relationships" id="282" r:id="R46ce9aad9f2f43b3"/>
    <p:sldId xmlns:r="http://schemas.openxmlformats.org/officeDocument/2006/relationships" id="283" r:id="R8341a6ad3fd14414"/>
    <p:sldId xmlns:r="http://schemas.openxmlformats.org/officeDocument/2006/relationships" id="284" r:id="R8406bc36eb514ffc"/>
    <p:sldId xmlns:r="http://schemas.openxmlformats.org/officeDocument/2006/relationships" id="285" r:id="R2c4be37f4a1e4d0e"/>
    <p:sldId xmlns:r="http://schemas.openxmlformats.org/officeDocument/2006/relationships" id="286" r:id="R082e8d5affb34b9d"/>
    <p:sldId xmlns:r="http://schemas.openxmlformats.org/officeDocument/2006/relationships" id="287" r:id="Ra3050e37520a4710"/>
    <p:sldId xmlns:r="http://schemas.openxmlformats.org/officeDocument/2006/relationships" id="288" r:id="R55fb37f3524f4e0e"/>
    <p:sldId xmlns:r="http://schemas.openxmlformats.org/officeDocument/2006/relationships" id="289" r:id="Rd9f4e3ecdccb4e11"/>
    <p:sldId xmlns:r="http://schemas.openxmlformats.org/officeDocument/2006/relationships" id="290" r:id="R478fbf3a0f4a4099"/>
    <p:sldId xmlns:r="http://schemas.openxmlformats.org/officeDocument/2006/relationships" id="291" r:id="R073fe785b53e452a"/>
    <p:sldId xmlns:r="http://schemas.openxmlformats.org/officeDocument/2006/relationships" id="292" r:id="R6e8ea9885fb1432b"/>
    <p:sldId xmlns:r="http://schemas.openxmlformats.org/officeDocument/2006/relationships" id="293" r:id="R38f089e3d37647c7"/>
    <p:sldId xmlns:r="http://schemas.openxmlformats.org/officeDocument/2006/relationships" id="294" r:id="R7da6a6c237e54443"/>
    <p:sldId xmlns:r="http://schemas.openxmlformats.org/officeDocument/2006/relationships" id="295" r:id="R67e0b09ef67248ab"/>
    <p:sldId xmlns:r="http://schemas.openxmlformats.org/officeDocument/2006/relationships" id="296" r:id="Rc0dee52ccd164aa2"/>
    <p:sldId xmlns:r="http://schemas.openxmlformats.org/officeDocument/2006/relationships" id="297" r:id="R0fa58d99233447a3"/>
    <p:sldId xmlns:r="http://schemas.openxmlformats.org/officeDocument/2006/relationships" id="298" r:id="Re22d47f1f33c4f8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281cb805b341ee" /><Relationship Type="http://schemas.openxmlformats.org/officeDocument/2006/relationships/slideMaster" Target="/ppt/slideMasters/slideMaster1.xml" Id="R95b11e7229e841c0" /><Relationship Type="http://schemas.openxmlformats.org/officeDocument/2006/relationships/notesMaster" Target="/ppt/notesMasters/notesMaster1.xml" Id="Re75cff324c6c4b5c" /><Relationship Type="http://schemas.openxmlformats.org/officeDocument/2006/relationships/presProps" Target="/ppt/presProps.xml" Id="R3f5ee8da20fa48dd" /><Relationship Type="http://schemas.openxmlformats.org/officeDocument/2006/relationships/tableStyles" Target="/ppt/tableStyles.xml" Id="R0a60e33086a64db1" /><Relationship Type="http://schemas.openxmlformats.org/officeDocument/2006/relationships/slide" Target="/ppt/slides/slide1.xml" Id="R2f45effdb41f491e" /><Relationship Type="http://schemas.openxmlformats.org/officeDocument/2006/relationships/slide" Target="/ppt/slides/slide2.xml" Id="R6d7da9a596fc40d6" /><Relationship Type="http://schemas.openxmlformats.org/officeDocument/2006/relationships/slide" Target="/ppt/slides/slide3.xml" Id="R27e4ad97f93b41e7" /><Relationship Type="http://schemas.openxmlformats.org/officeDocument/2006/relationships/slide" Target="/ppt/slides/slide4.xml" Id="R9a600e0a5c024c3b" /><Relationship Type="http://schemas.openxmlformats.org/officeDocument/2006/relationships/slide" Target="/ppt/slides/slide5.xml" Id="R97be2f0ed7614168" /><Relationship Type="http://schemas.openxmlformats.org/officeDocument/2006/relationships/slide" Target="/ppt/slides/slide6.xml" Id="R243ea79d256e499f" /><Relationship Type="http://schemas.openxmlformats.org/officeDocument/2006/relationships/slide" Target="/ppt/slides/slide7.xml" Id="Rdb256d9b83bf4d8e" /><Relationship Type="http://schemas.openxmlformats.org/officeDocument/2006/relationships/slide" Target="/ppt/slides/slide8.xml" Id="R5fb7cf1586874b60" /><Relationship Type="http://schemas.openxmlformats.org/officeDocument/2006/relationships/slide" Target="/ppt/slides/slide9.xml" Id="Rd25e8afab80d4856" /><Relationship Type="http://schemas.openxmlformats.org/officeDocument/2006/relationships/slide" Target="/ppt/slides/slide10.xml" Id="Rd1e7e78296a54fbd" /><Relationship Type="http://schemas.openxmlformats.org/officeDocument/2006/relationships/slide" Target="/ppt/slides/slide11.xml" Id="R3e49ee1795504008" /><Relationship Type="http://schemas.openxmlformats.org/officeDocument/2006/relationships/slide" Target="/ppt/slides/slide12.xml" Id="Ra9908ea978a9458e" /><Relationship Type="http://schemas.openxmlformats.org/officeDocument/2006/relationships/slide" Target="/ppt/slides/slide13.xml" Id="R530137cce9e54eb6" /><Relationship Type="http://schemas.openxmlformats.org/officeDocument/2006/relationships/slide" Target="/ppt/slides/slide14.xml" Id="R199319ef1b1646dd" /><Relationship Type="http://schemas.openxmlformats.org/officeDocument/2006/relationships/slide" Target="/ppt/slides/slide15.xml" Id="R3ca2e90d21b44505" /><Relationship Type="http://schemas.openxmlformats.org/officeDocument/2006/relationships/slide" Target="/ppt/slides/slide16.xml" Id="Racdfaa4906414e64" /><Relationship Type="http://schemas.openxmlformats.org/officeDocument/2006/relationships/slide" Target="/ppt/slides/slide17.xml" Id="R50949d9ca72d4eaf" /><Relationship Type="http://schemas.openxmlformats.org/officeDocument/2006/relationships/slide" Target="/ppt/slides/slide18.xml" Id="R8a7782864a34466b" /><Relationship Type="http://schemas.openxmlformats.org/officeDocument/2006/relationships/slide" Target="/ppt/slides/slide19.xml" Id="Ra16a60ae73db470a" /><Relationship Type="http://schemas.openxmlformats.org/officeDocument/2006/relationships/slide" Target="/ppt/slides/slide20.xml" Id="R435b5db2450c46b3" /><Relationship Type="http://schemas.openxmlformats.org/officeDocument/2006/relationships/slide" Target="/ppt/slides/slide21.xml" Id="R8747e23754064e2f" /><Relationship Type="http://schemas.openxmlformats.org/officeDocument/2006/relationships/slide" Target="/ppt/slides/slide22.xml" Id="R2855329656994e7a" /><Relationship Type="http://schemas.openxmlformats.org/officeDocument/2006/relationships/slide" Target="/ppt/slides/slide23.xml" Id="R33d2560690914525" /><Relationship Type="http://schemas.openxmlformats.org/officeDocument/2006/relationships/slide" Target="/ppt/slides/slide24.xml" Id="R4dbf29fd4b144d85" /><Relationship Type="http://schemas.openxmlformats.org/officeDocument/2006/relationships/slide" Target="/ppt/slides/slide25.xml" Id="Rc53be57d1ca042bb" /><Relationship Type="http://schemas.openxmlformats.org/officeDocument/2006/relationships/slide" Target="/ppt/slides/slide26.xml" Id="R9e7fe25f022f460b" /><Relationship Type="http://schemas.openxmlformats.org/officeDocument/2006/relationships/slide" Target="/ppt/slides/slide27.xml" Id="R46ce9aad9f2f43b3" /><Relationship Type="http://schemas.openxmlformats.org/officeDocument/2006/relationships/slide" Target="/ppt/slides/slide28.xml" Id="R8341a6ad3fd14414" /><Relationship Type="http://schemas.openxmlformats.org/officeDocument/2006/relationships/slide" Target="/ppt/slides/slide29.xml" Id="R8406bc36eb514ffc" /><Relationship Type="http://schemas.openxmlformats.org/officeDocument/2006/relationships/slide" Target="/ppt/slides/slide30.xml" Id="R2c4be37f4a1e4d0e" /><Relationship Type="http://schemas.openxmlformats.org/officeDocument/2006/relationships/slide" Target="/ppt/slides/slide31.xml" Id="R082e8d5affb34b9d" /><Relationship Type="http://schemas.openxmlformats.org/officeDocument/2006/relationships/slide" Target="/ppt/slides/slide32.xml" Id="Ra3050e37520a4710" /><Relationship Type="http://schemas.openxmlformats.org/officeDocument/2006/relationships/slide" Target="/ppt/slides/slide33.xml" Id="R55fb37f3524f4e0e" /><Relationship Type="http://schemas.openxmlformats.org/officeDocument/2006/relationships/slide" Target="/ppt/slides/slide34.xml" Id="Rd9f4e3ecdccb4e11" /><Relationship Type="http://schemas.openxmlformats.org/officeDocument/2006/relationships/slide" Target="/ppt/slides/slide35.xml" Id="R478fbf3a0f4a4099" /><Relationship Type="http://schemas.openxmlformats.org/officeDocument/2006/relationships/slide" Target="/ppt/slides/slide36.xml" Id="R073fe785b53e452a" /><Relationship Type="http://schemas.openxmlformats.org/officeDocument/2006/relationships/slide" Target="/ppt/slides/slide37.xml" Id="R6e8ea9885fb1432b" /><Relationship Type="http://schemas.openxmlformats.org/officeDocument/2006/relationships/slide" Target="/ppt/slides/slide38.xml" Id="R38f089e3d37647c7" /><Relationship Type="http://schemas.openxmlformats.org/officeDocument/2006/relationships/slide" Target="/ppt/slides/slide39.xml" Id="R7da6a6c237e54443" /><Relationship Type="http://schemas.openxmlformats.org/officeDocument/2006/relationships/slide" Target="/ppt/slides/slide40.xml" Id="R67e0b09ef67248ab" /><Relationship Type="http://schemas.openxmlformats.org/officeDocument/2006/relationships/slide" Target="/ppt/slides/slide41.xml" Id="Rc0dee52ccd164aa2" /><Relationship Type="http://schemas.openxmlformats.org/officeDocument/2006/relationships/slide" Target="/ppt/slides/slide42.xml" Id="R0fa58d99233447a3" /><Relationship Type="http://schemas.openxmlformats.org/officeDocument/2006/relationships/slide" Target="/ppt/slides/slide43.xml" Id="Re22d47f1f33c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00ebf35a842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702c7b153d49b3" /><Relationship Type="http://schemas.openxmlformats.org/officeDocument/2006/relationships/notesMaster" Target="/ppt/notesMasters/notesMaster1.xml" Id="R5b8d2f6920484b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7395ed76cd476c" /><Relationship Type="http://schemas.openxmlformats.org/officeDocument/2006/relationships/notesMaster" Target="/ppt/notesMasters/notesMaster1.xml" Id="R9827325058244c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5d1f352d114b19" /><Relationship Type="http://schemas.openxmlformats.org/officeDocument/2006/relationships/notesMaster" Target="/ppt/notesMasters/notesMaster1.xml" Id="R5500fa6def804c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2bfebef7c74a70" /><Relationship Type="http://schemas.openxmlformats.org/officeDocument/2006/relationships/notesMaster" Target="/ppt/notesMasters/notesMaster1.xml" Id="R54f22aada09746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ce612dbe14ab5" /><Relationship Type="http://schemas.openxmlformats.org/officeDocument/2006/relationships/notesMaster" Target="/ppt/notesMasters/notesMaster1.xml" Id="Ra9282c03722a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adb91bd99a426f" /><Relationship Type="http://schemas.openxmlformats.org/officeDocument/2006/relationships/notesMaster" Target="/ppt/notesMasters/notesMaster1.xml" Id="R066d54e86fe640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0adf965fff4872" /><Relationship Type="http://schemas.openxmlformats.org/officeDocument/2006/relationships/notesMaster" Target="/ppt/notesMasters/notesMaster1.xml" Id="R61d7361e061641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a9e93141bb4ac9" /><Relationship Type="http://schemas.openxmlformats.org/officeDocument/2006/relationships/notesMaster" Target="/ppt/notesMasters/notesMaster1.xml" Id="R048bdf7f935a4a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84c26c9e8a4ecd" /><Relationship Type="http://schemas.openxmlformats.org/officeDocument/2006/relationships/notesMaster" Target="/ppt/notesMasters/notesMaster1.xml" Id="R8d8cca0943f84c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9c322d0aae4a63" /><Relationship Type="http://schemas.openxmlformats.org/officeDocument/2006/relationships/notesMaster" Target="/ppt/notesMasters/notesMaster1.xml" Id="R36c1de35623d4a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a1058c9107475c" /><Relationship Type="http://schemas.openxmlformats.org/officeDocument/2006/relationships/notesMaster" Target="/ppt/notesMasters/notesMaster1.xml" Id="R4f5c34187b7c4d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41c1069ef246da" /><Relationship Type="http://schemas.openxmlformats.org/officeDocument/2006/relationships/notesMaster" Target="/ppt/notesMasters/notesMaster1.xml" Id="Ra7567ec519dc43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cb0b12f4514ce8" /><Relationship Type="http://schemas.openxmlformats.org/officeDocument/2006/relationships/notesMaster" Target="/ppt/notesMasters/notesMaster1.xml" Id="Rd5f0de8129b547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58966473674ba7" /><Relationship Type="http://schemas.openxmlformats.org/officeDocument/2006/relationships/notesMaster" Target="/ppt/notesMasters/notesMaster1.xml" Id="R1c54afa079c245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42dbbb2dd24213" /><Relationship Type="http://schemas.openxmlformats.org/officeDocument/2006/relationships/notesMaster" Target="/ppt/notesMasters/notesMaster1.xml" Id="R04587cf1bd0642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df44f3055c4f1d" /><Relationship Type="http://schemas.openxmlformats.org/officeDocument/2006/relationships/notesMaster" Target="/ppt/notesMasters/notesMaster1.xml" Id="Rb708539bdedf4a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c2c9ae73204fba" /><Relationship Type="http://schemas.openxmlformats.org/officeDocument/2006/relationships/notesMaster" Target="/ppt/notesMasters/notesMaster1.xml" Id="Rfeaf3ed7c7a843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2110140abf4d52" /><Relationship Type="http://schemas.openxmlformats.org/officeDocument/2006/relationships/notesMaster" Target="/ppt/notesMasters/notesMaster1.xml" Id="R6902b441bb9843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30ef0c95864970" /><Relationship Type="http://schemas.openxmlformats.org/officeDocument/2006/relationships/notesMaster" Target="/ppt/notesMasters/notesMaster1.xml" Id="R5d259936b23340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cc131978a994e89" /><Relationship Type="http://schemas.openxmlformats.org/officeDocument/2006/relationships/notesMaster" Target="/ppt/notesMasters/notesMaster1.xml" Id="Re1e129d8d1af48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9fdb5bac5f44ee" /><Relationship Type="http://schemas.openxmlformats.org/officeDocument/2006/relationships/notesMaster" Target="/ppt/notesMasters/notesMaster1.xml" Id="R579a2dc2af344f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b9f88ff82e4236" /><Relationship Type="http://schemas.openxmlformats.org/officeDocument/2006/relationships/notesMaster" Target="/ppt/notesMasters/notesMaster1.xml" Id="Rb3935524b66341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35416779fd4b62" /><Relationship Type="http://schemas.openxmlformats.org/officeDocument/2006/relationships/notesMaster" Target="/ppt/notesMasters/notesMaster1.xml" Id="Rd328aaaf694e41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0cd2a7e4f5542dc" /><Relationship Type="http://schemas.openxmlformats.org/officeDocument/2006/relationships/notesMaster" Target="/ppt/notesMasters/notesMaster1.xml" Id="R67a99cc801b441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bd7171972a74a68" /><Relationship Type="http://schemas.openxmlformats.org/officeDocument/2006/relationships/notesMaster" Target="/ppt/notesMasters/notesMaster1.xml" Id="R89e22d06bb69414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2d97d3e4ac47cc" /><Relationship Type="http://schemas.openxmlformats.org/officeDocument/2006/relationships/notesMaster" Target="/ppt/notesMasters/notesMaster1.xml" Id="R26dc27da0e1b483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48b4d7cf5f44e0" /><Relationship Type="http://schemas.openxmlformats.org/officeDocument/2006/relationships/notesMaster" Target="/ppt/notesMasters/notesMaster1.xml" Id="R1d5e35b5d0b34e4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43ced6e9ebf4437" /><Relationship Type="http://schemas.openxmlformats.org/officeDocument/2006/relationships/notesMaster" Target="/ppt/notesMasters/notesMaster1.xml" Id="R3835f4c43de2410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131f98feee943ee" /><Relationship Type="http://schemas.openxmlformats.org/officeDocument/2006/relationships/notesMaster" Target="/ppt/notesMasters/notesMaster1.xml" Id="R424badcd1c5241b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867ae470ba94121" /><Relationship Type="http://schemas.openxmlformats.org/officeDocument/2006/relationships/notesMaster" Target="/ppt/notesMasters/notesMaster1.xml" Id="Ra79bc29d47c64a7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b180839901e478f" /><Relationship Type="http://schemas.openxmlformats.org/officeDocument/2006/relationships/notesMaster" Target="/ppt/notesMasters/notesMaster1.xml" Id="Re05b761196e045f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dce01e3aa7b4f38" /><Relationship Type="http://schemas.openxmlformats.org/officeDocument/2006/relationships/notesMaster" Target="/ppt/notesMasters/notesMaster1.xml" Id="R2ea9f8a3ef98493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50e82c5b53b489c" /><Relationship Type="http://schemas.openxmlformats.org/officeDocument/2006/relationships/notesMaster" Target="/ppt/notesMasters/notesMaster1.xml" Id="R26cb2966354d405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f6831bde3b4946" /><Relationship Type="http://schemas.openxmlformats.org/officeDocument/2006/relationships/notesMaster" Target="/ppt/notesMasters/notesMaster1.xml" Id="R84653400606b4e7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10ff58a64714109" /><Relationship Type="http://schemas.openxmlformats.org/officeDocument/2006/relationships/notesMaster" Target="/ppt/notesMasters/notesMaster1.xml" Id="R74f73d3445d3471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53ec07655cc49d2" /><Relationship Type="http://schemas.openxmlformats.org/officeDocument/2006/relationships/notesMaster" Target="/ppt/notesMasters/notesMaster1.xml" Id="Rda19f4708192410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8c0b6541b1e4fed" /><Relationship Type="http://schemas.openxmlformats.org/officeDocument/2006/relationships/notesMaster" Target="/ppt/notesMasters/notesMaster1.xml" Id="Rd04be03ba52240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aaca87faa134746" /><Relationship Type="http://schemas.openxmlformats.org/officeDocument/2006/relationships/notesMaster" Target="/ppt/notesMasters/notesMaster1.xml" Id="R57757d043ba7407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eba441888f143d2" /><Relationship Type="http://schemas.openxmlformats.org/officeDocument/2006/relationships/notesMaster" Target="/ppt/notesMasters/notesMaster1.xml" Id="R5e20af6863ef4c0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2c5db4804af400d" /><Relationship Type="http://schemas.openxmlformats.org/officeDocument/2006/relationships/notesMaster" Target="/ppt/notesMasters/notesMaster1.xml" Id="R3728fa2c1ae146e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3b30f3a71ce48f7" /><Relationship Type="http://schemas.openxmlformats.org/officeDocument/2006/relationships/notesMaster" Target="/ppt/notesMasters/notesMaster1.xml" Id="R9eb74c7139b147c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4b87ddd0950485c" /><Relationship Type="http://schemas.openxmlformats.org/officeDocument/2006/relationships/notesMaster" Target="/ppt/notesMasters/notesMaster1.xml" Id="R016c256fc65749d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5e8d1dabb114559" /><Relationship Type="http://schemas.openxmlformats.org/officeDocument/2006/relationships/notesMaster" Target="/ppt/notesMasters/notesMaster1.xml" Id="R5b8332f0baf14b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Reflexion | https://arxiv.org/abs/2303.11366 | 反馈与情景记忆研究，未证明材料研发收益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  <a:p xmlns:a="http://schemas.openxmlformats.org/drawingml/2006/main">
            <a:r>
              <a:t>DGM | https://arxiv.org/abs/2505.22954 | 代码候选、档案与编码 benchmark 的实证验证研究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SQLGlot | https://github.com/tobymao/sqlglot | SQL 解析和 AST 分析，需自行实现授权与语义检查</a:t>
            </a:r>
          </a:p>
          <a:p xmlns:a="http://schemas.openxmlformats.org/drawingml/2006/main">
            <a:r>
              <a:t>OpenSearch Hybrid Search | https://docs.opensearch.org/latest/vector-search/ai-search/hybrid-search/index/ | 全文与语义检索融合</a:t>
            </a:r>
          </a:p>
          <a:p xmlns:a="http://schemas.openxmlformats.org/drawingml/2006/main">
            <a:r>
              <a:t>OpenSearch DLS | https://docs.opensearch.org/latest/security/access-control/document-level-security/ | 文档读权限，写操作仍需要独立授权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NOMAD ELN | https://docs.nomad-lab.eu/howto/manage/gui/eln.html | 科学数据 Schema、ELN 与外部 ELN 对接</a:t>
            </a:r>
          </a:p>
          <a:p xmlns:a="http://schemas.openxmlformats.org/drawingml/2006/main">
            <a:r>
              <a:t>Airflow Architecture | https://airflow.apache.org/docs/apache-airflow/stable/core-concepts/overview.html | DAG 调度与任务执行分工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NOMAD ELN | https://docs.nomad-lab.eu/howto/manage/gui/eln.html | 科学数据 Schema、ELN 与外部 ELN 对接</a:t>
            </a:r>
          </a:p>
          <a:p xmlns:a="http://schemas.openxmlformats.org/drawingml/2006/main">
            <a:r>
              <a:t>Airflow Architecture | https://airflow.apache.org/docs/apache-airflow/stable/core-concepts/overview.html | DAG 调度与任务执行分工</a:t>
            </a:r>
          </a:p>
          <a:p xmlns:a="http://schemas.openxmlformats.org/drawingml/2006/main">
            <a:r>
              <a:t>适用判断：自研字段与提交薄层，复用既有脚本和录入接口。优先治理批次/电芯/实验标识，审批复杂度按真实业务决定。</a:t>
            </a:r>
          </a:p>
          <a:p xmlns:a="http://schemas.openxmlformats.org/drawingml/2006/main">
            <a:r>
              <a:t>可选项触发条件：审批工作流：跨角色复核或复杂状态转换成为高频需求后引入工作流引擎，普通提交先用轻量状态机。</a:t>
            </a:r>
          </a:p>
          <a:p xmlns:a="http://schemas.openxmlformats.org/drawingml/2006/main">
            <a:r>
              <a:t>CDC / 仪器直连：明确数据实时性、仪器协议与稳定主键后建设；一期不因已有脚本就默认增加消息总线。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S3 Versioning | https://docs.aws.amazon.com/AmazonS3/latest/userguide/Versioning.html | 对象多版本与删除标记，作为接口能力参考，不推荐云端部署</a:t>
            </a:r>
          </a:p>
          <a:p xmlns:a="http://schemas.openxmlformats.org/drawingml/2006/main">
            <a:r>
              <a:t>AiiDA | https://arxiv.org/abs/2003.12476 | 科学计算自动化及数据来源追踪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S3 Versioning | https://docs.aws.amazon.com/AmazonS3/latest/userguide/Versioning.html | 对象多版本与删除标记，作为接口能力参考，不推荐云端部署</a:t>
            </a:r>
          </a:p>
          <a:p xmlns:a="http://schemas.openxmlformats.org/drawingml/2006/main">
            <a:r>
              <a:t>AiiDA | https://arxiv.org/abs/2003.12476 | 科学计算自动化及数据来源追踪</a:t>
            </a:r>
          </a:p>
          <a:p xmlns:a="http://schemas.openxmlformats.org/drawingml/2006/main">
            <a:r>
              <a:t>适用判断：关系库保存元数据与权限，原件放私有资产存储；搜索索引作为可重建副本。对象存储品牌以公司政策和恢复测试决定。</a:t>
            </a:r>
          </a:p>
          <a:p xmlns:a="http://schemas.openxmlformats.org/drawingml/2006/main">
            <a:r>
              <a:t>可选项触发条件：保留锁定与法律留存：有明确保留要求时评估 WORM 或 retention，提前明确谁可删除、保存多久。</a:t>
            </a:r>
          </a:p>
          <a:p xmlns:a="http://schemas.openxmlformats.org/drawingml/2006/main">
            <a:r>
              <a:t>迁移与分层归档：热冷数据成本或文件服务容量出现瓶颈时增加归档策略，资产标识保持不变。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OpenMetadata Data Contracts | https://docs.open-metadata.org/v1.12.x/api-reference/data-contracts | Schema、质量和语义契约，产品集成需核查</a:t>
            </a:r>
          </a:p>
          <a:p xmlns:a="http://schemas.openxmlformats.org/drawingml/2006/main">
            <a:r>
              <a:t>dbt Semantic Layer | https://docs.getdbt.com/docs/use-dbt-semantic-layer/dbt-sl | 统一指标和关联语义的参考，非直接兼容承诺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OpenMetadata Data Contracts | https://docs.open-metadata.org/v1.12.x/api-reference/data-contracts | Schema、质量和语义契约，产品集成需核查</a:t>
            </a:r>
          </a:p>
          <a:p xmlns:a="http://schemas.openxmlformats.org/drawingml/2006/main">
            <a:r>
              <a:t>dbt Semantic Layer | https://docs.getdbt.com/docs/use-dbt-semantic-layer/dbt-sl | 统一指标和关联语义的参考，非直接兼容承诺</a:t>
            </a:r>
          </a:p>
          <a:p xmlns:a="http://schemas.openxmlformats.org/drawingml/2006/main">
            <a:r>
              <a:t>适用判断：先对高频实验主题建立目录和批准视图，再覆盖长尾表。若存在一实验一表，渐进规范，避免一期全量迁移。</a:t>
            </a:r>
          </a:p>
          <a:p xmlns:a="http://schemas.openxmlformats.org/drawingml/2006/main">
            <a:r>
              <a:t>可选项触发条件：完整 Catalog 产品：跨团队 owner、血缘、治理和搜索成为主要工作后评估 OpenMetadata 等产品，连接器需 PoC。</a:t>
            </a:r>
          </a:p>
          <a:p xmlns:a="http://schemas.openxmlformats.org/drawingml/2006/main">
            <a:r>
              <a:t>领域本体 / 知识图谱：需要跨材料实体多跳关系查询时引入，普通关联先由关系映射和语义模型完成。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DoclingDocument | https://docling-project.github.io/docling/concepts/docling_document/ | 统一文档表示与来源位置</a:t>
            </a:r>
          </a:p>
          <a:p xmlns:a="http://schemas.openxmlformats.org/drawingml/2006/main">
            <a:r>
              <a:t>Great Expectations Checkpoints | https://docs.greatexpectations.io/docs/core/trigger_actions_based_on_results/create_a_checkpoint_with_actions/ | 数据验证和结果驱动动作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DoclingDocument | https://docling-project.github.io/docling/concepts/docling_document/ | 统一文档表示与来源位置</a:t>
            </a:r>
          </a:p>
          <a:p xmlns:a="http://schemas.openxmlformats.org/drawingml/2006/main">
            <a:r>
              <a:t>Great Expectations Checkpoints | https://docs.greatexpectations.io/docs/core/trigger_actions_based_on_results/create_a_checkpoint_with_actions/ | 数据验证和结果驱动动作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适用判断：先用分格式解析和轻量规则覆盖常见文档，难文档进入专门队列。质量规则记录“阻断/警告/需复核”级别。</a:t>
            </a:r>
          </a:p>
          <a:p xmlns:a="http://schemas.openxmlformats.org/drawingml/2006/main">
            <a:r>
              <a:t>可选项触发条件：多模态图像理解：当性能证据在图表或显微图片且文本不足时评估内网视觉模型，需独立标注评测。</a:t>
            </a:r>
          </a:p>
          <a:p xmlns:a="http://schemas.openxmlformats.org/drawingml/2006/main">
            <a:r>
              <a:t>质量产品 / 血缘采集：规则与接入任务大量增长时引入 GX / OpenLineage，科学规则仍由团队定义。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SQLGlot | https://github.com/tobymao/sqlglot | SQL 解析和 AST 分析，需自行实现授权与语义检查</a:t>
            </a:r>
          </a:p>
          <a:p xmlns:a="http://schemas.openxmlformats.org/drawingml/2006/main">
            <a:r>
              <a:t>OpenSearch Hybrid Search | https://docs.opensearch.org/latest/vector-search/ai-search/hybrid-search/index/ | 全文与语义检索融合</a:t>
            </a:r>
          </a:p>
          <a:p xmlns:a="http://schemas.openxmlformats.org/drawingml/2006/main">
            <a:r>
              <a:t>OpenSearch DLS | https://docs.opensearch.org/latest/security/access-control/document-level-security/ | 文档读权限，写操作仍需要独立授权</a:t>
            </a:r>
          </a:p>
          <a:p xmlns:a="http://schemas.openxmlformats.org/drawingml/2006/main">
            <a:r>
              <a:t>Qdrant Hybrid Queries | https://qdrant.tech/documentation/search/hybrid-queries/ | 向量/稀疏检索融合与查询组合</a:t>
            </a:r>
          </a:p>
          <a:p xmlns:a="http://schemas.openxmlformats.org/drawingml/2006/main">
            <a:r>
              <a:t>pgvector | https://github.com/pgvector/pgvector | PostgreSQL 向量扩展，非 MySQL/OceanBase 插件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SQLGlot | https://github.com/tobymao/sqlglot | SQL 解析和 AST 分析，需自行实现授权与语义检查</a:t>
            </a:r>
          </a:p>
          <a:p xmlns:a="http://schemas.openxmlformats.org/drawingml/2006/main">
            <a:r>
              <a:t>OpenSearch Hybrid Search | https://docs.opensearch.org/latest/vector-search/ai-search/hybrid-search/index/ | 全文与语义检索融合</a:t>
            </a:r>
          </a:p>
          <a:p xmlns:a="http://schemas.openxmlformats.org/drawingml/2006/main">
            <a:r>
              <a:t>OpenSearch DLS | https://docs.opensearch.org/latest/security/access-control/document-level-security/ | 文档读权限，写操作仍需要独立授权</a:t>
            </a:r>
          </a:p>
          <a:p xmlns:a="http://schemas.openxmlformats.org/drawingml/2006/main">
            <a:r>
              <a:t>Qdrant Hybrid Queries | https://qdrant.tech/documentation/search/hybrid-queries/ | 向量/稀疏检索融合与查询组合</a:t>
            </a:r>
          </a:p>
          <a:p xmlns:a="http://schemas.openxmlformats.org/drawingml/2006/main">
            <a:r>
              <a:t>pgvector | https://github.com/pgvector/pgvector | PostgreSQL 向量扩展，非 MySQL/OceanBase 插件</a:t>
            </a:r>
          </a:p>
          <a:p xmlns:a="http://schemas.openxmlformats.org/drawingml/2006/main">
            <a:r>
              <a:t>适用判断：采用受控 SQL 与文档混合检索两条路径，统一授权和结果出口。优先验证选表正确性、统计粒度及引用准确性。</a:t>
            </a:r>
          </a:p>
          <a:p xmlns:a="http://schemas.openxmlformats.org/drawingml/2006/main">
            <a:r>
              <a:t>可选项触发条件：多轮查询 / 可视化分析：在单轮正确性稳定后追加上下文管理和图表，缓存按用户、项目和权限版本隔离。</a:t>
            </a:r>
          </a:p>
          <a:p xmlns:a="http://schemas.openxmlformats.org/drawingml/2006/main">
            <a:r>
              <a:t>GraphRAG / 图文检索：普通混合检索无法回答已定义的关系或图像任务时评估，不默认引入图库或视觉模型。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Reflexion | https://arxiv.org/abs/2303.11366 | 反馈与情景记忆研究，未证明材料研发收益</a:t>
            </a:r>
          </a:p>
          <a:p xmlns:a="http://schemas.openxmlformats.org/drawingml/2006/main">
            <a:r>
              <a:t>NOMAD ELN | https://docs.nomad-lab.eu/howto/manage/gui/eln.html | 科学数据 Schema、ELN 与外部 ELN 对接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Reflexion | https://arxiv.org/abs/2303.11366 | 反馈与情景记忆研究，未证明材料研发收益</a:t>
            </a:r>
          </a:p>
          <a:p xmlns:a="http://schemas.openxmlformats.org/drawingml/2006/main">
            <a:r>
              <a:t>NOMAD ELN | https://docs.nomad-lab.eu/howto/manage/gui/eln.html | 科学数据 Schema、ELN 与外部 ELN 对接</a:t>
            </a:r>
          </a:p>
          <a:p xmlns:a="http://schemas.openxmlformats.org/drawingml/2006/main">
            <a:r>
              <a:t>适用判断：一期先做经验卡和审核工作台，与 benchmark 同源分流。后续蒸馏候选需要验证，不能用记忆数量代表科研价值。</a:t>
            </a:r>
          </a:p>
          <a:p xmlns:a="http://schemas.openxmlformats.org/drawingml/2006/main">
            <a:r>
              <a:t>可选项触发条件：自动经验蒸馏：有足够高质量成败记录时生成候选经验。自动抽取不直接发布成科学事实。</a:t>
            </a:r>
          </a:p>
          <a:p xmlns:a="http://schemas.openxmlformats.org/drawingml/2006/main">
            <a:r>
              <a:t>时态图谱 / 技能库：需要跨时间关系推理或可执行经验时分别评估图谱、Git 技能与沙箱验证。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适用判断：先建设查询 benchmark。优先结果比对与证据定位，专家参与校准。MLflow / Langfuse 经 PoC 后选一种主平台，避免重复维护。</a:t>
            </a:r>
          </a:p>
          <a:p xmlns:a="http://schemas.openxmlformats.org/drawingml/2006/main">
            <a:r>
              <a:t>可选项触发条件：上线门禁 / 在线抽样：有稳定基线后定义变更门禁与在线质量监测，抽样比例依据成本和风险确定。</a:t>
            </a:r>
          </a:p>
          <a:p xmlns:a="http://schemas.openxmlformats.org/drawingml/2006/main">
            <a:r>
              <a:t>实验收益评测：后续科研推理用真实实验数、周期和候选质量评测，不能借查询 benchmark 宣称材料发现提升。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Keycloak AD / LDAP | https://www.keycloak.org/docs/26.8.0/server_admin/ | 身份联邦候选，现有 SSO 可用时无需新增</a:t>
            </a:r>
          </a:p>
          <a:p xmlns:a="http://schemas.openxmlformats.org/drawingml/2006/main">
            <a:r>
              <a:t>OpenSearch DLS | https://docs.opensearch.org/latest/security/access-control/document-level-security/ | 文档读权限，写操作仍需要独立授权</a:t>
            </a:r>
          </a:p>
          <a:p xmlns:a="http://schemas.openxmlformats.org/drawingml/2006/main">
            <a:r>
              <a:t>MCP Tools | https://modelcontextprotocol.io/specification/2026-07-28/server/tools | 工具发现和调用契约，不代替业务授权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Keycloak AD / LDAP | https://www.keycloak.org/docs/26.8.0/server_admin/ | 身份联邦候选，现有 SSO 可用时无需新增</a:t>
            </a:r>
          </a:p>
          <a:p xmlns:a="http://schemas.openxmlformats.org/drawingml/2006/main">
            <a:r>
              <a:t>OpenSearch DLS | https://docs.opensearch.org/latest/security/access-control/document-level-security/ | 文档读权限，写操作仍需要独立授权</a:t>
            </a:r>
          </a:p>
          <a:p xmlns:a="http://schemas.openxmlformats.org/drawingml/2006/main">
            <a:r>
              <a:t>MCP Tools | https://modelcontextprotocol.io/specification/2026-07-28/server/tools | 工具发现和调用契约，不代替业务授权</a:t>
            </a:r>
          </a:p>
          <a:p xmlns:a="http://schemas.openxmlformats.org/drawingml/2006/main">
            <a:r>
              <a:t>适用判断：统一身份入口、统一策略语义、各数据路径落实授权。AD、模型提示词或搜索 DLS 都不能单独承担全链路权限。</a:t>
            </a:r>
          </a:p>
          <a:p xmlns:a="http://schemas.openxmlformats.org/drawingml/2006/main">
            <a:r>
              <a:t>可选项触发条件：ABAC 策略引擎：跨组织密级、目的、位置等属性规则复杂后引入策略服务，简单项目权限先做稳定。</a:t>
            </a:r>
          </a:p>
          <a:p xmlns:a="http://schemas.openxmlformats.org/drawingml/2006/main">
            <a:r>
              <a:t>细粒度脱敏与审批：存在字段敏感度差异或受控导出时增加脱敏、访问申请和限时授权，按实际政策定义。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MCP Tools | https://modelcontextprotocol.io/specification/2026-07-28/server/tools | 工具发现和调用契约，不代替业务授权</a:t>
            </a:r>
          </a:p>
          <a:p xmlns:a="http://schemas.openxmlformats.org/drawingml/2006/main">
            <a:r>
              <a:t>SQLGlot | https://github.com/tobymao/sqlglot | SQL 解析和 AST 分析，需自行实现授权与语义检查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MCP Tools | https://modelcontextprotocol.io/specification/2026-07-28/server/tools | 工具发现和调用契约，不代替业务授权</a:t>
            </a:r>
          </a:p>
          <a:p xmlns:a="http://schemas.openxmlformats.org/drawingml/2006/main">
            <a:r>
              <a:t>SQLGlot | https://github.com/tobymao/sqlglot | SQL 解析和 AST 分析，需自行实现授权与语义检查</a:t>
            </a:r>
          </a:p>
          <a:p xmlns:a="http://schemas.openxmlformats.org/drawingml/2006/main">
            <a:r>
              <a:t>适用判断：先搭统一业务服务并适配现有 Agent。MCP、Skill、Hook 可以后置，业务接口和数据授权先稳定。</a:t>
            </a:r>
          </a:p>
          <a:p xmlns:a="http://schemas.openxmlformats.org/drawingml/2006/main">
            <a:r>
              <a:t>可选项触发条件：MCP 服务适配：当多个 Agent 客户端需要标准工具发现/调用时加 MCP 层，仍复用同一业务授权。</a:t>
            </a:r>
          </a:p>
          <a:p xmlns:a="http://schemas.openxmlformats.org/drawingml/2006/main">
            <a:r>
              <a:t>技能注册与 Hook：可复用技能稳定后登记输入输出/权限/版本；前后置 Hook 做记录与校验，不承诺自动科研推理。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Airflow Architecture | https://airflow.apache.org/docs/apache-airflow/stable/core-concepts/overview.html | DAG 调度与任务执行分工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  <a:p xmlns:a="http://schemas.openxmlformats.org/drawingml/2006/main">
            <a:r>
              <a:t>OpenTelemetry Semantic Conventions | https://opentelemetry.io/docs/concepts/semantic-conventions/ | 统一遥测属性，GenAI 字段需锁定实际采用版本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公司现状来自用户说明，方案建议需经内部 PoC。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Airflow Architecture | https://airflow.apache.org/docs/apache-airflow/stable/core-concepts/overview.html | DAG 调度与任务执行分工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  <a:p xmlns:a="http://schemas.openxmlformats.org/drawingml/2006/main">
            <a:r>
              <a:t>OpenTelemetry Semantic Conventions | https://opentelemetry.io/docs/concepts/semantic-conventions/ | 统一遥测属性，GenAI 字段需锁定实际采用版本</a:t>
            </a:r>
          </a:p>
          <a:p xmlns:a="http://schemas.openxmlformats.org/drawingml/2006/main">
            <a:r>
              <a:t>适用判断：先做任务状态、版本清单和恢复能力，再按收益引入观测或调度产品。50 用户不等于 50 并发，不据人数直接配置集群。</a:t>
            </a:r>
          </a:p>
          <a:p xmlns:a="http://schemas.openxmlformats.org/drawingml/2006/main">
            <a:r>
              <a:t>可选项触发条件：统一观测产品：需要 Trace 工作台、Prompt 实验和失败分析时评估 Langfuse/MLflow，明确额外依赖。</a:t>
            </a:r>
          </a:p>
          <a:p xmlns:a="http://schemas.openxmlformats.org/drawingml/2006/main">
            <a:r>
              <a:t>训练与制品平面：开启技能、源码或权重级进化后增加 Git/制品、训练快照、沙箱与评测门禁。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AiiDA | https://arxiv.org/abs/2003.12476 | 科学计算自动化及数据来源追踪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NOMAD ELN | https://docs.nomad-lab.eu/howto/manage/gui/eln.html | 科学数据 Schema、ELN 与外部 ELN 对接</a:t>
            </a:r>
          </a:p>
          <a:p xmlns:a="http://schemas.openxmlformats.org/drawingml/2006/main">
            <a:r>
              <a:t>Airflow Architecture | https://airflow.apache.org/docs/apache-airflow/stable/core-concepts/overview.html | DAG 调度与任务执行分工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S3 Versioning | https://docs.aws.amazon.com/AmazonS3/latest/userguide/Versioning.html | 对象多版本与删除标记，作为接口能力参考，不推荐云端部署</a:t>
            </a:r>
          </a:p>
          <a:p xmlns:a="http://schemas.openxmlformats.org/drawingml/2006/main">
            <a:r>
              <a:t>AiiDA | https://arxiv.org/abs/2003.12476 | 科学计算自动化及数据来源追踪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OpenMetadata Data Contracts | https://docs.open-metadata.org/v1.12.x/api-reference/data-contracts | Schema、质量和语义契约，产品集成需核查</a:t>
            </a:r>
          </a:p>
          <a:p xmlns:a="http://schemas.openxmlformats.org/drawingml/2006/main">
            <a:r>
              <a:t>dbt Semantic Layer | https://docs.getdbt.com/docs/use-dbt-semantic-layer/dbt-sl | 统一指标和关联语义的参考，非直接兼容承诺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DoclingDocument | https://docling-project.github.io/docling/concepts/docling_document/ | 统一文档表示与来源位置</a:t>
            </a:r>
          </a:p>
          <a:p xmlns:a="http://schemas.openxmlformats.org/drawingml/2006/main">
            <a:r>
              <a:t>Great Expectations Checkpoints | https://docs.greatexpectations.io/docs/core/trigger_actions_based_on_results/create_a_checkpoint_with_actions/ | 数据验证和结果驱动动作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SQLGlot | https://github.com/tobymao/sqlglot | SQL 解析和 AST 分析，需自行实现授权与语义检查</a:t>
            </a:r>
          </a:p>
          <a:p xmlns:a="http://schemas.openxmlformats.org/drawingml/2006/main">
            <a:r>
              <a:t>OpenSearch Hybrid Search | https://docs.opensearch.org/latest/vector-search/ai-search/hybrid-search/index/ | 全文与语义检索融合</a:t>
            </a:r>
          </a:p>
          <a:p xmlns:a="http://schemas.openxmlformats.org/drawingml/2006/main">
            <a:r>
              <a:t>OpenSearch DLS | https://docs.opensearch.org/latest/security/access-control/document-level-security/ | 文档读权限，写操作仍需要独立授权</a:t>
            </a:r>
          </a:p>
          <a:p xmlns:a="http://schemas.openxmlformats.org/drawingml/2006/main">
            <a:r>
              <a:t>Qdrant Hybrid Queries | https://qdrant.tech/documentation/search/hybrid-queries/ | 向量/稀疏检索融合与查询组合</a:t>
            </a:r>
          </a:p>
          <a:p xmlns:a="http://schemas.openxmlformats.org/drawingml/2006/main">
            <a:r>
              <a:t>pgvector | https://github.com/pgvector/pgvector | PostgreSQL 向量扩展，非 MySQL/OceanBase 插件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Reflexion | https://arxiv.org/abs/2303.11366 | 反馈与情景记忆研究，未证明材料研发收益</a:t>
            </a:r>
          </a:p>
          <a:p xmlns:a="http://schemas.openxmlformats.org/drawingml/2006/main">
            <a:r>
              <a:t>NOMAD ELN | https://docs.nomad-lab.eu/howto/manage/gui/eln.html | 科学数据 Schema、ELN 与外部 ELN 对接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Keycloak AD / LDAP | https://www.keycloak.org/docs/26.8.0/server_admin/ | 身份联邦候选，现有 SSO 可用时无需新增</a:t>
            </a:r>
          </a:p>
          <a:p xmlns:a="http://schemas.openxmlformats.org/drawingml/2006/main">
            <a:r>
              <a:t>OpenSearch DLS | https://docs.opensearch.org/latest/security/access-control/document-level-security/ | 文档读权限，写操作仍需要独立授权</a:t>
            </a:r>
          </a:p>
          <a:p xmlns:a="http://schemas.openxmlformats.org/drawingml/2006/main">
            <a:r>
              <a:t>MCP Tools | https://modelcontextprotocol.io/specification/2026-07-28/server/tools | 工具发现和调用契约，不代替业务授权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MCP Tools | https://modelcontextprotocol.io/specification/2026-07-28/server/tools | 工具发现和调用契约，不代替业务授权</a:t>
            </a:r>
          </a:p>
          <a:p xmlns:a="http://schemas.openxmlformats.org/drawingml/2006/main">
            <a:r>
              <a:t>SQLGlot | https://github.com/tobymao/sqlglot | SQL 解析和 AST 分析，需自行实现授权与语义检查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Airflow Architecture | https://airflow.apache.org/docs/apache-airflow/stable/core-concepts/overview.html | DAG 调度与任务执行分工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  <a:p xmlns:a="http://schemas.openxmlformats.org/drawingml/2006/main">
            <a:r>
              <a:t>OpenTelemetry Semantic Conventions | https://opentelemetry.io/docs/concepts/semantic-conventions/ | 统一遥测属性，GenAI 字段需锁定实际采用版本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NOMAD ELN | https://docs.nomad-lab.eu/howto/manage/gui/eln.html | 科学数据 Schema、ELN 与外部 ELN 对接</a:t>
            </a:r>
          </a:p>
          <a:p xmlns:a="http://schemas.openxmlformats.org/drawingml/2006/main">
            <a:r>
              <a:t>S3 Versioning | https://docs.aws.amazon.com/AmazonS3/latest/userguide/Versioning.html | 对象多版本与删除标记，作为接口能力参考，不推荐云端部署</a:t>
            </a:r>
          </a:p>
          <a:p xmlns:a="http://schemas.openxmlformats.org/drawingml/2006/main">
            <a:r>
              <a:t>OpenMetadata Data Contracts | https://docs.open-metadata.org/v1.12.x/api-reference/data-contracts | Schema、质量和语义契约，产品集成需核查</a:t>
            </a:r>
          </a:p>
          <a:p xmlns:a="http://schemas.openxmlformats.org/drawingml/2006/main">
            <a:r>
              <a:t>dbt Semantic Layer | https://docs.getdbt.com/docs/use-dbt-semantic-layer/dbt-sl | 统一指标和关联语义的参考，非直接兼容承诺</a:t>
            </a:r>
          </a:p>
          <a:p xmlns:a="http://schemas.openxmlformats.org/drawingml/2006/main">
            <a:r>
              <a:t>DoclingDocument | https://docling-project.github.io/docling/concepts/docling_document/ | 统一文档表示与来源位置</a:t>
            </a:r>
          </a:p>
          <a:p xmlns:a="http://schemas.openxmlformats.org/drawingml/2006/main">
            <a:r>
              <a:t>Great Expectations Checkpoints | https://docs.greatexpectations.io/docs/core/trigger_actions_based_on_results/create_a_checkpoint_with_actions/ | 数据验证和结果驱动动作</a:t>
            </a:r>
          </a:p>
          <a:p xmlns:a="http://schemas.openxmlformats.org/drawingml/2006/main">
            <a:r>
              <a:t>SQLGlot | https://github.com/tobymao/sqlglot | SQL 解析和 AST 分析，需自行实现授权与语义检查</a:t>
            </a:r>
          </a:p>
          <a:p xmlns:a="http://schemas.openxmlformats.org/drawingml/2006/main">
            <a:r>
              <a:t>OpenSearch Hybrid Search | https://docs.opensearch.org/latest/vector-search/ai-search/hybrid-search/index/ | 全文与语义检索融合</a:t>
            </a:r>
          </a:p>
          <a:p xmlns:a="http://schemas.openxmlformats.org/drawingml/2006/main">
            <a:r>
              <a:t>OpenSearch DLS | https://docs.opensearch.org/latest/security/access-control/document-level-security/ | 文档读权限，写操作仍需要独立授权</a:t>
            </a:r>
          </a:p>
          <a:p xmlns:a="http://schemas.openxmlformats.org/drawingml/2006/main">
            <a:r>
              <a:t>Qdrant Hybrid Queries | https://qdrant.tech/documentation/search/hybrid-queries/ | 向量/稀疏检索融合与查询组合</a:t>
            </a:r>
          </a:p>
          <a:p xmlns:a="http://schemas.openxmlformats.org/drawingml/2006/main">
            <a:r>
              <a:t>pgvector | https://github.com/pgvector/pgvector | PostgreSQL 向量扩展，非 MySQL/OceanBase 插件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公司现状依据用户说明。方案为建议，未执行内部部署和兼容性验证。</a:t>
            </a:r>
          </a:p>
          <a:p xmlns:a="http://schemas.openxmlformats.org/drawingml/2006/main">
            <a:r>
              <a:t>Reflexion | https://arxiv.org/abs/2303.11366 | 反馈与情景记忆研究，未证明材料研发收益</a:t>
            </a:r>
          </a:p>
          <a:p xmlns:a="http://schemas.openxmlformats.org/drawingml/2006/main">
            <a:r>
              <a:t>MLflow Evaluation Datasets | https://mlflow.org/docs/latest/genai/datasets/ | 评测数据集与运行记录关联</a:t>
            </a:r>
          </a:p>
          <a:p xmlns:a="http://schemas.openxmlformats.org/drawingml/2006/main">
            <a:r>
              <a:t>Langfuse Self-hosting | https://langfuse.com/self-hosting | 本轮官方页面显示 v4，自托管涉及 Postgres、ClickHouse、Redis/Valkey、对象存储</a:t>
            </a:r>
          </a:p>
          <a:p xmlns:a="http://schemas.openxmlformats.org/drawingml/2006/main">
            <a:r>
              <a:t>Keycloak AD / LDAP | https://www.keycloak.org/docs/26.8.0/server_admin/ | 身份联邦候选，现有 SSO 可用时无需新增</a:t>
            </a:r>
          </a:p>
          <a:p xmlns:a="http://schemas.openxmlformats.org/drawingml/2006/main">
            <a:r>
              <a:t>MCP Tools | https://modelcontextprotocol.io/specification/2026-07-28/server/tools | 工具发现和调用契约，不代替业务授权</a:t>
            </a:r>
          </a:p>
          <a:p xmlns:a="http://schemas.openxmlformats.org/drawingml/2006/main">
            <a:r>
              <a:t>OpenLineage | https://openlineage.io/docs/spec/examples/ | Job、Run、Dataset 与输入输出关系</a:t>
            </a:r>
          </a:p>
          <a:p xmlns:a="http://schemas.openxmlformats.org/drawingml/2006/main">
            <a:r>
              <a:t>Airflow Architecture | https://airflow.apache.org/docs/apache-airflow/stable/core-concepts/overview.html | DAG 调度与任务执行分工</a:t>
            </a:r>
          </a:p>
          <a:p xmlns:a="http://schemas.openxmlformats.org/drawingml/2006/main">
            <a:r>
              <a:t>DGM | https://arxiv.org/abs/2505.22954 | 代码候选、档案与编码 benchmark 的实证验证研究</a:t>
            </a:r>
          </a:p>
          <a:p xmlns:a="http://schemas.openxmlformats.org/drawingml/2006/main">
            <a:r>
              <a:t>AiiDA | https://arxiv.org/abs/2003.12476 | 科学计算自动化及数据来源追踪</a:t>
            </a:r>
          </a:p>
          <a:p xmlns:a="http://schemas.openxmlformats.org/drawingml/2006/main">
            <a:r>
              <a:t>AIMD-L | https://hemi.jhu.edu/caimee/center-facilities/aimd-l/data-handling/ | 事件数据关联样品生命周期</a:t>
            </a:r>
          </a:p>
          <a:p xmlns:a="http://schemas.openxmlformats.org/drawingml/2006/main">
            <a:r>
              <a:t>OpenTelemetry Semantic Conventions | https://opentelemetry.io/docs/concepts/semantic-conventions/ | 统一遥测属性，GenAI 字段需锁定实际采用版本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4d1e13c9d47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f9634fc7624133" /><Relationship Type="http://schemas.openxmlformats.org/officeDocument/2006/relationships/slideLayout" Target="/ppt/slideLayouts/slideLayout1.xml" Id="R02060103aa1144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060103aa1144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84a3f93ca4762" /><Relationship Type="http://schemas.openxmlformats.org/officeDocument/2006/relationships/notesSlide" Target="/ppt/notesSlides/notesSlide1.xml" Id="R3d248a40b92242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8955f4f5642cf" /><Relationship Type="http://schemas.openxmlformats.org/officeDocument/2006/relationships/notesSlide" Target="/ppt/notesSlides/notesSlide2.xml" Id="Rd71307f667bd41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c54b75c41479d" /><Relationship Type="http://schemas.openxmlformats.org/officeDocument/2006/relationships/notesSlide" Target="/ppt/notesSlides/notesSlide3.xml" Id="R2e7f100242604d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1a1d750814d68" /><Relationship Type="http://schemas.openxmlformats.org/officeDocument/2006/relationships/notesSlide" Target="/ppt/notesSlides/notesSlide4.xml" Id="R5485473d43464f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86f0b62f04628" /><Relationship Type="http://schemas.openxmlformats.org/officeDocument/2006/relationships/notesSlide" Target="/ppt/notesSlides/notesSlide5.xml" Id="R1ce804fbc69044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64b383ba04d52" /><Relationship Type="http://schemas.openxmlformats.org/officeDocument/2006/relationships/notesSlide" Target="/ppt/notesSlides/notesSlide6.xml" Id="R2ba78ef7153340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fab6f9d614f9d" /><Relationship Type="http://schemas.openxmlformats.org/officeDocument/2006/relationships/notesSlide" Target="/ppt/notesSlides/notesSlide7.xml" Id="R5e1ee8e8d6aa44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912b4330740e2" /><Relationship Type="http://schemas.openxmlformats.org/officeDocument/2006/relationships/notesSlide" Target="/ppt/notesSlides/notesSlide8.xml" Id="R7b779beffc2747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50637637d4337" /><Relationship Type="http://schemas.openxmlformats.org/officeDocument/2006/relationships/notesSlide" Target="/ppt/notesSlides/notesSlide9.xml" Id="Rf79f14720d7449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6a4993f0b4af8" /><Relationship Type="http://schemas.openxmlformats.org/officeDocument/2006/relationships/notesSlide" Target="/ppt/notesSlides/notesSlide10.xml" Id="R07da8276d3b048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04e6c9b164760" /><Relationship Type="http://schemas.openxmlformats.org/officeDocument/2006/relationships/notesSlide" Target="/ppt/notesSlides/notesSlide11.xml" Id="Rd3e5f966f8f142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ee295c1364fda" /><Relationship Type="http://schemas.openxmlformats.org/officeDocument/2006/relationships/notesSlide" Target="/ppt/notesSlides/notesSlide12.xml" Id="Ra01e1e0cd10b46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35f94350647f1" /><Relationship Type="http://schemas.openxmlformats.org/officeDocument/2006/relationships/notesSlide" Target="/ppt/notesSlides/notesSlide13.xml" Id="Rfe3ef90f461c45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4080b6d3d4d3f" /><Relationship Type="http://schemas.openxmlformats.org/officeDocument/2006/relationships/notesSlide" Target="/ppt/notesSlides/notesSlide14.xml" Id="R63ed79bd390f48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16bfdfca4484a" /><Relationship Type="http://schemas.openxmlformats.org/officeDocument/2006/relationships/notesSlide" Target="/ppt/notesSlides/notesSlide15.xml" Id="Rce25f0da099449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6c1ab5a7c4c0c" /><Relationship Type="http://schemas.openxmlformats.org/officeDocument/2006/relationships/notesSlide" Target="/ppt/notesSlides/notesSlide16.xml" Id="R6b9e9bdc770b41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e907076ea4c45" /><Relationship Type="http://schemas.openxmlformats.org/officeDocument/2006/relationships/notesSlide" Target="/ppt/notesSlides/notesSlide17.xml" Id="R15dad68a98dd46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7abf53ac74eed" /><Relationship Type="http://schemas.openxmlformats.org/officeDocument/2006/relationships/notesSlide" Target="/ppt/notesSlides/notesSlide18.xml" Id="Rb7a9f58c2be74e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250dc9a694c9d" /><Relationship Type="http://schemas.openxmlformats.org/officeDocument/2006/relationships/notesSlide" Target="/ppt/notesSlides/notesSlide19.xml" Id="R2a44054275ee40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c1e11cc03430b" /><Relationship Type="http://schemas.openxmlformats.org/officeDocument/2006/relationships/notesSlide" Target="/ppt/notesSlides/notesSlide20.xml" Id="Rc216792a8c3e4b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af86f3d6d4138" /><Relationship Type="http://schemas.openxmlformats.org/officeDocument/2006/relationships/notesSlide" Target="/ppt/notesSlides/notesSlide21.xml" Id="R7ad03efc9e6646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846eb619c4db4" /><Relationship Type="http://schemas.openxmlformats.org/officeDocument/2006/relationships/notesSlide" Target="/ppt/notesSlides/notesSlide22.xml" Id="Rdfffcb8970f041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52c744de64c40" /><Relationship Type="http://schemas.openxmlformats.org/officeDocument/2006/relationships/notesSlide" Target="/ppt/notesSlides/notesSlide23.xml" Id="R7d17b1f36cbc4b2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6285120e646c5" /><Relationship Type="http://schemas.openxmlformats.org/officeDocument/2006/relationships/notesSlide" Target="/ppt/notesSlides/notesSlide24.xml" Id="R81858e7f612246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cda45175845cb" /><Relationship Type="http://schemas.openxmlformats.org/officeDocument/2006/relationships/notesSlide" Target="/ppt/notesSlides/notesSlide25.xml" Id="R97063e880b10439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4c0aa309947c9" /><Relationship Type="http://schemas.openxmlformats.org/officeDocument/2006/relationships/notesSlide" Target="/ppt/notesSlides/notesSlide26.xml" Id="R0527ed68d3c041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2a685d56a471b" /><Relationship Type="http://schemas.openxmlformats.org/officeDocument/2006/relationships/notesSlide" Target="/ppt/notesSlides/notesSlide27.xml" Id="Ra0bc1b9e426a49d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d47f1ee4b4504" /><Relationship Type="http://schemas.openxmlformats.org/officeDocument/2006/relationships/notesSlide" Target="/ppt/notesSlides/notesSlide28.xml" Id="R54dccef21f154a0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8600374e04371" /><Relationship Type="http://schemas.openxmlformats.org/officeDocument/2006/relationships/notesSlide" Target="/ppt/notesSlides/notesSlide29.xml" Id="Re79d7825895d4b1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e1d69b65c440c" /><Relationship Type="http://schemas.openxmlformats.org/officeDocument/2006/relationships/notesSlide" Target="/ppt/notesSlides/notesSlide30.xml" Id="Ra40706c6206e4e1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64fcf479c4243" /><Relationship Type="http://schemas.openxmlformats.org/officeDocument/2006/relationships/notesSlide" Target="/ppt/notesSlides/notesSlide31.xml" Id="Rbedd2e92ab52460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09174606e4085" /><Relationship Type="http://schemas.openxmlformats.org/officeDocument/2006/relationships/notesSlide" Target="/ppt/notesSlides/notesSlide32.xml" Id="Rf258c74544624de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e05da34644fbd" /><Relationship Type="http://schemas.openxmlformats.org/officeDocument/2006/relationships/notesSlide" Target="/ppt/notesSlides/notesSlide33.xml" Id="Rb03079be8c404c8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a7bb121e9472a" /><Relationship Type="http://schemas.openxmlformats.org/officeDocument/2006/relationships/notesSlide" Target="/ppt/notesSlides/notesSlide34.xml" Id="R051a91b9522b40b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5e306f3494278" /><Relationship Type="http://schemas.openxmlformats.org/officeDocument/2006/relationships/notesSlide" Target="/ppt/notesSlides/notesSlide35.xml" Id="Re0e6f5f8688d447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5bb6990ec4d80" /><Relationship Type="http://schemas.openxmlformats.org/officeDocument/2006/relationships/notesSlide" Target="/ppt/notesSlides/notesSlide36.xml" Id="Rc97a8720b77d421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52b82ea124a3f" /><Relationship Type="http://schemas.openxmlformats.org/officeDocument/2006/relationships/notesSlide" Target="/ppt/notesSlides/notesSlide37.xml" Id="Re6fbd6b13ab64a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15000573d433f" /><Relationship Type="http://schemas.openxmlformats.org/officeDocument/2006/relationships/notesSlide" Target="/ppt/notesSlides/notesSlide38.xml" Id="R882a30d23f3a4ed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5f38233cf4f86" /><Relationship Type="http://schemas.openxmlformats.org/officeDocument/2006/relationships/notesSlide" Target="/ppt/notesSlides/notesSlide39.xml" Id="Rf5dd3859475342a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8369399fd4132" /><Relationship Type="http://schemas.openxmlformats.org/officeDocument/2006/relationships/notesSlide" Target="/ppt/notesSlides/notesSlide40.xml" Id="Redbb996f1bd1491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5f161db40446a" /><Relationship Type="http://schemas.openxmlformats.org/officeDocument/2006/relationships/notesSlide" Target="/ppt/notesSlides/notesSlide41.xml" Id="R5ec93cdcf06a485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416bb8ff74d8e" /><Relationship Type="http://schemas.openxmlformats.org/officeDocument/2006/relationships/notesSlide" Target="/ppt/notesSlides/notesSlide42.xml" Id="Rb444f62f21d84b0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daacfd2e842a9" /><Relationship Type="http://schemas.openxmlformats.org/officeDocument/2006/relationships/notesSlide" Target="/ppt/notesSlides/notesSlide43.xml" Id="R6e0729dd0ee54e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F92DB-A032-45C1-85FF-CF25C898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RSI 自进化 Agent 数据平台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E6D3E-5EF3-4246-95C8-B5801353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宁德时代香港研究院 · 10 个模块的功能、架构与建设取舍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2608E-4F5B-46E8-B0C7-DA7411CE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BEEC0-9DCD-4208-9980-C03BFD8E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1333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实验填报与统一查询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79310-0191-4ADA-BF7D-50883EBA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323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以实验数据、文档和专家经验为基础</a:t>
            </a:r>
          </a:p>
          <a:p xmlns:a="http://schemas.openxmlformats.org/drawingml/2006/main">
            <a:pPr>
              <a:defRPr sz="27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为后续知识、技能和模型进化保留证据与治理接口</a:t>
            </a:r>
          </a:p>
        </p:txBody>
      </p:sp>
      <p:sp>
        <p:nvSpPr>
          <p:cNvPr id="6" name="业务数据&#10;可录入 · 可查询">
            <a:extLst xmlns:a="http://schemas.openxmlformats.org/drawingml/2006/main">
              <a:ext uri="{FF2B5EF4-FFF2-40B4-BE49-F238E27FC236}">
                <a16:creationId xmlns:a16="http://schemas.microsoft.com/office/drawing/2014/main" id="{1DA116B6-CEF4-4D12-B28B-C6A4377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381000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业务数据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可录入 · 可查询</a:t>
            </a:r>
          </a:p>
        </p:txBody>
      </p:sp>
      <p:sp>
        <p:nvSpPr>
          <p:cNvPr id="7" name="统一数据服务&#10;权限 · 语义 · 证据">
            <a:extLst xmlns:a="http://schemas.openxmlformats.org/drawingml/2006/main">
              <a:ext uri="{FF2B5EF4-FFF2-40B4-BE49-F238E27FC236}">
                <a16:creationId xmlns:a16="http://schemas.microsoft.com/office/drawing/2014/main" id="{DB6444F6-4E44-4561-8AB2-090653E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53100"/>
            <a:ext cx="381000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统一数据服务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权限 · 语义 · 证据</a:t>
            </a:r>
          </a:p>
        </p:txBody>
      </p:sp>
      <p:sp>
        <p:nvSpPr>
          <p:cNvPr id="8" name="进化基础&#10;反馈 · 评测 · 版本">
            <a:extLst xmlns:a="http://schemas.openxmlformats.org/drawingml/2006/main">
              <a:ext uri="{FF2B5EF4-FFF2-40B4-BE49-F238E27FC236}">
                <a16:creationId xmlns:a16="http://schemas.microsoft.com/office/drawing/2014/main" id="{CB890E39-E992-430B-AC11-ABCC6199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53100"/>
            <a:ext cx="381000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进化基础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反馈 · 评测 · 版本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62865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525000" y="62865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22908-BD75-45BD-AAC7-E2610256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45 分钟汇报：主体 31 页；10 页流程与验收附录；2 页来源索引</a:t>
            </a:r>
          </a:p>
        </p:txBody>
      </p:sp>
    </p:spTree>
    <p:extLst>
      <p:ext uri="{BB962C8B-B14F-4D97-AF65-F5344CB8AC3E}">
        <p14:creationId xmlns:p14="http://schemas.microsoft.com/office/powerpoint/2010/main" val="1175827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F4CCC-67BA-4898-97AB-E1EE1BC3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现状与建设边界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9A093-1367-4E72-8748-772A241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复用已经具备的能力，补齐数据平台的治理和服务链路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07F61-13C9-4E70-84FB-6E42B850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5048250"/>
                <a:gridCol w="4381500"/>
              </a:tblGrid>
              <a:tr h="11549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已确认现状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一期建设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后续扩展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11549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OceanBase：MySQL 兼容</a:t>
                      </a:r>
                    </a:p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3000 张独立明细表、少量总表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表目录、业务语义、受控 SQL</a:t>
                      </a:r>
                    </a:p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暂不全面迁移历史表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统一主题模型、跨团队目录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11549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/ 共享盘自动入库</a:t>
                      </a:r>
                    </a:p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实验填报及知识库接口雏形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填报模板、导入批次、修订记录</a:t>
                      </a:r>
                    </a:p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原件存储、解析与检索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仪器 / ELN / LIMS 接入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115490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50 用户、公司 AD</a:t>
                      </a:r>
                    </a:p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 LLM 与 embedding 可用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身份接入、项目授权、来源摘要</a:t>
                      </a:r>
                    </a:p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benchmark、运行观测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技能与模型候选管理</a:t>
                      </a:r>
                    </a:p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沙箱、评测门禁、训练快照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C215C-3E47-47AB-BC4C-DB67C0F6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一期交付：填得准、查得到、来源可核验。容量和兼容性使用真实工作负载验证。</a:t>
            </a:r>
          </a:p>
        </p:txBody>
      </p:sp>
    </p:spTree>
    <p:extLst>
      <p:ext uri="{BB962C8B-B14F-4D97-AF65-F5344CB8AC3E}">
        <p14:creationId xmlns:p14="http://schemas.microsoft.com/office/powerpoint/2010/main" val="167257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54E26-404C-4C16-8C6A-BB4C6BC9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数据平台总体架构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A24A5-11CD-4643-AEAC-A006FDEC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参考分层工程图：业务模块、数据能力与治理机制形成完整链路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37AE3-64A4-438F-93A3-F1E9050B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1BDE5-408F-4E6A-B88F-C16DB7B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交互入口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04406-BE7E-4EA2-8C96-BE3845D9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289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94BBD-A46E-48A6-9B6E-081BEC6C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业务能力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DF77E-D71C-454C-A9DF-48BC5D20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数据加工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9511E-7DA1-4E67-B9AC-672F6084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存储与运行</a:t>
            </a:r>
          </a:p>
        </p:txBody>
      </p:sp>
      <p:sp>
        <p:nvSpPr>
          <p:cNvPr id="9" name="实验填报页面">
            <a:extLst xmlns:a="http://schemas.openxmlformats.org/drawingml/2006/main">
              <a:ext uri="{FF2B5EF4-FFF2-40B4-BE49-F238E27FC236}">
                <a16:creationId xmlns:a16="http://schemas.microsoft.com/office/drawing/2014/main" id="{38D3E503-E750-4133-8CE0-EC4309C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实验填报页面</a:t>
            </a:r>
          </a:p>
        </p:txBody>
      </p:sp>
      <p:sp>
        <p:nvSpPr>
          <p:cNvPr id="10" name="自然语言查询">
            <a:extLst xmlns:a="http://schemas.openxmlformats.org/drawingml/2006/main">
              <a:ext uri="{FF2B5EF4-FFF2-40B4-BE49-F238E27FC236}">
                <a16:creationId xmlns:a16="http://schemas.microsoft.com/office/drawing/2014/main" id="{12C7C604-1B68-424E-906A-059B870D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526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自然语言查询</a:t>
            </a:r>
          </a:p>
        </p:txBody>
      </p:sp>
      <p:sp>
        <p:nvSpPr>
          <p:cNvPr id="11" name="专家反馈 / 评测">
            <a:extLst xmlns:a="http://schemas.openxmlformats.org/drawingml/2006/main">
              <a:ext uri="{FF2B5EF4-FFF2-40B4-BE49-F238E27FC236}">
                <a16:creationId xmlns:a16="http://schemas.microsoft.com/office/drawing/2014/main" id="{AB9C781C-B393-4AFC-AB14-66A56DAB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9526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专家反馈 / 评测</a:t>
            </a:r>
          </a:p>
        </p:txBody>
      </p:sp>
      <p:sp>
        <p:nvSpPr>
          <p:cNvPr id="12" name="M09 API / Agent 工具">
            <a:extLst xmlns:a="http://schemas.openxmlformats.org/drawingml/2006/main">
              <a:ext uri="{FF2B5EF4-FFF2-40B4-BE49-F238E27FC236}">
                <a16:creationId xmlns:a16="http://schemas.microsoft.com/office/drawing/2014/main" id="{7240CDAB-881D-4766-8F30-06FF962A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M09 API / Agent 工具</a:t>
            </a:r>
          </a:p>
        </p:txBody>
      </p:sp>
      <p:sp>
        <p:nvSpPr>
          <p:cNvPr id="13" name="M08 身份与授权">
            <a:extLst xmlns:a="http://schemas.openxmlformats.org/drawingml/2006/main">
              <a:ext uri="{FF2B5EF4-FFF2-40B4-BE49-F238E27FC236}">
                <a16:creationId xmlns:a16="http://schemas.microsoft.com/office/drawing/2014/main" id="{B16CD095-E4F5-4CC2-AACC-7EFC218B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037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M08 身份与授权</a:t>
            </a:r>
          </a:p>
        </p:txBody>
      </p:sp>
      <p:sp>
        <p:nvSpPr>
          <p:cNvPr id="14" name="M05 查询编排">
            <a:extLst xmlns:a="http://schemas.openxmlformats.org/drawingml/2006/main">
              <a:ext uri="{FF2B5EF4-FFF2-40B4-BE49-F238E27FC236}">
                <a16:creationId xmlns:a16="http://schemas.microsoft.com/office/drawing/2014/main" id="{5581187B-AFCD-40E4-B48F-F1432FAE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0037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M05 查询编排</a:t>
            </a:r>
          </a:p>
        </p:txBody>
      </p:sp>
      <p:sp>
        <p:nvSpPr>
          <p:cNvPr id="15" name="M01 接入填报">
            <a:extLst xmlns:a="http://schemas.openxmlformats.org/drawingml/2006/main">
              <a:ext uri="{FF2B5EF4-FFF2-40B4-BE49-F238E27FC236}">
                <a16:creationId xmlns:a16="http://schemas.microsoft.com/office/drawing/2014/main" id="{E761669F-5487-4D71-BB87-91A2C0E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M01 接入填报</a:t>
            </a:r>
          </a:p>
        </p:txBody>
      </p:sp>
      <p:sp>
        <p:nvSpPr>
          <p:cNvPr id="16" name="M03 目录语义">
            <a:extLst xmlns:a="http://schemas.openxmlformats.org/drawingml/2006/main">
              <a:ext uri="{FF2B5EF4-FFF2-40B4-BE49-F238E27FC236}">
                <a16:creationId xmlns:a16="http://schemas.microsoft.com/office/drawing/2014/main" id="{2D5D7A36-AAA5-4F4B-ADAE-29D2413F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481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M03 目录语义</a:t>
            </a:r>
          </a:p>
        </p:txBody>
      </p:sp>
      <p:sp>
        <p:nvSpPr>
          <p:cNvPr id="17" name="M06 专家知识">
            <a:extLst xmlns:a="http://schemas.openxmlformats.org/drawingml/2006/main">
              <a:ext uri="{FF2B5EF4-FFF2-40B4-BE49-F238E27FC236}">
                <a16:creationId xmlns:a16="http://schemas.microsoft.com/office/drawing/2014/main" id="{3321A934-C72C-41DB-A980-200DE814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481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M06 专家知识</a:t>
            </a:r>
          </a:p>
        </p:txBody>
      </p:sp>
      <p:sp>
        <p:nvSpPr>
          <p:cNvPr id="18" name="M02 原件与元数据">
            <a:extLst xmlns:a="http://schemas.openxmlformats.org/drawingml/2006/main">
              <a:ext uri="{FF2B5EF4-FFF2-40B4-BE49-F238E27FC236}">
                <a16:creationId xmlns:a16="http://schemas.microsoft.com/office/drawing/2014/main" id="{1DCDFC6C-F2B7-4D52-90F9-818E515D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9587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M02 原件与元数据</a:t>
            </a:r>
          </a:p>
        </p:txBody>
      </p:sp>
      <p:sp>
        <p:nvSpPr>
          <p:cNvPr id="19" name="M04 处理质量">
            <a:extLst xmlns:a="http://schemas.openxmlformats.org/drawingml/2006/main">
              <a:ext uri="{FF2B5EF4-FFF2-40B4-BE49-F238E27FC236}">
                <a16:creationId xmlns:a16="http://schemas.microsoft.com/office/drawing/2014/main" id="{702C830A-C79B-4A8C-B4DB-0CB1067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9587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M04 处理质量</a:t>
            </a:r>
          </a:p>
        </p:txBody>
      </p:sp>
      <p:sp>
        <p:nvSpPr>
          <p:cNvPr id="20" name="M07 Benchmark">
            <a:extLst xmlns:a="http://schemas.openxmlformats.org/drawingml/2006/main">
              <a:ext uri="{FF2B5EF4-FFF2-40B4-BE49-F238E27FC236}">
                <a16:creationId xmlns:a16="http://schemas.microsoft.com/office/drawing/2014/main" id="{634B4E14-DFC4-44D6-B65D-EC8547E1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09587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M07 Benchmark</a:t>
            </a:r>
          </a:p>
        </p:txBody>
      </p:sp>
      <p:sp>
        <p:nvSpPr>
          <p:cNvPr id="21" name="OceanBase 业务与目录">
            <a:extLst xmlns:a="http://schemas.openxmlformats.org/drawingml/2006/main">
              <a:ext uri="{FF2B5EF4-FFF2-40B4-BE49-F238E27FC236}">
                <a16:creationId xmlns:a16="http://schemas.microsoft.com/office/drawing/2014/main" id="{15CFA997-0335-4995-AC79-13C75256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436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OceanBase 业务与目录</a:t>
            </a:r>
          </a:p>
        </p:txBody>
      </p:sp>
      <p:sp>
        <p:nvSpPr>
          <p:cNvPr id="22" name="原件存储 + 搜索索引">
            <a:extLst xmlns:a="http://schemas.openxmlformats.org/drawingml/2006/main">
              <a:ext uri="{FF2B5EF4-FFF2-40B4-BE49-F238E27FC236}">
                <a16:creationId xmlns:a16="http://schemas.microsoft.com/office/drawing/2014/main" id="{E091AE4B-8189-44B7-A2A2-0C460075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436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原件存储 + 搜索索引</a:t>
            </a:r>
          </a:p>
        </p:txBody>
      </p:sp>
      <p:sp>
        <p:nvSpPr>
          <p:cNvPr id="23" name="M10 任务 / 版本 / 运维">
            <a:extLst xmlns:a="http://schemas.openxmlformats.org/drawingml/2006/main">
              <a:ext uri="{FF2B5EF4-FFF2-40B4-BE49-F238E27FC236}">
                <a16:creationId xmlns:a16="http://schemas.microsoft.com/office/drawing/2014/main" id="{4AD94314-E0CD-4089-94B8-2CE2FAC5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143625"/>
            <a:ext cx="37338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M10 任务 / 版本 / 运维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37DB0-D0CD-4C10-8D72-AF808300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贯穿全部层：项目权限、资产版本、来源血缘、审计事件；模型与 embedding 由现有内网服务提供。</a:t>
            </a:r>
          </a:p>
        </p:txBody>
      </p:sp>
    </p:spTree>
    <p:extLst>
      <p:ext uri="{BB962C8B-B14F-4D97-AF65-F5344CB8AC3E}">
        <p14:creationId xmlns:p14="http://schemas.microsoft.com/office/powerpoint/2010/main" val="1590137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20A42-80B5-4AAE-9BD7-38C1AF65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业务数据与 Agent 进化数据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D1630-FF3A-4D39-BDF9-A27B802B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两个数据平面共用治理与接口；阶段目标和资产类型分别管理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7C46-A493-4533-AE42-C3F40901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BD695-9B61-4C59-8DCD-B01AAF0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S12 · S13 · S19</a:t>
            </a:r>
          </a:p>
        </p:txBody>
      </p:sp>
      <p:sp>
        <p:nvSpPr>
          <p:cNvPr id="5" name="业务数据平面&#10;实验明细 / 挂测总表 / PDF / PPT&#10;专">
            <a:extLst xmlns:a="http://schemas.openxmlformats.org/drawingml/2006/main">
              <a:ext uri="{FF2B5EF4-FFF2-40B4-BE49-F238E27FC236}">
                <a16:creationId xmlns:a16="http://schemas.microsoft.com/office/drawing/2014/main" id="{9FF75E22-86DE-42A2-88A8-DD5EF5C3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191250" cy="16668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业务数据平面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实验明细 / 挂测总表 / PDF / PPT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专家已确认经验 / 查询证据</a:t>
            </a:r>
          </a:p>
        </p:txBody>
      </p:sp>
      <p:sp>
        <p:nvSpPr>
          <p:cNvPr id="6" name="Agent 进化数据平面&#10;任务 Trace / 失败案例 / 反">
            <a:extLst xmlns:a="http://schemas.openxmlformats.org/drawingml/2006/main">
              <a:ext uri="{FF2B5EF4-FFF2-40B4-BE49-F238E27FC236}">
                <a16:creationId xmlns:a16="http://schemas.microsoft.com/office/drawing/2014/main" id="{1993D97B-04DE-4A67-B357-7096A309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6191250" cy="16668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Agent 进化数据平面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任务 Trace / 失败案例 / 反馈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评测集 / 配置版本 / 后续候选制品</a:t>
            </a:r>
          </a:p>
        </p:txBody>
      </p:sp>
      <p:sp>
        <p:nvSpPr>
          <p:cNvPr id="7" name="API 薄层：统一入口、身份上下文、读写工具契约">
            <a:extLst xmlns:a="http://schemas.openxmlformats.org/drawingml/2006/main">
              <a:ext uri="{FF2B5EF4-FFF2-40B4-BE49-F238E27FC236}">
                <a16:creationId xmlns:a16="http://schemas.microsoft.com/office/drawing/2014/main" id="{9A8B9564-B420-4A43-B6F2-B4AE4B06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43375"/>
            <a:ext cx="104775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API 薄层：统一入口、身份上下文、读写工具契约</a:t>
            </a:r>
          </a:p>
        </p:txBody>
      </p:sp>
      <p:sp>
        <p:nvSpPr>
          <p:cNvPr id="8" name="目录薄层：资产、语义、权限范围、版本与负责人">
            <a:extLst xmlns:a="http://schemas.openxmlformats.org/drawingml/2006/main">
              <a:ext uri="{FF2B5EF4-FFF2-40B4-BE49-F238E27FC236}">
                <a16:creationId xmlns:a16="http://schemas.microsoft.com/office/drawing/2014/main" id="{0ADF9088-2410-4065-B831-5EA0761F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00625"/>
            <a:ext cx="104775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目录薄层：资产、语义、权限范围、版本与负责人</a:t>
            </a:r>
          </a:p>
        </p:txBody>
      </p:sp>
      <p:sp>
        <p:nvSpPr>
          <p:cNvPr id="9" name="事件薄层：输入 → 运行 → 输出 → 反馈 → 评测">
            <a:extLst xmlns:a="http://schemas.openxmlformats.org/drawingml/2006/main">
              <a:ext uri="{FF2B5EF4-FFF2-40B4-BE49-F238E27FC236}">
                <a16:creationId xmlns:a16="http://schemas.microsoft.com/office/drawing/2014/main" id="{7991916D-A4F2-436F-A2B1-CE233570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57875"/>
            <a:ext cx="104775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事件薄层：输入 → 运行 → 输出 → 反馈 → 评测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6EDA0-0265-411E-B460-DF31122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一期收集公开可见的调用与结果，不采集隐藏思维链；代码与权重进化需新增沙箱、制品及发布门禁。</a:t>
            </a:r>
          </a:p>
        </p:txBody>
      </p:sp>
    </p:spTree>
    <p:extLst>
      <p:ext uri="{BB962C8B-B14F-4D97-AF65-F5344CB8AC3E}">
        <p14:creationId xmlns:p14="http://schemas.microsoft.com/office/powerpoint/2010/main" val="1803389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E3A573-6012-4529-9C5D-73B3BFA1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自然语言统一查询工程链路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F85B8-14EC-4E61-A906-7EE7783B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身份、路由、SQL 校验、文档证据和结果授权均有独立控制点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8509B-651B-48CA-906C-D573ED8A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C9318-8918-4E10-9A3E-8A0B406B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S07 · S08 · S09</a:t>
            </a:r>
          </a:p>
        </p:txBody>
      </p:sp>
      <p:sp>
        <p:nvSpPr>
          <p:cNvPr id="5" name="用户问题&#10;AD 身份 / 项目">
            <a:extLst xmlns:a="http://schemas.openxmlformats.org/drawingml/2006/main">
              <a:ext uri="{FF2B5EF4-FFF2-40B4-BE49-F238E27FC236}">
                <a16:creationId xmlns:a16="http://schemas.microsoft.com/office/drawing/2014/main" id="{972A9332-352B-49D4-A461-D678905B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24765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AD 身份 / 项目</a:t>
            </a:r>
          </a:p>
        </p:txBody>
      </p:sp>
      <p:sp>
        <p:nvSpPr>
          <p:cNvPr id="6" name="查询编排&#10;意图 / 歧义 / 路由">
            <a:extLst xmlns:a="http://schemas.openxmlformats.org/drawingml/2006/main">
              <a:ext uri="{FF2B5EF4-FFF2-40B4-BE49-F238E27FC236}">
                <a16:creationId xmlns:a16="http://schemas.microsoft.com/office/drawing/2014/main" id="{0B112C26-61CF-42F6-840B-9616B46F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00250"/>
            <a:ext cx="34290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查询编排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意图 / 歧义 / 路由</a:t>
            </a:r>
          </a:p>
        </p:txBody>
      </p:sp>
      <p:sp>
        <p:nvSpPr>
          <p:cNvPr id="7" name="结构化路径&#10;授权目录 → Schema 检索&#10;SQL 生成 → ">
            <a:extLst xmlns:a="http://schemas.openxmlformats.org/drawingml/2006/main">
              <a:ext uri="{FF2B5EF4-FFF2-40B4-BE49-F238E27FC236}">
                <a16:creationId xmlns:a16="http://schemas.microsoft.com/office/drawing/2014/main" id="{8CFF187C-E88A-4D82-AD64-8066E15C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62375"/>
            <a:ext cx="4953000" cy="2000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结构化路径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授权目录 → Schema 检索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SQL 生成 → AST / 策略校验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只读 OceanBase / 限时限量</a:t>
            </a:r>
          </a:p>
        </p:txBody>
      </p:sp>
      <p:sp>
        <p:nvSpPr>
          <p:cNvPr id="8" name="文档路径&#10;权限过滤 → 全文 + 向量&#10;重排 → 页码 / 表格">
            <a:extLst xmlns:a="http://schemas.openxmlformats.org/drawingml/2006/main">
              <a:ext uri="{FF2B5EF4-FFF2-40B4-BE49-F238E27FC236}">
                <a16:creationId xmlns:a16="http://schemas.microsoft.com/office/drawing/2014/main" id="{F61F5300-1990-4D34-B889-40B55BD6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62375"/>
            <a:ext cx="5048250" cy="2000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文档路径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权限过滤 → 全文 + 向量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重排 → 页码 / 表格证据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原件版本 / 过期状态</a:t>
            </a:r>
          </a:p>
        </p:txBody>
      </p:sp>
      <p:sp>
        <p:nvSpPr>
          <p:cNvPr id="9" name="统一结果包&#10;表格 + 来源摘要 + SQL 解释 + 口径 + ">
            <a:extLst xmlns:a="http://schemas.openxmlformats.org/drawingml/2006/main">
              <a:ext uri="{FF2B5EF4-FFF2-40B4-BE49-F238E27FC236}">
                <a16:creationId xmlns:a16="http://schemas.microsoft.com/office/drawing/2014/main" id="{C0601F90-624A-45A7-881F-C54CDC41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619875"/>
            <a:ext cx="10810875" cy="809625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统一结果包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表格 + 来源摘要 + SQL 解释 + 口径 + 版本</a:t>
            </a:r>
          </a:p>
        </p:txBody>
      </p:sp>
      <p:sp>
        <p:nvSpPr>
          <p:cNvPr id="10" name="反馈与 Trace&#10;失败类型 / 评测集">
            <a:extLst xmlns:a="http://schemas.openxmlformats.org/drawingml/2006/main">
              <a:ext uri="{FF2B5EF4-FFF2-40B4-BE49-F238E27FC236}">
                <a16:creationId xmlns:a16="http://schemas.microsoft.com/office/drawing/2014/main" id="{557D7B4B-2733-4C61-89BE-EC8D12B4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504825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反馈与 Trace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失败类型 / 评测集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476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5572125" y="2952750"/>
            <a:ext cx="7620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286625" y="2476500"/>
            <a:ext cx="4857750" cy="1285875"/>
          </a:xfrm>
          <a:prstGeom xmlns:a="http://schemas.openxmlformats.org/drawingml/2006/main" prst="bentConnector4">
            <a:avLst>
              <a:gd name="adj1" fmla="val 4706"/>
              <a:gd name="adj2" fmla="val 82222"/>
            </a:avLst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334125" y="5762625"/>
            <a:ext cx="2928938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9263063" y="5762625"/>
            <a:ext cx="2881313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86625" y="2476500"/>
            <a:ext cx="2333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dash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5AA40-AA79-40F2-99CB-E459F090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48575"/>
            <a:ext cx="140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结果冲突保留不同来源；文档中的指令不能改变服务权限。</a:t>
            </a:r>
          </a:p>
        </p:txBody>
      </p:sp>
    </p:spTree>
    <p:extLst>
      <p:ext uri="{BB962C8B-B14F-4D97-AF65-F5344CB8AC3E}">
        <p14:creationId xmlns:p14="http://schemas.microsoft.com/office/powerpoint/2010/main" val="3276972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006DB-E403-4966-A587-2E67AFFE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10 个模块与建设优先级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C4380-94A1-4935-A004-271AE3C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10 个模块均有一期基础能力；可选项随工作负载与进化阶段启用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26205-2C3B-44F5-A188-0BA0B6A6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4714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905500"/>
                <a:gridCol w="5334000"/>
              </a:tblGrid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模块组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一期主要结果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采集与资产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M01 填报接入 · M02 原件元数据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可追踪的实验提交、原件与版本登记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治理与查询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M03 目录语义 · M04 处理质量 · M05 统一查询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可选对表、可靠数据、受控 SQL 与带证据摘要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知识与评测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M06 专家知识 · M07 Benchmark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经验有适用条件，改动有冻结测试集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控制与运行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M08 权限审计 · M09 数据服务 · M10 运维版本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 授权、稳定接口、失败定位与恢复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7C424-4391-46D2-8A5A-67560D90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建设顺序：接入/权限/原件 → 目录/质量 → 查询/知识 → 评测/稳定运行；不要求一次部署所有候选产品。</a:t>
            </a:r>
          </a:p>
        </p:txBody>
      </p:sp>
    </p:spTree>
    <p:extLst>
      <p:ext uri="{BB962C8B-B14F-4D97-AF65-F5344CB8AC3E}">
        <p14:creationId xmlns:p14="http://schemas.microsoft.com/office/powerpoint/2010/main" val="902904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6BD71-2E1D-4908-9AE7-C602E32A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M01 数据接入与实验填报｜功能设计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63691-832B-4A98-B234-D2466756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把人工填报、Excel 脚本和共享盘接入统一为可追踪的提交过程。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C76E6-2609-43FA-B2B3-7289B19D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4CE5B-BDAF-4307-B0F8-439E8C98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S01 · S18</a:t>
            </a:r>
          </a:p>
        </p:txBody>
      </p:sp>
      <p:sp>
        <p:nvSpPr>
          <p:cNvPr id="5" name="版本化填报模板">
            <a:extLst xmlns:a="http://schemas.openxmlformats.org/drawingml/2006/main">
              <a:ext uri="{FF2B5EF4-FFF2-40B4-BE49-F238E27FC236}">
                <a16:creationId xmlns:a16="http://schemas.microsoft.com/office/drawing/2014/main" id="{88499E9F-1CDC-4DEA-989B-516CB7DC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版本化填报模板</a:t>
            </a:r>
          </a:p>
        </p:txBody>
      </p:sp>
      <p:sp>
        <p:nvSpPr>
          <p:cNvPr id="6" name="交互与批量导入">
            <a:extLst xmlns:a="http://schemas.openxmlformats.org/drawingml/2006/main">
              <a:ext uri="{FF2B5EF4-FFF2-40B4-BE49-F238E27FC236}">
                <a16:creationId xmlns:a16="http://schemas.microsoft.com/office/drawing/2014/main" id="{43A472FD-C5F6-4F39-BB2C-697988C9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交互与批量导入</a:t>
            </a:r>
          </a:p>
        </p:txBody>
      </p:sp>
      <p:sp>
        <p:nvSpPr>
          <p:cNvPr id="7" name="标识与字段映射">
            <a:extLst xmlns:a="http://schemas.openxmlformats.org/drawingml/2006/main">
              <a:ext uri="{FF2B5EF4-FFF2-40B4-BE49-F238E27FC236}">
                <a16:creationId xmlns:a16="http://schemas.microsoft.com/office/drawing/2014/main" id="{44C40D2A-7EDB-4427-BF44-CA85C99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标识与字段映射</a:t>
            </a:r>
          </a:p>
        </p:txBody>
      </p:sp>
      <p:sp>
        <p:nvSpPr>
          <p:cNvPr id="8" name="幂等与事务写入">
            <a:extLst xmlns:a="http://schemas.openxmlformats.org/drawingml/2006/main">
              <a:ext uri="{FF2B5EF4-FFF2-40B4-BE49-F238E27FC236}">
                <a16:creationId xmlns:a16="http://schemas.microsoft.com/office/drawing/2014/main" id="{579A5C4F-3C83-4FA3-BC85-5766480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幂等与事务写入</a:t>
            </a:r>
          </a:p>
        </p:txBody>
      </p:sp>
      <p:sp>
        <p:nvSpPr>
          <p:cNvPr id="9" name="复核与修订状态">
            <a:extLst xmlns:a="http://schemas.openxmlformats.org/drawingml/2006/main">
              <a:ext uri="{FF2B5EF4-FFF2-40B4-BE49-F238E27FC236}">
                <a16:creationId xmlns:a16="http://schemas.microsoft.com/office/drawing/2014/main" id="{7CF838FE-1002-4E2E-ADD1-59C37703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复核与修订状态</a:t>
            </a:r>
          </a:p>
        </p:txBody>
      </p:sp>
      <p:sp>
        <p:nvSpPr>
          <p:cNvPr id="10" name="接入任务管理">
            <a:extLst xmlns:a="http://schemas.openxmlformats.org/drawingml/2006/main">
              <a:ext uri="{FF2B5EF4-FFF2-40B4-BE49-F238E27FC236}">
                <a16:creationId xmlns:a16="http://schemas.microsoft.com/office/drawing/2014/main" id="{CC31D282-6BE0-495E-9ED8-EA0ED720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接入任务管理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A3DB6-CA6A-4D95-96AE-BCBB8030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字段类型、必填项、单位、范围、实验标识与附件要求共同发布。模板升级保留旧版解释规则。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AEE68-1539-47FC-9C9B-28A0DA1F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草稿、提交、预检查和逐行错误定位。导入先展示校验结果，再执行获准的正式写入。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2BD90-09D7-4C10-ACD9-665720C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统一项目、批次、电芯、实验和记录标识。旧 Excel 列名映射到标准字段，保存映射版本。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BF9E9-EAE0-42E9-8695-724D01C5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提交幂等键防重复，版本号识别并发修改。写入在受控事务中完成，模型无生产写入凭据。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EF028-C171-43E6-A0FF-2FC0846B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草稿、提交、复核、入库、退回或作废。科学异常可提示或复核，保存旧值和修订原因。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CB68E-3EFD-4071-AF97-DAD6570D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记录批次、源文件、处理数量和失败位置。失败可重试、暂停和续跑，重复执行不重复入库。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4F8F6-4C8D-4019-9A4E-B23D16F4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5E882-A52F-47CC-9647-4BB99956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已有 Excel 自动入 OceanBase 的脚本，以及实验录入接口雏形。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9E245-79F5-4093-BDB3-C9A42E9C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8AB69-E551-4972-B7B2-05374101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填报模板、Excel 文件、附件、用户与项目身份。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0C6F2-14A0-4ED4-9452-D8212490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2AF9B-5730-4188-BF76-D9D3ABD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正式实验记录、导入报告、提交状态、源文件和版本关联。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C5FAE-4C29-4937-992E-6105FF0F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数据流：选择模板与批次 → 保存草稿或上传 → 校验字段与权限 → 复核 / 确认提交 → 事务写入与防重 → 发布记录及反馈</a:t>
            </a:r>
          </a:p>
        </p:txBody>
      </p:sp>
    </p:spTree>
    <p:extLst>
      <p:ext uri="{BB962C8B-B14F-4D97-AF65-F5344CB8AC3E}">
        <p14:creationId xmlns:p14="http://schemas.microsoft.com/office/powerpoint/2010/main" val="1575151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D02CA-C29E-4E58-A31E-5C938356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M01 数据接入与实验填报｜方案取舍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53DA9-BEAB-4CB6-A418-00D270FE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292B9-41D5-43FE-BAC2-C1C5DAD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3FA35-CAE7-4B27-A351-750DAF02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S01 · S18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自研模板＋现有脚本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NOMAD 展示 Schema 驱动 ELN [S01]；本项目复用已验证录入逻辑。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字段治理和前端需要开发，脚本需补幂等与监控。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接入现成 ELN / LIMS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采用已有实验记录/样品流程，平台对接其 API 与数据模型。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产品、流程和接口需评估，不能假设公司已经存在。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已有系统成熟时复用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工作流＋事件接入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DAG 调度管理依赖和批任务 [S18]，与实时事件消费者分别实现。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新增调度/消息基础设施，运维与权限更复杂。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任务规模驱动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EB528-4415-4C3E-93D7-29FF5C33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可选：审批工作流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AB202-B5E8-4540-A989-C3145D2D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跨角色复核或复杂状态转换成为高频需求后引入工作流引擎，普通提交先用轻量状态机。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22927-3A6D-4E5C-AB3C-89C6F8BF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可选：CDC / 仪器直连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AAC53-6491-4BA8-8447-D6F8E77B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明确数据实时性、仪器协议与稳定主键后建设；一期不因已有脚本就默认增加消息总线。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BE614-5273-4142-832D-96379F6A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自研字段与提交薄层，复用既有脚本和录入接口。优先治理批次/电芯/实验标识，审批复杂度按真实业务决定。</a:t>
            </a:r>
          </a:p>
        </p:txBody>
      </p:sp>
    </p:spTree>
    <p:extLst>
      <p:ext uri="{BB962C8B-B14F-4D97-AF65-F5344CB8AC3E}">
        <p14:creationId xmlns:p14="http://schemas.microsoft.com/office/powerpoint/2010/main" val="19346907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8D63E-A8CD-46E1-82E0-E7FC40D7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M02 原始文件与元数据管理｜功能设计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37071-6549-40F6-9711-7C8A31E8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将共享盘文件登记为带版本、归属、权限和来源的原始资产。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A12C5-06A1-4D9B-99A1-CC5EA8F9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49D9D-8B0B-4A81-910E-C29E40E4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S02 · S20</a:t>
            </a:r>
          </a:p>
        </p:txBody>
      </p:sp>
      <p:sp>
        <p:nvSpPr>
          <p:cNvPr id="5" name="原件登记与完整性">
            <a:extLst xmlns:a="http://schemas.openxmlformats.org/drawingml/2006/main">
              <a:ext uri="{FF2B5EF4-FFF2-40B4-BE49-F238E27FC236}">
                <a16:creationId xmlns:a16="http://schemas.microsoft.com/office/drawing/2014/main" id="{95A5019B-1A86-4022-9957-55DBF642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原件登记与完整性</a:t>
            </a:r>
          </a:p>
        </p:txBody>
      </p:sp>
      <p:sp>
        <p:nvSpPr>
          <p:cNvPr id="6" name="文件版本与去重">
            <a:extLst xmlns:a="http://schemas.openxmlformats.org/drawingml/2006/main">
              <a:ext uri="{FF2B5EF4-FFF2-40B4-BE49-F238E27FC236}">
                <a16:creationId xmlns:a16="http://schemas.microsoft.com/office/drawing/2014/main" id="{A96031A5-B434-46FD-838D-B57A00F6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文件版本与去重</a:t>
            </a:r>
          </a:p>
        </p:txBody>
      </p:sp>
      <p:sp>
        <p:nvSpPr>
          <p:cNvPr id="7" name="元数据与归属">
            <a:extLst xmlns:a="http://schemas.openxmlformats.org/drawingml/2006/main">
              <a:ext uri="{FF2B5EF4-FFF2-40B4-BE49-F238E27FC236}">
                <a16:creationId xmlns:a16="http://schemas.microsoft.com/office/drawing/2014/main" id="{41C2B864-C8C5-4A2E-9B14-A36FF1C8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元数据与归属</a:t>
            </a:r>
          </a:p>
        </p:txBody>
      </p:sp>
      <p:sp>
        <p:nvSpPr>
          <p:cNvPr id="8" name="附件与可控下载">
            <a:extLst xmlns:a="http://schemas.openxmlformats.org/drawingml/2006/main">
              <a:ext uri="{FF2B5EF4-FFF2-40B4-BE49-F238E27FC236}">
                <a16:creationId xmlns:a16="http://schemas.microsoft.com/office/drawing/2014/main" id="{7921A5BA-48E1-41BA-8DEC-FAB20EC8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附件与可控下载</a:t>
            </a:r>
          </a:p>
        </p:txBody>
      </p:sp>
      <p:sp>
        <p:nvSpPr>
          <p:cNvPr id="9" name="生命周期与撤回">
            <a:extLst xmlns:a="http://schemas.openxmlformats.org/drawingml/2006/main">
              <a:ext uri="{FF2B5EF4-FFF2-40B4-BE49-F238E27FC236}">
                <a16:creationId xmlns:a16="http://schemas.microsoft.com/office/drawing/2014/main" id="{78BD6EFA-9ACE-4A62-AFB8-002B2EE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生命周期与撤回</a:t>
            </a:r>
          </a:p>
        </p:txBody>
      </p:sp>
      <p:sp>
        <p:nvSpPr>
          <p:cNvPr id="10" name="解析产物登记">
            <a:extLst xmlns:a="http://schemas.openxmlformats.org/drawingml/2006/main">
              <a:ext uri="{FF2B5EF4-FFF2-40B4-BE49-F238E27FC236}">
                <a16:creationId xmlns:a16="http://schemas.microsoft.com/office/drawing/2014/main" id="{A38864AC-0D3C-4E26-A226-3AEA0B7A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解析产物登记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F59C9-2E09-43B2-A505-228CFEF0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每个文件生成 asset_id 和校验值，保留来源路径、采集时间及原始文件，不用解析文本替代原件。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16D23-7985-46CD-A103-27A709CB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内容相同可复用物理对象，但项目归属和权限分别管理。文档修改生成新版本，保留旧证据。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3E5E9-EA1D-43E5-BF9F-8F27A7E0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登记文档类型、项目、负责人、密级、主题、实验/批次关联、版本状态和存储引用。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91D7C-49D1-4F1B-A0C4-ACDB318A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通过数据服务返回原件或授权下载。路径/链接不能绕过访问校验，访问记录关联用户身份。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CB6F4-ADD3-49A8-9D91-01D2C6C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区分有效、替代、撤回与归档。源数据撤回联动片段、索引和缓存，日志按保留规则处理。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1BE83-243D-4F34-8358-A3B4F3A0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文本、表格、图片描述与切分结果登记为派生资产，关联原文件版本和处理程序版本。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A8EA5-1B26-47D1-8715-B9929179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FC058-4E19-4117-90B9-5255D7B1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PPT、PDF 与专家资料留在科研共享盘，统一资产管理待建。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56AC0-8C37-4645-8CAF-D5547A15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CDC89-553C-4D43-9A96-8E8A1A22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共享盘文档、上传附件、源权限与项目归属。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D382F-D440-4B41-944B-6546A223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F704A-BAFF-4038-B758-B4E4E00E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可追踪原件、元数据目录、版本与派生资产关系。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73C05-306A-4146-8369-C6EA6FC9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数据流：扫描或受控上传 → 登记归属与权限 → 校验值与版本判定 → 持久化原件 → 登记派生产物 → 授权预览与下载</a:t>
            </a:r>
          </a:p>
        </p:txBody>
      </p:sp>
    </p:spTree>
    <p:extLst>
      <p:ext uri="{BB962C8B-B14F-4D97-AF65-F5344CB8AC3E}">
        <p14:creationId xmlns:p14="http://schemas.microsoft.com/office/powerpoint/2010/main" val="15624679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70FD3-F37C-4157-94E2-0493FF5E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M02 原始文件与元数据管理｜方案取舍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E03AF-AC47-4BA5-A1EC-CA6A622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E0360-508F-47E9-AB40-33C7236A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B8842-2A3F-4B03-B1E4-206AC676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S02 · S20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私有对象存储＋OceanBase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对象版本和删除标记可参考 S3 接口语义 [S02]，元数据留在关系库。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新增存储服务与备份，S3 兼容不等于所有能力一致。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推荐评估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受管理文件服务＋目录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原件暂留内网文件服务，平台记录引用、校验值与版本副本。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改名、覆盖、直链权限需约束，历史版本需补齐。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一期可行备选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企业内容管理系统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统一文件生命周期、文档审批、版本和组织归属，再通过接口接入。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产品授权、插件、权限同步及系统归属需验证。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已有成熟系统时复用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DA120-B550-48F6-A2F8-EBC2D556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可选：保留锁定与法律留存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0A6DF-D1BB-4AFD-809A-FF7B3EC0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有明确保留要求时评估 WORM 或 retention，提前明确谁可删除、保存多久。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A6799-2004-4DA8-8F4A-6701BDC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可选：迁移与分层归档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17146-6128-484E-96DB-327091FE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热冷数据成本或文件服务容量出现瓶颈时增加归档策略，资产标识保持不变。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63CC7-7E67-4FB5-AC1A-EE84A96C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关系库保存元数据与权限，原件放私有资产存储；搜索索引作为可重建副本。对象存储品牌以公司政策和恢复测试决定。</a:t>
            </a:r>
          </a:p>
        </p:txBody>
      </p:sp>
    </p:spTree>
    <p:extLst>
      <p:ext uri="{BB962C8B-B14F-4D97-AF65-F5344CB8AC3E}">
        <p14:creationId xmlns:p14="http://schemas.microsoft.com/office/powerpoint/2010/main" val="565646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B1E3B-CF99-4D67-8AA3-826A13E0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M03 数据目录与业务语义｜功能设计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1BEE2-2488-4931-9366-4CB5D704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让自然语言查询在约 3000 张独立表中选对来源、字段、关联和统计口径。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68378-B6E6-4F0F-9756-C9919284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2A3A3-4B44-4114-8E47-69CEDE07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S03 · S04</a:t>
            </a:r>
          </a:p>
        </p:txBody>
      </p:sp>
      <p:sp>
        <p:nvSpPr>
          <p:cNvPr id="5" name="技术元数据采集">
            <a:extLst xmlns:a="http://schemas.openxmlformats.org/drawingml/2006/main">
              <a:ext uri="{FF2B5EF4-FFF2-40B4-BE49-F238E27FC236}">
                <a16:creationId xmlns:a16="http://schemas.microsoft.com/office/drawing/2014/main" id="{4FF82F55-03D6-4A5E-862E-5498C0D0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技术元数据采集</a:t>
            </a:r>
          </a:p>
        </p:txBody>
      </p:sp>
      <p:sp>
        <p:nvSpPr>
          <p:cNvPr id="6" name="业务主题与负责人">
            <a:extLst xmlns:a="http://schemas.openxmlformats.org/drawingml/2006/main">
              <a:ext uri="{FF2B5EF4-FFF2-40B4-BE49-F238E27FC236}">
                <a16:creationId xmlns:a16="http://schemas.microsoft.com/office/drawing/2014/main" id="{29E44F3F-70AC-4496-B253-959F45D2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业务主题与负责人</a:t>
            </a:r>
          </a:p>
        </p:txBody>
      </p:sp>
      <p:sp>
        <p:nvSpPr>
          <p:cNvPr id="7" name="术语与指标定义">
            <a:extLst xmlns:a="http://schemas.openxmlformats.org/drawingml/2006/main">
              <a:ext uri="{FF2B5EF4-FFF2-40B4-BE49-F238E27FC236}">
                <a16:creationId xmlns:a16="http://schemas.microsoft.com/office/drawing/2014/main" id="{5B47D261-E835-42C7-814F-78E56FF6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术语与指标定义</a:t>
            </a:r>
          </a:p>
        </p:txBody>
      </p:sp>
      <p:sp>
        <p:nvSpPr>
          <p:cNvPr id="8" name="关联与批准视图">
            <a:extLst xmlns:a="http://schemas.openxmlformats.org/drawingml/2006/main">
              <a:ext uri="{FF2B5EF4-FFF2-40B4-BE49-F238E27FC236}">
                <a16:creationId xmlns:a16="http://schemas.microsoft.com/office/drawing/2014/main" id="{8B6E8E67-4C67-4D54-918E-131E510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关联与批准视图</a:t>
            </a:r>
          </a:p>
        </p:txBody>
      </p:sp>
      <p:sp>
        <p:nvSpPr>
          <p:cNvPr id="9" name="Schema 检索与压缩">
            <a:extLst xmlns:a="http://schemas.openxmlformats.org/drawingml/2006/main">
              <a:ext uri="{FF2B5EF4-FFF2-40B4-BE49-F238E27FC236}">
                <a16:creationId xmlns:a16="http://schemas.microsoft.com/office/drawing/2014/main" id="{04C4F531-FDE3-4DEA-BAB3-6DEE70D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Schema 检索与压缩</a:t>
            </a:r>
          </a:p>
        </p:txBody>
      </p:sp>
      <p:sp>
        <p:nvSpPr>
          <p:cNvPr id="10" name="目录版本与发布">
            <a:extLst xmlns:a="http://schemas.openxmlformats.org/drawingml/2006/main">
              <a:ext uri="{FF2B5EF4-FFF2-40B4-BE49-F238E27FC236}">
                <a16:creationId xmlns:a16="http://schemas.microsoft.com/office/drawing/2014/main" id="{D6310E92-9C6D-4EF0-A2DB-088A44DD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目录版本与发布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40D21-7454-4D28-A0DF-405E4F9F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采集表、列、类型、主键、更新频率和结构变化。采集账号只读，扫描不影响生产负载。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B43DB-2DB0-4097-8C16-9219C00F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按实验类型与项目组织数据域，登记用途、负责人、完整度、权限和可用状态。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5E591-E978-4C1B-88DB-E3694FE5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维护同义词、单位、时间含义、指标公式及排除规则，区分批次汇总与单电芯明细。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859FF-A561-4F34-8852-05E74553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明确批次、电芯、实验和文档的关联键，发布获准连接与只读视图，避免模型猜测 JOIN。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0303F-1C47-4101-937D-BB2953E4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先授权过滤，再主题/关键词/语义召回、候选重排，只提供必要表与字段给模型。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800CE-DD3A-4AA4-A869-EC0AAB6B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字段解释、映射、指标、视图都保存版本。Schema 变化触发索引更新和查询回归。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3678A-93E8-4178-BA2D-B570AF8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A4B4C-8BC6-48BE-9859-2EF39E55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OceanBase 已有约 3000 张独立实验明细表及少量人工填报的挂测总表。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3987D-3172-4A44-87C8-B4A42BB6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0C3AB-B0B3-44F5-B077-6AE1D8B7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数据库 Schema、历史 SQL、专家术语与业务统计定义。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B3533-FBB6-4502-8B32-3DC6E318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7B799B-0261-4360-B00F-03B48CE0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获准数据目录、语义条目、视图及候选 Schema。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9EFFC-D1B1-4AE7-A56B-8045A89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数据流：采集技术 Schema → 归类实验主题 → 补充字段与口径 → 确认关联与视图 → 授权检索候选表 → 发布并执行回归</a:t>
            </a:r>
          </a:p>
        </p:txBody>
      </p:sp>
    </p:spTree>
    <p:extLst>
      <p:ext uri="{BB962C8B-B14F-4D97-AF65-F5344CB8AC3E}">
        <p14:creationId xmlns:p14="http://schemas.microsoft.com/office/powerpoint/2010/main" val="7755083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3C872-F75D-4B8B-B15B-34FAC96C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M03 数据目录与业务语义｜方案取舍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0C12C-C4DA-4AC8-969E-D055F704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1FDB0-C7C5-42E9-8620-8120E0CC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84FE3-9119-4091-943F-5D387F9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S03 · S04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上轻量目录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自研 tables / columns / metrics / joins 注册表与发布流程。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表数多时仍需要业务负责人持续补释义。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OpenMetadata 类 Catalog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官方数据契约覆盖 Schema、质量和语义 [S03]。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新增服务、索引与连接器运维，OceanBase 采集需核查。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公司级治理候选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指标语义层 / dbt 模式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dbt 语义层统一指标与关联逻辑 [S04]，借鉴定义方式。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不默认产品支持 OceanBase 或满足全内网部署。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指标复杂时评估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39954-BBF7-4A6C-A4CE-4A9AA7A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可选：完整 Catalog 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F8A66-CB97-4077-899D-C91320BA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跨团队 owner、血缘、治理和搜索成为主要工作后评估 OpenMetadata 等产品，连接器需 PoC。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A664F-D917-45A4-BB11-30CE516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可选：领域本体 / 知识图谱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910B2-E64C-4816-AD88-78C50F2F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需要跨材料实体多跳关系查询时引入，普通关联先由关系映射和语义模型完成。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367BC-D25A-4D11-8159-F03FA043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先对高频实验主题建立目录和批准视图，再覆盖长尾表。若存在一实验一表，渐进规范，避免一期全量迁移。</a:t>
            </a:r>
          </a:p>
        </p:txBody>
      </p:sp>
    </p:spTree>
    <p:extLst>
      <p:ext uri="{BB962C8B-B14F-4D97-AF65-F5344CB8AC3E}">
        <p14:creationId xmlns:p14="http://schemas.microsoft.com/office/powerpoint/2010/main" val="12450702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6D1B8-D828-4817-A636-F87C18A6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M04 数据处理与质量管理｜功能设计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7B311-7B79-47C3-8D59-562109C3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把可解析、可关联和科学上可信的检查分开，产出可用数据及质量证据。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3617B-D1D2-439B-B27C-F0B93957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3F2D3-11C6-42BE-BCAB-FEA93A34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S05 · S06 · S17</a:t>
            </a:r>
          </a:p>
        </p:txBody>
      </p:sp>
      <p:sp>
        <p:nvSpPr>
          <p:cNvPr id="5" name="结构化质量规则">
            <a:extLst xmlns:a="http://schemas.openxmlformats.org/drawingml/2006/main">
              <a:ext uri="{FF2B5EF4-FFF2-40B4-BE49-F238E27FC236}">
                <a16:creationId xmlns:a16="http://schemas.microsoft.com/office/drawing/2014/main" id="{94944C59-D772-423F-A8A3-8ADBAC9B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结构化质量规则</a:t>
            </a:r>
          </a:p>
        </p:txBody>
      </p:sp>
      <p:sp>
        <p:nvSpPr>
          <p:cNvPr id="6" name="多格式解析与 OCR">
            <a:extLst xmlns:a="http://schemas.openxmlformats.org/drawingml/2006/main">
              <a:ext uri="{FF2B5EF4-FFF2-40B4-BE49-F238E27FC236}">
                <a16:creationId xmlns:a16="http://schemas.microsoft.com/office/drawing/2014/main" id="{5D1DD147-FCD2-4C89-96B0-B8F24B12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多格式解析与 OCR</a:t>
            </a:r>
          </a:p>
        </p:txBody>
      </p:sp>
      <p:sp>
        <p:nvSpPr>
          <p:cNvPr id="7" name="来源位置与切分">
            <a:extLst xmlns:a="http://schemas.openxmlformats.org/drawingml/2006/main">
              <a:ext uri="{FF2B5EF4-FFF2-40B4-BE49-F238E27FC236}">
                <a16:creationId xmlns:a16="http://schemas.microsoft.com/office/drawing/2014/main" id="{6A9B286D-2E16-4A66-B664-3BF3D7F0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来源位置与切分</a:t>
            </a:r>
          </a:p>
        </p:txBody>
      </p:sp>
      <p:sp>
        <p:nvSpPr>
          <p:cNvPr id="8" name="科学上下文标准化">
            <a:extLst xmlns:a="http://schemas.openxmlformats.org/drawingml/2006/main">
              <a:ext uri="{FF2B5EF4-FFF2-40B4-BE49-F238E27FC236}">
                <a16:creationId xmlns:a16="http://schemas.microsoft.com/office/drawing/2014/main" id="{12AEC205-3E87-4841-9FB4-E1244616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科学上下文标准化</a:t>
            </a:r>
          </a:p>
        </p:txBody>
      </p:sp>
      <p:sp>
        <p:nvSpPr>
          <p:cNvPr id="9" name="实体匹配与复核">
            <a:extLst xmlns:a="http://schemas.openxmlformats.org/drawingml/2006/main">
              <a:ext uri="{FF2B5EF4-FFF2-40B4-BE49-F238E27FC236}">
                <a16:creationId xmlns:a16="http://schemas.microsoft.com/office/drawing/2014/main" id="{A7E193DD-098E-4BF4-ABEB-D31707B1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实体匹配与复核</a:t>
            </a:r>
          </a:p>
        </p:txBody>
      </p:sp>
      <p:sp>
        <p:nvSpPr>
          <p:cNvPr id="10" name="质量结果与问题闭环">
            <a:extLst xmlns:a="http://schemas.openxmlformats.org/drawingml/2006/main">
              <a:ext uri="{FF2B5EF4-FFF2-40B4-BE49-F238E27FC236}">
                <a16:creationId xmlns:a16="http://schemas.microsoft.com/office/drawing/2014/main" id="{762DC50E-A611-4ACC-B559-5A1653BC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质量结果与问题闭环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61F92-F4B6-419A-88A2-8C326793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校验类型、必填、范围、重复、单位、关联键和时间。规则按模板/数据域登记并版本化。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B9846-4048-4928-8058-EF0A06A0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原生文本优先，扫描件按需 OCR。PPT、表格、页标题和图片说明分别保留结构。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F75EC-3A8B-41AA-9A9B-9BF38FA4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保留页、幻灯片、表格和单元格位置，按结构切分，必要时带相邻上下文与表头。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331AD-F6BD-4E97-A721-989D0C14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观测值带单位、方法、条件、时间和样品标识。原值与标准值并存，保留转换依据。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88CD1-609A-4B1A-976C-DDD5BCC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优先用稳定标识关联，别名匹配保留置信度和候选，不确定关联进入人工处理队列。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2B1DD-8156-403B-BD4B-62D67EFD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保存规则结果、解析异常、专家纠正与修复版本，重新处理后更新派生资产及索引。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E095E-8B30-42FE-95AB-C289A7C1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CD085-70F4-48B4-9830-0032C04A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脚本已处理部分结构化数据，PPT/PDF 解析和统一质量流程待建。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0DEFF-A259-48C1-AB72-B5CBDCF4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E8AA6-D334-499A-9261-3DEB0ABA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原始文件、实验记录、规则/词典和已确认关联键。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241F2-B4AD-43BE-AD21-07680D5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2D7AD-C565-420F-9496-9A86A99C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标准化数据、证据片段、质量报告及异常任务。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51981-040A-4AE6-9367-E301E19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数据流：选择解析与规则 → 提取结构与位置 → 标准化字段单位 → 执行规则与关联 → 隔离异常并复核 → 发布可用版本</a:t>
            </a:r>
          </a:p>
        </p:txBody>
      </p:sp>
    </p:spTree>
    <p:extLst>
      <p:ext uri="{BB962C8B-B14F-4D97-AF65-F5344CB8AC3E}">
        <p14:creationId xmlns:p14="http://schemas.microsoft.com/office/powerpoint/2010/main" val="344808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6348B-5C92-4FB7-A58A-79561BB5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M04 数据处理与质量管理｜方案取舍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A4582-A8BD-4698-800A-27C476DB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D0023-F839-480A-8C97-5A062AF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5A3A5-903E-40ED-ADB3-90754BDA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S05 · S06 · S17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本地解析器＋规则薄层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Docling 统一结构并保留 provenance [S05]，结合专用 PPT/表格适配。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复杂图表、公式和合并表格必须用真实文档验证。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一期建议 PoC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GX 类质量框架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 执行验证与后续动作 [S06]。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需要自定义科学规则与 OceanBase 数据适配。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规则规模较大时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内网多模态模型解析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对图表、扫描件或复杂版面使用视觉/语言模型辅助抽取。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推理成本与幻觉，必须绑定证据并进行抽样审核。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针对难文档增量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4E7B3-0B84-41DC-859A-359452B3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可选：多模态图像理解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F84D1-ED9A-46BF-BA0A-CF56AFF9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当性能证据在图表或显微图片且文本不足时评估内网视觉模型，需独立标注评测。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1C644-F22D-4D85-B8AD-FD27562E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可选：质量产品 / 血缘采集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A9CB6-3FBA-41F4-8661-3B93370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规则与接入任务大量增长时引入 GX / OpenLineage，科学规则仍由团队定义。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17730-FAC0-425C-900F-DE93FB7F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先用分格式解析和轻量规则覆盖常见文档，难文档进入专门队列。质量规则记录“阻断/警告/需复核”级别。</a:t>
            </a:r>
          </a:p>
        </p:txBody>
      </p:sp>
    </p:spTree>
    <p:extLst>
      <p:ext uri="{BB962C8B-B14F-4D97-AF65-F5344CB8AC3E}">
        <p14:creationId xmlns:p14="http://schemas.microsoft.com/office/powerpoint/2010/main" val="9129625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27995-C242-4C74-A306-CCB9F197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M05 自然语言统一查询｜功能设计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EC873-5040-4227-96E7-610CF5B8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一个入口协同结构化查询与文档检索，结果带口径、版本和来源证据。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6EC9B-1354-4A07-BB13-5A150CBB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1A47A-2525-4705-8466-69912F6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S07 · S08 · S09 · S10 · S11</a:t>
            </a:r>
          </a:p>
        </p:txBody>
      </p:sp>
      <p:sp>
        <p:nvSpPr>
          <p:cNvPr id="5" name="意图与条件澄清">
            <a:extLst xmlns:a="http://schemas.openxmlformats.org/drawingml/2006/main">
              <a:ext uri="{FF2B5EF4-FFF2-40B4-BE49-F238E27FC236}">
                <a16:creationId xmlns:a16="http://schemas.microsoft.com/office/drawing/2014/main" id="{ED3B0AAC-E271-44F4-961E-A718EAAF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意图与条件澄清</a:t>
            </a:r>
          </a:p>
        </p:txBody>
      </p:sp>
      <p:sp>
        <p:nvSpPr>
          <p:cNvPr id="6" name="授权 Schema 选择">
            <a:extLst xmlns:a="http://schemas.openxmlformats.org/drawingml/2006/main">
              <a:ext uri="{FF2B5EF4-FFF2-40B4-BE49-F238E27FC236}">
                <a16:creationId xmlns:a16="http://schemas.microsoft.com/office/drawing/2014/main" id="{A6C255AD-1AAF-41BD-9434-A1966D71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授权 Schema 选择</a:t>
            </a:r>
          </a:p>
        </p:txBody>
      </p:sp>
      <p:sp>
        <p:nvSpPr>
          <p:cNvPr id="7" name="SQL 生成与静态校验">
            <a:extLst xmlns:a="http://schemas.openxmlformats.org/drawingml/2006/main">
              <a:ext uri="{FF2B5EF4-FFF2-40B4-BE49-F238E27FC236}">
                <a16:creationId xmlns:a16="http://schemas.microsoft.com/office/drawing/2014/main" id="{2AC42541-0F66-4876-8D4B-270BAB74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SQL 生成与静态校验</a:t>
            </a:r>
          </a:p>
        </p:txBody>
      </p:sp>
      <p:sp>
        <p:nvSpPr>
          <p:cNvPr id="8" name="受限只读执行">
            <a:extLst xmlns:a="http://schemas.openxmlformats.org/drawingml/2006/main">
              <a:ext uri="{FF2B5EF4-FFF2-40B4-BE49-F238E27FC236}">
                <a16:creationId xmlns:a16="http://schemas.microsoft.com/office/drawing/2014/main" id="{EF9D2D55-E117-4F3F-9CCC-A50C52AD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受限只读执行</a:t>
            </a:r>
          </a:p>
        </p:txBody>
      </p:sp>
      <p:sp>
        <p:nvSpPr>
          <p:cNvPr id="9" name="全文与语义检索">
            <a:extLst xmlns:a="http://schemas.openxmlformats.org/drawingml/2006/main">
              <a:ext uri="{FF2B5EF4-FFF2-40B4-BE49-F238E27FC236}">
                <a16:creationId xmlns:a16="http://schemas.microsoft.com/office/drawing/2014/main" id="{27A161DE-B4E9-4E56-A4AA-6B523DB1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全文与语义检索</a:t>
            </a:r>
          </a:p>
        </p:txBody>
      </p:sp>
      <p:sp>
        <p:nvSpPr>
          <p:cNvPr id="10" name="结果整合与反馈">
            <a:extLst xmlns:a="http://schemas.openxmlformats.org/drawingml/2006/main">
              <a:ext uri="{FF2B5EF4-FFF2-40B4-BE49-F238E27FC236}">
                <a16:creationId xmlns:a16="http://schemas.microsoft.com/office/drawing/2014/main" id="{4DDC9A14-E25B-45FB-A44C-C95C618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结果整合与反馈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25A5D-106E-4DD2-946A-49FA4F2E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区分结构化、文档和混合查询，识别时间、批次、实验、指标；歧义影响结果时追问。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64D2E-51C4-439B-A494-617284DC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先过滤权限，再检索相关表/字段/关联，携带批准语义和视图，控制上下文体积。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5AF5F-A997-4F15-895B-ED0586A1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AST 检查仅允许获准查询，限制语句类型、表、列、函数、关联及多语句；不只查字符串。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F2A5A-A7D6-4F5A-AE09-7948E342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只读身份与服务端行/列策略控制执行，限制行数、耗时、导出和资源，错误有限次修正。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951CA-FDE3-4D37-A139-C1986B6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关键词匹配编号和专业术语，向量召回语义相近内容，过滤有效版本并按需重排。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463B0-8806-495E-986F-AD9D05B7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分别展示明细、汇总和文档证据，摘要只基于已授权结果，保存 query_id、版本与纠正。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4589C-E271-4619-A9CD-394C4782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A264C-3782-46F3-AF21-61B2DC2E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一期已明确自然语言查询需求，内网有可用 LLM 和 embedding。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CFC6E-F4E0-4F2C-B262-059487AA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8F537-77D2-42CE-B832-E4E285B8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问题、用户/项目、批准目录、实验视图和文档索引。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CC9DD-BF1E-4CF8-8EC4-5CB203AC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F3995-4E8F-4A38-83D9-4AD55D64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结构化结果、文档证据、查询口径、可追踪解释与反馈。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EFD59-14EF-4F72-B600-17E4944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数据流：认证与意图识别 → 选表 / 文档召回 → SQL 与权限校验 → 只读执行 / 重排 → 结果对齐与摘要 → 引用展示与反馈</a:t>
            </a:r>
          </a:p>
        </p:txBody>
      </p:sp>
    </p:spTree>
    <p:extLst>
      <p:ext uri="{BB962C8B-B14F-4D97-AF65-F5344CB8AC3E}">
        <p14:creationId xmlns:p14="http://schemas.microsoft.com/office/powerpoint/2010/main" val="12609973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94881-C531-49A8-ABA3-4FE4233C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M05 自然语言统一查询｜方案取舍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AC613-B188-4136-BFFF-8FDFC8C6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82EF7-C7BA-4B75-98CC-1042DE66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EB79C-9751-4B62-812B-182E75D5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S07 · S08 · S09 · S10 · S11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 SQL＋统一检索服务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SQLGlot 提供 AST 基础 [S07]；OpenSearch 提供混合检索 [S08]。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授权、语义正确性和结果合并需要自行实现。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全文搜索＋独立向量服务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Qdrant 支持混合查询组合 [S10]，可与现有全文能力融合。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双索引、融合排序、权限与版本一致性需维护。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向量负载明确时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PostgreSQL＋pgvector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pgvector 是 PostgreSQL 扩展 [S11]，适合已有 PG 环境组合检索。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本项目是 OceanBase，采用该路线要新增 PG，非零成本。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 PG 治理基础时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ED019-746D-427F-9CEB-939BE851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可选：多轮查询 / 可视化分析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8FC570-4712-4ECD-9DE5-FD68CAE8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在单轮正确性稳定后追加上下文管理和图表，缓存按用户、项目和权限版本隔离。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FF2DD-9FDA-4DBA-A2AF-FCA84E78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可选：GraphRAG / 图文检索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1D816-9ED2-43E1-830E-9D9887B7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普通混合检索无法回答已定义的关系或图像任务时评估，不默认引入图库或视觉模型。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35A84-3C71-440D-8E1E-796EA8DD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采用受控 SQL 与文档混合检索两条路径，统一授权和结果出口。优先验证选表正确性、统计粒度及引用准确性。</a:t>
            </a:r>
          </a:p>
        </p:txBody>
      </p:sp>
    </p:spTree>
    <p:extLst>
      <p:ext uri="{BB962C8B-B14F-4D97-AF65-F5344CB8AC3E}">
        <p14:creationId xmlns:p14="http://schemas.microsoft.com/office/powerpoint/2010/main" val="4663464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8F29D-7656-44A6-B52E-63F9FADC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M06 专家经验与知识管理｜功能设计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19229-FBDF-44A5-80BC-65726E1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把专家经验沉淀为带条件、证据、反例和责任人的可复用知识。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F6B97-23FC-4889-B884-6F126FD1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2A088-6E5B-4485-9684-7B307BA1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S12 · S01</a:t>
            </a:r>
          </a:p>
        </p:txBody>
      </p:sp>
      <p:sp>
        <p:nvSpPr>
          <p:cNvPr id="5" name="案例化访谈采集">
            <a:extLst xmlns:a="http://schemas.openxmlformats.org/drawingml/2006/main">
              <a:ext uri="{FF2B5EF4-FFF2-40B4-BE49-F238E27FC236}">
                <a16:creationId xmlns:a16="http://schemas.microsoft.com/office/drawing/2014/main" id="{847AF988-5B7D-4786-A459-72732AA6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案例化访谈采集</a:t>
            </a:r>
          </a:p>
        </p:txBody>
      </p:sp>
      <p:sp>
        <p:nvSpPr>
          <p:cNvPr id="6" name="经验卡结构化">
            <a:extLst xmlns:a="http://schemas.openxmlformats.org/drawingml/2006/main">
              <a:ext uri="{FF2B5EF4-FFF2-40B4-BE49-F238E27FC236}">
                <a16:creationId xmlns:a16="http://schemas.microsoft.com/office/drawing/2014/main" id="{E1C59AE9-7633-4167-9C20-A2D1E7BD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经验卡结构化</a:t>
            </a:r>
          </a:p>
        </p:txBody>
      </p:sp>
      <p:sp>
        <p:nvSpPr>
          <p:cNvPr id="7" name="证据类型与审核">
            <a:extLst xmlns:a="http://schemas.openxmlformats.org/drawingml/2006/main">
              <a:ext uri="{FF2B5EF4-FFF2-40B4-BE49-F238E27FC236}">
                <a16:creationId xmlns:a16="http://schemas.microsoft.com/office/drawing/2014/main" id="{797916B9-25D6-47AA-BF92-E7A2B716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证据类型与审核</a:t>
            </a:r>
          </a:p>
        </p:txBody>
      </p:sp>
      <p:sp>
        <p:nvSpPr>
          <p:cNvPr id="8" name="分歧与冲突管理">
            <a:extLst xmlns:a="http://schemas.openxmlformats.org/drawingml/2006/main">
              <a:ext uri="{FF2B5EF4-FFF2-40B4-BE49-F238E27FC236}">
                <a16:creationId xmlns:a16="http://schemas.microsoft.com/office/drawing/2014/main" id="{234FAAD9-A7B8-4AD3-BBE6-068339D6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分歧与冲突管理</a:t>
            </a:r>
          </a:p>
        </p:txBody>
      </p:sp>
      <p:sp>
        <p:nvSpPr>
          <p:cNvPr id="9" name="检索与使用反馈">
            <a:extLst xmlns:a="http://schemas.openxmlformats.org/drawingml/2006/main">
              <a:ext uri="{FF2B5EF4-FFF2-40B4-BE49-F238E27FC236}">
                <a16:creationId xmlns:a16="http://schemas.microsoft.com/office/drawing/2014/main" id="{53FEE20B-6999-4E7B-97DB-0C90FFC9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检索与使用反馈</a:t>
            </a:r>
          </a:p>
        </p:txBody>
      </p:sp>
      <p:sp>
        <p:nvSpPr>
          <p:cNvPr id="10" name="生命周期与知识版本">
            <a:extLst xmlns:a="http://schemas.openxmlformats.org/drawingml/2006/main">
              <a:ext uri="{FF2B5EF4-FFF2-40B4-BE49-F238E27FC236}">
                <a16:creationId xmlns:a16="http://schemas.microsoft.com/office/drawing/2014/main" id="{F90C54C5-8CD8-46FC-9EB7-0521E77C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生命周期与知识版本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0A963-B991-44AC-8EBA-FAA6BA51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围绕一次真实判断采集问题、备选方案、条件、决策理由和结果，保存原始访谈记录。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3A5DD-8681-42CB-B88C-0BB3337E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标题、适用条件、动作、理由、禁用条件、支持证据与反例，关联项目/实验/来源位置。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01760-823C-4F92-8660-9BDB3EC6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区分实验事实、专家启发、文献结论、仿真预测和 Agent 猜测，专家确认后发布。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C8DC7-F140-4707-8416-1C42FCC9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不同专家意见并存，展示条件与证据差异；冲突进入复核，不用自动摘要合并为事实。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5B905-C2DF-4EBA-9721-2CE91204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按材料/实验范围检索已批准经验，记录被何任务引用、专家是否接受、后续结果如何。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CFB09-7F01-41D3-A7F2-C9DE5EEA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候选、批准、争议、替代、失效与归档状态，引用保留版本，适用条件变化后复核。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EEEDA-0E74-4CE2-8860-4889966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1BCF72-C1B9-44F2-B931-A3650151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计划通过专家访谈形成 benchmark，经验管理需要同步建设。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1B426-C0F1-4C85-BF9A-CA660F99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13B74-D680-4C12-AE1D-D957663B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访谈、历史报告、实验案例、专家修正及任务反馈。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7A10B-5C9E-4136-AE65-551975D1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D6A7F-DB75-42CA-A32C-88C3262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已审核经验卡、适用条件、证据、分歧和使用记录。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8CCC72-7613-4CCB-8A48-A26DD5D0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数据流：访谈或反馈采集 → 生成经验候选 → 关联证据与反例 → 专家复核与修订 → 发布授权经验 → 使用反馈和再复核</a:t>
            </a:r>
          </a:p>
        </p:txBody>
      </p:sp>
    </p:spTree>
    <p:extLst>
      <p:ext uri="{BB962C8B-B14F-4D97-AF65-F5344CB8AC3E}">
        <p14:creationId xmlns:p14="http://schemas.microsoft.com/office/powerpoint/2010/main" val="20699884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F1B1A-BFCC-4D65-8EF5-55B874B1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M06 专家经验与知识管理｜方案取舍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080A5-087F-450F-A771-CEAC68DC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A2772-BDED-4C5B-9652-8CA7B586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9EE3F-B53E-4FEF-AACA-2D43AB3E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S12 · S01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关系表＋搜索索引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结构化经验卡在 OceanBase，描述检索复用全文/向量索引。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字段与专家审核需自研，运维增量较少。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反馈驱动记忆方案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Reflexion 展示反馈反思与情景记忆 [S12]。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来自通用任务研究，化学经验仍需外部证据与专家确认。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二期候选蒸馏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知识图谱＋技能版本库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图表达多跳关系，技能代码进入 Git/制品，描述做语义索引。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图谱抽取、冲突与代码执行成本，需独立治理。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关系/技能需求驱动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DE9D5-2EB3-4CF9-9B93-4A9BAA37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可选：自动经验蒸馏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DCE9B-8380-41B4-A962-DA45F771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有足够高质量成败记录时生成候选经验。自动抽取不直接发布成科学事实。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5CAEF-BB0C-4FD5-BAE3-1192EBC2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可选：时态图谱 / 技能库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11327-0824-4D1C-B523-0FF2F03B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需要跨时间关系推理或可执行经验时分别评估图谱、Git 技能与沙箱验证。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18EC4-8CE1-4AF2-B016-FDA22F7A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一期先做经验卡和审核工作台，与 benchmark 同源分流。后续蒸馏候选需要验证，不能用记忆数量代表科研价值。</a:t>
            </a:r>
          </a:p>
        </p:txBody>
      </p:sp>
    </p:spTree>
    <p:extLst>
      <p:ext uri="{BB962C8B-B14F-4D97-AF65-F5344CB8AC3E}">
        <p14:creationId xmlns:p14="http://schemas.microsoft.com/office/powerpoint/2010/main" val="2471443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8843E-66EC-4E0D-821D-58A26BAD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M07 Benchmark 与反馈评测｜功能设计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08611-2BFD-4856-BA12-64FC62BD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建立独立、可重复的查询标尺，支撑版本改进与后续进化。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B9E67-6652-47C5-B71A-5F06DD74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78F42-CDBF-4B1A-B21B-39FA7A6E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S13 · S14</a:t>
            </a:r>
          </a:p>
        </p:txBody>
      </p:sp>
      <p:sp>
        <p:nvSpPr>
          <p:cNvPr id="5" name="任务分类与采样">
            <a:extLst xmlns:a="http://schemas.openxmlformats.org/drawingml/2006/main">
              <a:ext uri="{FF2B5EF4-FFF2-40B4-BE49-F238E27FC236}">
                <a16:creationId xmlns:a16="http://schemas.microsoft.com/office/drawing/2014/main" id="{54E8F818-1A6A-4B6F-903B-B1BAEAEE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任务分类与采样</a:t>
            </a:r>
          </a:p>
        </p:txBody>
      </p:sp>
      <p:sp>
        <p:nvSpPr>
          <p:cNvPr id="6" name="标注与评分准则">
            <a:extLst xmlns:a="http://schemas.openxmlformats.org/drawingml/2006/main">
              <a:ext uri="{FF2B5EF4-FFF2-40B4-BE49-F238E27FC236}">
                <a16:creationId xmlns:a16="http://schemas.microsoft.com/office/drawing/2014/main" id="{D11B97B6-CED3-4256-B05D-5115C2BC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标注与评分准则</a:t>
            </a:r>
          </a:p>
        </p:txBody>
      </p:sp>
      <p:sp>
        <p:nvSpPr>
          <p:cNvPr id="7" name="快照与集合隔离">
            <a:extLst xmlns:a="http://schemas.openxmlformats.org/drawingml/2006/main">
              <a:ext uri="{FF2B5EF4-FFF2-40B4-BE49-F238E27FC236}">
                <a16:creationId xmlns:a16="http://schemas.microsoft.com/office/drawing/2014/main" id="{C7CB1084-6B2C-4CF6-A917-6EE90A17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快照与集合隔离</a:t>
            </a:r>
          </a:p>
        </p:txBody>
      </p:sp>
      <p:sp>
        <p:nvSpPr>
          <p:cNvPr id="8" name="自动与人工评分">
            <a:extLst xmlns:a="http://schemas.openxmlformats.org/drawingml/2006/main">
              <a:ext uri="{FF2B5EF4-FFF2-40B4-BE49-F238E27FC236}">
                <a16:creationId xmlns:a16="http://schemas.microsoft.com/office/drawing/2014/main" id="{AA33CD08-5CE2-4A96-A3BA-61ABF4F9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自动与人工评分</a:t>
            </a:r>
          </a:p>
        </p:txBody>
      </p:sp>
      <p:sp>
        <p:nvSpPr>
          <p:cNvPr id="9" name="版本对比与回归">
            <a:extLst xmlns:a="http://schemas.openxmlformats.org/drawingml/2006/main">
              <a:ext uri="{FF2B5EF4-FFF2-40B4-BE49-F238E27FC236}">
                <a16:creationId xmlns:a16="http://schemas.microsoft.com/office/drawing/2014/main" id="{08204AE2-8269-459A-BAB9-24C1E13A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版本对比与回归</a:t>
            </a:r>
          </a:p>
        </p:txBody>
      </p:sp>
      <p:sp>
        <p:nvSpPr>
          <p:cNvPr id="10" name="反馈与失败证据策展">
            <a:extLst xmlns:a="http://schemas.openxmlformats.org/drawingml/2006/main">
              <a:ext uri="{FF2B5EF4-FFF2-40B4-BE49-F238E27FC236}">
                <a16:creationId xmlns:a16="http://schemas.microsoft.com/office/drawing/2014/main" id="{B829EDA8-4C33-4B28-8D64-357D30BA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反馈与失败证据策展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674F8-B09D-4204-A91B-2FF86D03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覆盖选表、条件、聚合、关联、文档、混合查询、拒绝和异常，按真实使用分布采样。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E216A-E1B8-43B0-9253-DAA25B23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保存预期结果、证据位置、容差、统计口径与评分维度，分歧标注由专家校准。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971DF-290D-48F4-9D8A-E6FFD0D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训练/开发/测试分别管理，同实验近重复案例关联去重，隐藏答案与评分规则不进入检索。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99BF7-B371-4759-8A86-F50C438A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SQL 结果比对、引用定位、权限拒绝用规则；摘要等开放题专家为主，LLM 评分作辅助。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7C2EE-3032-4C4D-B552-0BE3F2B1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锁定数据、语义、索引、模型和提示词版本，记录逐题结果、多次运行波动及能力退化。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9DDEC-3A92-48A5-90D7-8C64F18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用户纠正绑定 query_id，失败分型后进入开发集或回归集，测试集保持独立刷新机制。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F506E4-9D63-4DCA-9D80-51E4C73C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5180E-8461-47F2-B681-890BCAD2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专家将通过访谈构建 benchmark，尚需定义题型、标注和评分流程。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5B534-14B0-43D8-BFE3-29A409D2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42F6C-6CF6-4274-9BFC-A1238B8F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专家问题、预期结果、证据、真实查询及用户纠正。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16557-EA85-424F-9C38-E2EE968D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7C24F-E675-4454-AA28-93EEF54C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冻结数据集、逐题评分、版本差异、失败批次与发布依据。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ACA1E-368C-4913-B290-F150BC15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数据流：真实任务采样 → 专家标注与校准 → 冻结集合和快照 → 运行候选与基线 → 逐题评分和归因 → 批准发布或修订</a:t>
            </a:r>
          </a:p>
        </p:txBody>
      </p:sp>
    </p:spTree>
    <p:extLst>
      <p:ext uri="{BB962C8B-B14F-4D97-AF65-F5344CB8AC3E}">
        <p14:creationId xmlns:p14="http://schemas.microsoft.com/office/powerpoint/2010/main" val="12208699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ACEAD-FC41-4F8A-968D-57CC92FC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M07 Benchmark 与反馈评测｜方案取舍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39B26-A134-4CD2-8929-1C1B6B48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E455E-2093-4747-BAE4-4903646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A4228-6D9A-4D4D-965E-D86A73C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S13 · S14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轻量 benchmark 管理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表/文件保存任务快照，自研执行器与结果比对，专家审核。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需要维护用例、版本和报告，结构简单。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一期最小方案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MLflow 评测工作流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官方支持评测数据集和历史运行记录关联 [S13]。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自部署能力、模型评估器和内部数据权限需核查。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可优先 PoC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数据集与观测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官方支持自托管的观测及评测相关能力 [S14]。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涉及多存储组件和可选授权功能，不能当轻量单服务。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统一观测需要时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542FD-5A4A-443A-8A15-081BF33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可选：上线门禁 / 在线抽样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20D0F-2705-41C9-8EB4-3BB0FD0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有稳定基线后定义变更门禁与在线质量监测，抽样比例依据成本和风险确定。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D8E00-0AAA-4D41-9FFB-2619A63B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可选：实验收益评测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8CBBC-0CB6-4530-8F52-4D51BBDB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后续科研推理用真实实验数、周期和候选质量评测，不能借查询 benchmark 宣称材料发现提升。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419D3-427B-4506-89F5-F6082843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先建设查询 benchmark。优先结果比对与证据定位，专家参与校准。MLflow / Langfuse 经 PoC 后选一种主平台，避免重复维护。</a:t>
            </a:r>
          </a:p>
        </p:txBody>
      </p:sp>
    </p:spTree>
    <p:extLst>
      <p:ext uri="{BB962C8B-B14F-4D97-AF65-F5344CB8AC3E}">
        <p14:creationId xmlns:p14="http://schemas.microsoft.com/office/powerpoint/2010/main" val="7850930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FC3C6-5BC4-4B45-A3E0-4D9323D6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M08 身份权限与审计｜功能设计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A9E1A-50B3-429F-9E37-65BB78BD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将 AD 用户身份转换为覆盖查询、填报、原件与派生资产的数据访问策略。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EA3B8-7034-45FD-AED8-6669173A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D0097-26EB-4C69-907C-D3BB4B94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S15 · S09 · S16</a:t>
            </a:r>
          </a:p>
        </p:txBody>
      </p:sp>
      <p:sp>
        <p:nvSpPr>
          <p:cNvPr id="5" name="身份接入与会话">
            <a:extLst xmlns:a="http://schemas.openxmlformats.org/drawingml/2006/main">
              <a:ext uri="{FF2B5EF4-FFF2-40B4-BE49-F238E27FC236}">
                <a16:creationId xmlns:a16="http://schemas.microsoft.com/office/drawing/2014/main" id="{9BD485CA-031F-4122-846B-1F9EB8FA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身份接入与会话</a:t>
            </a:r>
          </a:p>
        </p:txBody>
      </p:sp>
      <p:sp>
        <p:nvSpPr>
          <p:cNvPr id="6" name="角色与项目授权">
            <a:extLst xmlns:a="http://schemas.openxmlformats.org/drawingml/2006/main">
              <a:ext uri="{FF2B5EF4-FFF2-40B4-BE49-F238E27FC236}">
                <a16:creationId xmlns:a16="http://schemas.microsoft.com/office/drawing/2014/main" id="{FB825D3B-36C8-44CE-9016-79418CBF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角色与项目授权</a:t>
            </a:r>
          </a:p>
        </p:txBody>
      </p:sp>
      <p:sp>
        <p:nvSpPr>
          <p:cNvPr id="7" name="SQL 与字段访问">
            <a:extLst xmlns:a="http://schemas.openxmlformats.org/drawingml/2006/main">
              <a:ext uri="{FF2B5EF4-FFF2-40B4-BE49-F238E27FC236}">
                <a16:creationId xmlns:a16="http://schemas.microsoft.com/office/drawing/2014/main" id="{E952F062-B7FF-4831-87E1-660F7B36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SQL 与字段访问</a:t>
            </a:r>
          </a:p>
        </p:txBody>
      </p:sp>
      <p:sp>
        <p:nvSpPr>
          <p:cNvPr id="8" name="文档与派生权限">
            <a:extLst xmlns:a="http://schemas.openxmlformats.org/drawingml/2006/main">
              <a:ext uri="{FF2B5EF4-FFF2-40B4-BE49-F238E27FC236}">
                <a16:creationId xmlns:a16="http://schemas.microsoft.com/office/drawing/2014/main" id="{0D79D2A5-D1FF-4243-A03B-5A0A7124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文档与派生权限</a:t>
            </a:r>
          </a:p>
        </p:txBody>
      </p:sp>
      <p:sp>
        <p:nvSpPr>
          <p:cNvPr id="9" name="撤回与缓存失效">
            <a:extLst xmlns:a="http://schemas.openxmlformats.org/drawingml/2006/main">
              <a:ext uri="{FF2B5EF4-FFF2-40B4-BE49-F238E27FC236}">
                <a16:creationId xmlns:a16="http://schemas.microsoft.com/office/drawing/2014/main" id="{B6A93538-8BB5-4537-8D69-D2ABFC64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撤回与缓存失效</a:t>
            </a:r>
          </a:p>
        </p:txBody>
      </p:sp>
      <p:sp>
        <p:nvSpPr>
          <p:cNvPr id="10" name="审计与运维访问">
            <a:extLst xmlns:a="http://schemas.openxmlformats.org/drawingml/2006/main">
              <a:ext uri="{FF2B5EF4-FFF2-40B4-BE49-F238E27FC236}">
                <a16:creationId xmlns:a16="http://schemas.microsoft.com/office/drawing/2014/main" id="{B446DBDF-1484-438D-BF9B-57B6856B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审计与运维访问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6B6AD-35A6-42AA-B548-8764A1CB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复用公司批准的 SSO/AD 接入，处理停用、组变更、会话过期和服务身份，不另建重复身份源。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BE144-E0F8-488B-9212-7223355C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化学专家、实验员、数据管理员、平台管理员分工，叠加项目、数据域、密级与有效期。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D264F-95E0-4691-894E-D182157E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服务端执行表、列与必要的行过滤；只读身份限制查询，写入与审批采用独立权限。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B24E7-16B4-4075-B96D-E752686E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原件、片段、索引、摘要、预览和导出继承源权限，下载链接不能绕过鉴权。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11D42-D218-4E2C-8F39-D415822C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策略版本更新后先阻断访问，再同步索引与缓存；跨用户缓存必须含授权上下文。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C85FB-28B7-485F-9FD8-2E7DCF4A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记录谁对什么资产做什么、依据哪个策略；审计日志本身受权限和保留期控制。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62CFA-E31D-4F93-8A05-F3E54E17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2849D-FB83-4C6F-8853-77B09665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公司 AD 登录可用，业务授权范围和服务账户现状待核查。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905AE-43CF-4DE2-8BA7-DC90E4F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1002A-3F1A-49A3-8833-8AF37EEC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AD 身份、角色、项目关系、数据分级和源权限。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DAA71-B260-4D5B-8653-0EFDA5E7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A4D8C-068E-494D-9241-99176C8A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授权决策、受控结果/写入、审计与权限变更状态。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B298F-524C-4121-AA6E-ABFEB132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数据流：认证用户 / 服务 → 加载角色与项目 → 判定资源及动作 → 执行受限操作 → 返回前再检查 → 审计与撤回同步</a:t>
            </a:r>
          </a:p>
        </p:txBody>
      </p:sp>
    </p:spTree>
    <p:extLst>
      <p:ext uri="{BB962C8B-B14F-4D97-AF65-F5344CB8AC3E}">
        <p14:creationId xmlns:p14="http://schemas.microsoft.com/office/powerpoint/2010/main" val="1111681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E7362-B754-487D-81F0-01A30874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M08 身份权限与审计｜方案取舍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655AB-81DB-4120-A404-7232B1E3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CA2CA-2731-435A-B382-942D2451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4E0F9-79C1-4F10-A681-94CC3E1A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S15 · S09 · S16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 SSO＋应用授权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复用已有身份服务，平台管理角色、项目及数据策略。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需要明确 AD/SSO 协议与账号停用同步。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Keycloak 身份适配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官方支持 LDAP/AD 联邦 [S15]，可作为多个内网应用的身份桥接。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新增身份基础设施，不替代数据授权和审批。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 SSO 无合适接口时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搜索/数据库原生权限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OpenSearch DLS 控制搜索/get 读结果 [S09]，与业务层联合防护。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DLS 不限制写入，SQL、原件和缓存仍需独立授权。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作为防护能力组合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7E049-9E3F-4314-85E2-F25DA15B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可选：ABAC 策略引擎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94C17-1472-42F5-AD99-5632FA3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跨组织密级、目的、位置等属性规则复杂后引入策略服务，简单项目权限先做稳定。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663A2-9EB9-4D60-B8B0-F9CCB2BB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可选：细粒度脱敏与审批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4299E-0533-4971-981E-979658E7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存在字段敏感度差异或受控导出时增加脱敏、访问申请和限时授权，按实际政策定义。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34484-21FF-4B44-855E-BC3BD3A9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统一身份入口、统一策略语义、各数据路径落实授权。AD、模型提示词或搜索 DLS 都不能单独承担全链路权限。</a:t>
            </a:r>
          </a:p>
        </p:txBody>
      </p:sp>
    </p:spTree>
    <p:extLst>
      <p:ext uri="{BB962C8B-B14F-4D97-AF65-F5344CB8AC3E}">
        <p14:creationId xmlns:p14="http://schemas.microsoft.com/office/powerpoint/2010/main" val="1212521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A37B6A-23C3-4194-A57F-FCB6C65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M09 数据服务与 Agent 接口｜功能设计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6E659-E9A0-4F2F-89AC-FC9146C9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用稳定业务接口连接页面、现有 RSI Agent 与底层数据，避免调用方直连各存储。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6152E-6D81-4A20-95A1-51B2701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1DD1C-4ABE-4E12-ABA1-41FC2181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S16 · S07</a:t>
            </a:r>
          </a:p>
        </p:txBody>
      </p:sp>
      <p:sp>
        <p:nvSpPr>
          <p:cNvPr id="5" name="统一业务 API">
            <a:extLst xmlns:a="http://schemas.openxmlformats.org/drawingml/2006/main">
              <a:ext uri="{FF2B5EF4-FFF2-40B4-BE49-F238E27FC236}">
                <a16:creationId xmlns:a16="http://schemas.microsoft.com/office/drawing/2014/main" id="{CA8CB88C-8033-4E90-9794-0463ECCC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统一业务 API</a:t>
            </a:r>
          </a:p>
        </p:txBody>
      </p:sp>
      <p:sp>
        <p:nvSpPr>
          <p:cNvPr id="6" name="用户身份透传">
            <a:extLst xmlns:a="http://schemas.openxmlformats.org/drawingml/2006/main">
              <a:ext uri="{FF2B5EF4-FFF2-40B4-BE49-F238E27FC236}">
                <a16:creationId xmlns:a16="http://schemas.microsoft.com/office/drawing/2014/main" id="{D4D0D8B3-9660-463D-9236-3176DDE4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用户身份透传</a:t>
            </a:r>
          </a:p>
        </p:txBody>
      </p:sp>
      <p:sp>
        <p:nvSpPr>
          <p:cNvPr id="7" name="读写工具分离">
            <a:extLst xmlns:a="http://schemas.openxmlformats.org/drawingml/2006/main">
              <a:ext uri="{FF2B5EF4-FFF2-40B4-BE49-F238E27FC236}">
                <a16:creationId xmlns:a16="http://schemas.microsoft.com/office/drawing/2014/main" id="{BC181B53-3ABA-4F71-B7A9-DECEAA6F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读写工具分离</a:t>
            </a:r>
          </a:p>
        </p:txBody>
      </p:sp>
      <p:sp>
        <p:nvSpPr>
          <p:cNvPr id="8" name="模型与查询适配">
            <a:extLst xmlns:a="http://schemas.openxmlformats.org/drawingml/2006/main">
              <a:ext uri="{FF2B5EF4-FFF2-40B4-BE49-F238E27FC236}">
                <a16:creationId xmlns:a16="http://schemas.microsoft.com/office/drawing/2014/main" id="{117E95AD-00CC-4AF5-9283-4D7BC11A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模型与查询适配</a:t>
            </a:r>
          </a:p>
        </p:txBody>
      </p:sp>
      <p:sp>
        <p:nvSpPr>
          <p:cNvPr id="9" name="任务与错误契约">
            <a:extLst xmlns:a="http://schemas.openxmlformats.org/drawingml/2006/main">
              <a:ext uri="{FF2B5EF4-FFF2-40B4-BE49-F238E27FC236}">
                <a16:creationId xmlns:a16="http://schemas.microsoft.com/office/drawing/2014/main" id="{FC480281-530D-4F15-B967-A8854C13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任务与错误契约</a:t>
            </a:r>
          </a:p>
        </p:txBody>
      </p:sp>
      <p:sp>
        <p:nvSpPr>
          <p:cNvPr id="10" name="版本与客户端治理">
            <a:extLst xmlns:a="http://schemas.openxmlformats.org/drawingml/2006/main">
              <a:ext uri="{FF2B5EF4-FFF2-40B4-BE49-F238E27FC236}">
                <a16:creationId xmlns:a16="http://schemas.microsoft.com/office/drawing/2014/main" id="{1E3C15F7-A809-4A2F-B9D6-FAD843F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版本与客户端治理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FD635-5746-42B4-A86F-604D5557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目录、查询、填报、文档、任务、反馈、评测分别定义契约，避免一个入口隐藏全部业务语义。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F897B-CD7E-48C3-8015-0122115D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网关认证服务与用户，调用下游携带获准范围，不能用高权限服务账号替代用户授权。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EDF33-B8B2-4AD2-8E1C-FFCF0F16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search/query/get 与 submit/update 分别注册权限；写工具要结构化输入、校验和确认状态。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6F661-3B30-49F5-BA40-C62931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封装内网 LLM / embedding、数据库与搜索连接，登记模型、提示词和服务版本。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3BD2B-C1CE-414B-B92E-4DD6FB8F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长任务返回 job_id，支持幂等、状态查询、有限重试与取消；错误码区分权限/数据/运行问题。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54FED-3D55-4D6E-AF3E-B9D98625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接口 Schema、示例、兼容性、调用日志与配额；工具变更有测试和废弃路径。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31A5D-6CB0-4B95-AB91-0BE7E98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2C92A-4BAE-4067-8E74-A3F41BD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现有 Agent 已有实验录入与知识库雏形，接口需盘点和适配。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16DFD-2409-40CC-B7C1-46527B8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7C7E6-4FD1-4799-9E1A-83F79E6A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页面/Agent 请求、身份上下文、工具及接口契约。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C8495D-5176-41AB-9891-C46B9CE8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D211A-87FD-4803-B537-C8D85F32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统一查询/填报结果、任务状态、可追踪错误和调用记录。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EA578-F9FA-4CB8-88D8-53AE7F63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数据流：业务请求进入网关 → 身份与契约校验 → 调用读 / 写服务 → 适配存储和模型 → 返回标准结果状态 → 关联 Trace 与反馈</a:t>
            </a:r>
          </a:p>
        </p:txBody>
      </p:sp>
    </p:spTree>
    <p:extLst>
      <p:ext uri="{BB962C8B-B14F-4D97-AF65-F5344CB8AC3E}">
        <p14:creationId xmlns:p14="http://schemas.microsoft.com/office/powerpoint/2010/main" val="15443813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11B8D-8221-4A3C-8BF4-BAF9BAC8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M09 数据服务与 Agent 接口｜方案取舍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1340B-9A8F-4CA2-8E99-FC59EFA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160F4-BCF5-41CD-944E-5799749C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BD1CD-E06D-4B86-9D0E-02886A0A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S16 · S07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REST / OpenAPI 业务服务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页面和 Agent 共用类型明确的接口，存储实现由适配层隔离。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接口与授权薄层需要开发，业务边界清晰。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工具入口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官方工具规范定义工具 Schema 与调用 [S16]。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增加协议、身份和工具治理，MCP 不是权限替代品。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多客户端按需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编排平台适配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适配现有框架，使用查询、检索、填报和反馈工具。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框架产品能力与模型协议需核查，避免双份业务逻辑。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复用已有 Agent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02CD1-6BCF-4E33-913C-453D35E2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可选：MCP 服务适配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AA6FA-5366-4813-BF05-E4C19F20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当多个 Agent 客户端需要标准工具发现/调用时加 MCP 层，仍复用同一业务授权。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7CA4A-047F-416D-A62C-0892AE7D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可选：技能注册与 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2633E-3627-4EC9-9934-DCD8D8ED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可复用技能稳定后登记输入输出/权限/版本；前后置 Hook 做记录与校验，不承诺自动科研推理。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9C55F-6DCD-4A1C-818E-62B49FFA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先搭统一业务服务并适配现有 Agent。MCP、Skill、Hook 可以后置，业务接口和数据授权先稳定。</a:t>
            </a:r>
          </a:p>
        </p:txBody>
      </p:sp>
    </p:spTree>
    <p:extLst>
      <p:ext uri="{BB962C8B-B14F-4D97-AF65-F5344CB8AC3E}">
        <p14:creationId xmlns:p14="http://schemas.microsoft.com/office/powerpoint/2010/main" val="8895999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73A4A-930B-4182-B67E-D5506D91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M10 平台运维与资产版本｜功能设计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A042E-7D61-40DF-9387-293497A5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持续运行接入、解析、查询与评测任务，能复现、定位、恢复和回滚。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EDA8A-85D9-4E76-B549-977099B9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426F2-4519-448E-A84F-C3E5ACAF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S17 · S18 · S14 · S13 · S22</a:t>
            </a:r>
          </a:p>
        </p:txBody>
      </p:sp>
      <p:sp>
        <p:nvSpPr>
          <p:cNvPr id="5" name="任务队列与调度">
            <a:extLst xmlns:a="http://schemas.openxmlformats.org/drawingml/2006/main">
              <a:ext uri="{FF2B5EF4-FFF2-40B4-BE49-F238E27FC236}">
                <a16:creationId xmlns:a16="http://schemas.microsoft.com/office/drawing/2014/main" id="{7C40E78A-AE8E-4612-9B89-BD5DE181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任务队列与调度</a:t>
            </a:r>
          </a:p>
        </p:txBody>
      </p:sp>
      <p:sp>
        <p:nvSpPr>
          <p:cNvPr id="6" name="运行观测与质量">
            <a:extLst xmlns:a="http://schemas.openxmlformats.org/drawingml/2006/main">
              <a:ext uri="{FF2B5EF4-FFF2-40B4-BE49-F238E27FC236}">
                <a16:creationId xmlns:a16="http://schemas.microsoft.com/office/drawing/2014/main" id="{C9809D0D-158D-4DBA-8D96-A8CBB36D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运行观测与质量</a:t>
            </a:r>
          </a:p>
        </p:txBody>
      </p:sp>
      <p:sp>
        <p:nvSpPr>
          <p:cNvPr id="7" name="资产血缘与版本包">
            <a:extLst xmlns:a="http://schemas.openxmlformats.org/drawingml/2006/main">
              <a:ext uri="{FF2B5EF4-FFF2-40B4-BE49-F238E27FC236}">
                <a16:creationId xmlns:a16="http://schemas.microsoft.com/office/drawing/2014/main" id="{3CAA3BE4-0D76-42ED-AFCE-69A6318D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资产血缘与版本包</a:t>
            </a:r>
          </a:p>
        </p:txBody>
      </p:sp>
      <p:sp>
        <p:nvSpPr>
          <p:cNvPr id="8" name="备份与恢复演练">
            <a:extLst xmlns:a="http://schemas.openxmlformats.org/drawingml/2006/main">
              <a:ext uri="{FF2B5EF4-FFF2-40B4-BE49-F238E27FC236}">
                <a16:creationId xmlns:a16="http://schemas.microsoft.com/office/drawing/2014/main" id="{9A104F38-3335-4880-88F1-29E53D26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备份与恢复演练</a:t>
            </a:r>
          </a:p>
        </p:txBody>
      </p:sp>
      <p:sp>
        <p:nvSpPr>
          <p:cNvPr id="9" name="发布与回滚机制">
            <a:extLst xmlns:a="http://schemas.openxmlformats.org/drawingml/2006/main">
              <a:ext uri="{FF2B5EF4-FFF2-40B4-BE49-F238E27FC236}">
                <a16:creationId xmlns:a16="http://schemas.microsoft.com/office/drawing/2014/main" id="{BB74912C-D1C1-48DE-BA06-9D67C0E9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发布与回滚机制</a:t>
            </a:r>
          </a:p>
        </p:txBody>
      </p:sp>
      <p:sp>
        <p:nvSpPr>
          <p:cNvPr id="10" name="容量与成本归属">
            <a:extLst xmlns:a="http://schemas.openxmlformats.org/drawingml/2006/main">
              <a:ext uri="{FF2B5EF4-FFF2-40B4-BE49-F238E27FC236}">
                <a16:creationId xmlns:a16="http://schemas.microsoft.com/office/drawing/2014/main" id="{5E989B5F-20E6-4813-A81D-460E9CC2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429000" cy="62865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容量与成本归属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E4978-498E-4DD6-A6FD-1C28959B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依赖、并发、超时、重试、死信/异常队列和人工重跑，任务状态与资产版本关联。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5B795-8D61-4F01-93D6-3EAFA790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记录接入/解析/索引/检索/SQL/模型耗时、错误、积压和资源；质量告警区别基础设施告警。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24F5C-02F1-4738-A106-56AEE096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关联数据、语义层、解析、切分、embedding、索引、Prompt 和模型，运行保存版本清单。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E020D-335A-4E69-815E-6BD8BFA9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备份数据库、原件、元数据、配置和策略；索引可重建，但恢复顺序与耗时需测试。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CDC76-DFDD-4DBF-BD1B-A1DFE1AD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配置和 Prompt 有开发/测试/生产版本；评测通过后切换，保留已知可用版本与回滚依据。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116BB-4838-4B2A-91D9-1FBA48B6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00625"/>
            <a:ext cx="323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按查询类型观察 CPU/GPU、模型调用与存储成本；活跃并发、向量规模和保留期驱动扩容。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775DE-438D-4B6A-875A-7390BA59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095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现状与接口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C00E42-5D9A-4496-B370-406567F3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6384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现有脚本覆盖程度待核查，需要建立统一任务和版本管理。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CC357-F55E-4167-AB7E-5D76D7E8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343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A7C08-0415-486D-A284-7746FCA1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00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任务与查询事件、资产清单、模型配置、备份和评测结果。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089BC-637A-49A0-A9FC-4246C4F7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048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D93ED-FADD-40C6-8FA9-2DB57647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505575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监控与告警、版本血缘、恢复记录、发布及回滚证据。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EE709D-64DD-4416-826C-68A0FD9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437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数据流：任务排队与执行 → 关联输入输出版本 → 采集指标与错误 → 评测与发布确认 → 备份 / 失败恢复 → 反馈和容量分析</a:t>
            </a:r>
          </a:p>
        </p:txBody>
      </p:sp>
    </p:spTree>
    <p:extLst>
      <p:ext uri="{BB962C8B-B14F-4D97-AF65-F5344CB8AC3E}">
        <p14:creationId xmlns:p14="http://schemas.microsoft.com/office/powerpoint/2010/main" val="9731475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807D4-EC26-4EB3-B494-AB287603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M10 平台运维与资产版本｜方案取舍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911BC-DAE1-4247-B399-7134B03F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业界能力作为参考；项目建议结合现有 OceanBase、AD 与内网模型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288B4-79F7-44D1-A1E0-5C76DCFD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132BA-F2C7-40FD-A93B-587E4717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S17 · S18 · S14 · S13 · S22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762500"/>
                <a:gridCol w="4286250"/>
                <a:gridCol w="2238375"/>
              </a:tblGrid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可选实现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业界能力 / 工作方式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新增成本与约束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本项目建议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轻量任务与版本薄层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现有监控＋任务队列，OceanBase 登记任务和版本，原件存储做备份。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需要自研一致的任务状态和回滚清单。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一期建议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Airflow＋OpenLineage 模式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DAG 调度 [S18]，Run/Job/Dataset 血缘事件 [S17]。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新增服务，实时交互仍由业务服务承担。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批流程复杂时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81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/ MLflow 主平台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观测、评测与资产版本统一管理 [S14][S13]。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Langfuse 当前官方页面显示 v4，多存储依赖；授权功能按版本核查。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明确平台收益后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A4537-A8AA-47BD-A366-9881813A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可选：统一观测产品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80CE4-0689-4B4D-B5FD-3A8922B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需要 Trace 工作台、Prompt 实验和失败分析时评估 Langfuse/MLflow，明确额外依赖。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8107F-46A4-4F90-973E-E0A89D39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753100"/>
            <a:ext cx="681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BC879"/>
                </a:solidFill>
                <a:latin typeface="Microsoft YaHei"/>
                <a:ea typeface="Microsoft YaHei"/>
                <a:cs typeface="Microsoft YaHei"/>
              </a:rPr>
              <a:t>可选：训练与制品平面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9477D-5CF7-47CF-8050-C3B575E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219825"/>
            <a:ext cx="681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开启技能、源码或权重级进化后增加 Git/制品、训练快照、沙箱与评测门禁。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28C2A-0B25-411E-8ABC-8A3953B0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6757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先做任务状态、版本清单和恢复能力，再按收益引入观测或调度产品。50 用户不等于 50 并发，不据人数直接配置集群。</a:t>
            </a:r>
          </a:p>
        </p:txBody>
      </p:sp>
    </p:spTree>
    <p:extLst>
      <p:ext uri="{BB962C8B-B14F-4D97-AF65-F5344CB8AC3E}">
        <p14:creationId xmlns:p14="http://schemas.microsoft.com/office/powerpoint/2010/main" val="10350418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A8E89-6256-4595-99A5-3C6D4916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实验明细与挂测总表的关联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4E8C7-6E21-49F9-847A-0F4FC90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总表是实验员针对一批电芯完成实验后填入的汇总结果；其口径不能默认由明细自动推导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89A63-ED4E-4C48-B7DE-7A613AE8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27</a:t>
            </a:r>
          </a:p>
        </p:txBody>
      </p:sp>
      <p:sp>
        <p:nvSpPr>
          <p:cNvPr id="4" name="批次 / 电芯 / 实验标识&#10;共同身份与项目">
            <a:extLst xmlns:a="http://schemas.openxmlformats.org/drawingml/2006/main">
              <a:ext uri="{FF2B5EF4-FFF2-40B4-BE49-F238E27FC236}">
                <a16:creationId xmlns:a16="http://schemas.microsoft.com/office/drawing/2014/main" id="{FD9F7B4A-A49D-4726-BEC9-EC464DB0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000500" cy="1238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批次 / 电芯 / 实验标识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共同身份与项目</a:t>
            </a:r>
          </a:p>
        </p:txBody>
      </p:sp>
      <p:sp>
        <p:nvSpPr>
          <p:cNvPr id="5" name="实验明细表族&#10;各模板 / 字段 / 单位 / 版本">
            <a:extLst xmlns:a="http://schemas.openxmlformats.org/drawingml/2006/main">
              <a:ext uri="{FF2B5EF4-FFF2-40B4-BE49-F238E27FC236}">
                <a16:creationId xmlns:a16="http://schemas.microsoft.com/office/drawing/2014/main" id="{AD9C161B-F8AB-465E-AD64-3A82CCB8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8763000" cy="1238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实验明细表族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各模板 / 字段 / 单位 / 版本</a:t>
            </a:r>
          </a:p>
        </p:txBody>
      </p:sp>
      <p:sp>
        <p:nvSpPr>
          <p:cNvPr id="6" name="挂测总表&#10;人工汇总结果 + 口径 + 确认人">
            <a:extLst xmlns:a="http://schemas.openxmlformats.org/drawingml/2006/main">
              <a:ext uri="{FF2B5EF4-FFF2-40B4-BE49-F238E27FC236}">
                <a16:creationId xmlns:a16="http://schemas.microsoft.com/office/drawing/2014/main" id="{B434DD4C-FD48-452C-BA80-DC7D6370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8763000" cy="1238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挂测总表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人工汇总结果 + 口径 + 确认人</a:t>
            </a:r>
          </a:p>
        </p:txBody>
      </p:sp>
      <p:sp>
        <p:nvSpPr>
          <p:cNvPr id="7" name="关联与语义目录&#10;批准连接键 / 粒度 / 计算或填写来源">
            <a:extLst xmlns:a="http://schemas.openxmlformats.org/drawingml/2006/main">
              <a:ext uri="{FF2B5EF4-FFF2-40B4-BE49-F238E27FC236}">
                <a16:creationId xmlns:a16="http://schemas.microsoft.com/office/drawing/2014/main" id="{47D7707F-5CA0-4241-99F9-D19804EC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4000500" cy="1238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关联与语义目录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批准连接键 / 粒度 / 计算或填写来源</a:t>
            </a:r>
          </a:p>
        </p:txBody>
      </p:sp>
      <p:sp>
        <p:nvSpPr>
          <p:cNvPr id="8" name="查询同时展示：汇总 / 对应明细 / 统计口径 / 报告证据&#10;明">
            <a:extLst xmlns:a="http://schemas.openxmlformats.org/drawingml/2006/main">
              <a:ext uri="{FF2B5EF4-FFF2-40B4-BE49-F238E27FC236}">
                <a16:creationId xmlns:a16="http://schemas.microsoft.com/office/drawing/2014/main" id="{B2CFA052-5814-41F8-B8FC-7F1E343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0"/>
            <a:ext cx="1409700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查询同时展示：汇总 / 对应明细 / 统计口径 / 报告证据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明细修订时标记汇总可能过期，按规则重算或重新确认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72000" y="257175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47625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0287000" y="31908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dash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620000" y="5381625"/>
            <a:ext cx="26670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960714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0CED7-713F-4BAA-A689-F9992640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推荐部署组合与升级条件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3C54C-2A4F-4ACD-A328-A0A3EFE3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组件按能力缺口选用，避免以产品清单代替完整架构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8AC44-9738-429B-B233-303EE385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7239000"/>
                <a:gridCol w="4191000"/>
              </a:tblGrid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一期推荐组合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何时升级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业务与目录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 保留业务数据；新增目录/版本/任务逻辑表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目录规模或产品收益明确时，接入专用目录平台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原件与解析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内网受控原件存储；对象接口优先评估；解析任务服务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复杂扫描、公式、表格依 PoC 补 OCR 或专用解析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检索与模型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现有内网 LLM / embedding；全文 + 向量 PoC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独立向量库、重排、GraphRAG 随召回缺口评估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身份与服务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 AD / SSO；统一业务 API；查询只读凭据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 Agent 客户端再加 MCP；SSO 缺口再加联邦组件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833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观测与进化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任务状态、Trace、benchmark、配置版本与备份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复杂批处理选 Airflow；观测平台依维护收益选型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9840C-1F3A-484F-AAD7-6DD3E59E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不新增 PostgreSQL 作为既有事实；pgvector 需要 PostgreSQL。Langfuse 等候选产品的依赖、许可与版本分别评估。</a:t>
            </a:r>
          </a:p>
        </p:txBody>
      </p:sp>
    </p:spTree>
    <p:extLst>
      <p:ext uri="{BB962C8B-B14F-4D97-AF65-F5344CB8AC3E}">
        <p14:creationId xmlns:p14="http://schemas.microsoft.com/office/powerpoint/2010/main" val="20968667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CD9B5-3A2F-4E5E-99AF-38BCA846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贯穿平台的资产身份与版本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911BA-1C6E-4056-AA73-3B869FD6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同一次查询或评测应关联到可核验的数据、语义与配置快照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FE399-8B19-4D22-9B8D-F213E207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53652-4840-4F18-97EC-4943DB4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S17 · S20</a:t>
            </a:r>
          </a:p>
        </p:txBody>
      </p:sp>
      <p:sp>
        <p:nvSpPr>
          <p:cNvPr id="5" name="原始资产&#10;asset_id / version / hash">
            <a:extLst xmlns:a="http://schemas.openxmlformats.org/drawingml/2006/main">
              <a:ext uri="{FF2B5EF4-FFF2-40B4-BE49-F238E27FC236}">
                <a16:creationId xmlns:a16="http://schemas.microsoft.com/office/drawing/2014/main" id="{30259ADE-8A00-4D67-926C-33E7D40B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90525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原始资产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asset_id / version / hash</a:t>
            </a:r>
          </a:p>
        </p:txBody>
      </p:sp>
      <p:sp>
        <p:nvSpPr>
          <p:cNvPr id="6" name="加工产物&#10;parser / chunk / index">
            <a:extLst xmlns:a="http://schemas.openxmlformats.org/drawingml/2006/main">
              <a:ext uri="{FF2B5EF4-FFF2-40B4-BE49-F238E27FC236}">
                <a16:creationId xmlns:a16="http://schemas.microsoft.com/office/drawing/2014/main" id="{06FBCFDF-41C6-42D0-AD08-4E6AE59F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8375"/>
            <a:ext cx="390525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加工产物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parser / chunk / index</a:t>
            </a:r>
          </a:p>
        </p:txBody>
      </p:sp>
      <p:sp>
        <p:nvSpPr>
          <p:cNvPr id="7" name="查询运行&#10;query_id / trace_id">
            <a:extLst xmlns:a="http://schemas.openxmlformats.org/drawingml/2006/main">
              <a:ext uri="{FF2B5EF4-FFF2-40B4-BE49-F238E27FC236}">
                <a16:creationId xmlns:a16="http://schemas.microsoft.com/office/drawing/2014/main" id="{7520E858-C7D1-48F9-9B06-EE991FC8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38375"/>
            <a:ext cx="3905250" cy="1095375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查询运行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query_id / trace_id</a:t>
            </a:r>
          </a:p>
        </p:txBody>
      </p:sp>
      <p:sp>
        <p:nvSpPr>
          <p:cNvPr id="8" name="权限与业务语义&#10;policy / schema / semant">
            <a:extLst xmlns:a="http://schemas.openxmlformats.org/drawingml/2006/main">
              <a:ext uri="{FF2B5EF4-FFF2-40B4-BE49-F238E27FC236}">
                <a16:creationId xmlns:a16="http://schemas.microsoft.com/office/drawing/2014/main" id="{351F4FA6-E676-47F6-9F12-9F1D78E6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619125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权限与业务语义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policy / schema / semantic_version</a:t>
            </a:r>
          </a:p>
        </p:txBody>
      </p:sp>
      <p:sp>
        <p:nvSpPr>
          <p:cNvPr id="9" name="模型与工具配置&#10;model / prompt / embeddi">
            <a:extLst xmlns:a="http://schemas.openxmlformats.org/drawingml/2006/main">
              <a:ext uri="{FF2B5EF4-FFF2-40B4-BE49-F238E27FC236}">
                <a16:creationId xmlns:a16="http://schemas.microsoft.com/office/drawing/2014/main" id="{8FFE1A0C-6412-497C-9818-67B64D9F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619125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模型与工具配置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model / prompt / embedding / tool_version</a:t>
            </a:r>
          </a:p>
        </p:txBody>
      </p:sp>
      <p:sp>
        <p:nvSpPr>
          <p:cNvPr id="10" name="反馈 → 评测样本 → 测试运行 → 发布记录&#10;关联输入输出；过">
            <a:extLst xmlns:a="http://schemas.openxmlformats.org/drawingml/2006/main">
              <a:ext uri="{FF2B5EF4-FFF2-40B4-BE49-F238E27FC236}">
                <a16:creationId xmlns:a16="http://schemas.microsoft.com/office/drawing/2014/main" id="{7D297DD1-3EEE-4B1E-88CA-7B85543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4097000" cy="104775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反馈 → 评测样本 → 测试运行 → 发布记录</a:t>
            </a:r>
          </a:p>
          <a:p xmlns:a="http://schemas.openxmlformats.org/drawingml/2006/main">
            <a:pPr algn="ctr">
              <a:def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关联输入输出；过期资产触发索引、缓存和汇总状态更新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76750" y="27860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72625" y="2786063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834334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AB060-BE25-4130-85F5-CD2797EB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实施阶段与验收门槛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1C9FB-BF0C-4872-A277-952379FD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以依赖和验收结果推进；工期在人员、数据盘点和 PoC 后制定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191B7-BA2D-478B-AF61-CB155734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6286500"/>
                <a:gridCol w="5238750"/>
              </a:tblGrid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建设结果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进入下一阶段的门槛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资产与入口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 接入、项目权限、填报/Excel 接入</a:t>
                      </a:r>
                    </a:p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原件登记、批次与修订记录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授权及防重复验证通过</a:t>
                      </a:r>
                    </a:p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源文件 / 记录 / 资产版本能关联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治理与处理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表族目录、批准语义和关联</a:t>
                      </a:r>
                    </a:p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解析、质量检查、索引同步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代表性数据对齐、解析证据可定位</a:t>
                      </a:r>
                    </a:p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删除/修订/权限变更同步可核验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查询与评测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 / 文档 / 混合查询</a:t>
                      </a:r>
                    </a:p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benchmark、反馈与版本清单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结果正确性、来源、越权拒绝</a:t>
                      </a:r>
                    </a:p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延迟/并发按试点负载通过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稳定运行与推广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告警、恢复演练、接口兼容</a:t>
                      </a:r>
                    </a:p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多团队权限与运营责任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恢复和回滚经过演练</a:t>
                      </a:r>
                    </a:p>
                    <a:p>
                      <a:r>
                        <a:rPr sz="1875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跨团队访问有独立授权边界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596BA-EF2A-4D14-819D-196F683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真实 PoC 样本覆盖：表族差异、空值/单位、总表与明细冲突、扫描 PDF、PPT、权限隔离和过期版本。</a:t>
            </a:r>
          </a:p>
        </p:txBody>
      </p:sp>
    </p:spTree>
    <p:extLst>
      <p:ext uri="{BB962C8B-B14F-4D97-AF65-F5344CB8AC3E}">
        <p14:creationId xmlns:p14="http://schemas.microsoft.com/office/powerpoint/2010/main" val="15794744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B94D8-59F9-4D74-AFE4-49778608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领导决策与建设责任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4B56D-55CB-4D97-8210-C164B74A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建议批准平台边界、一期架构与分阶段投入；产品选型经 PoC 后确定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6D6FD-84CA-4885-BC66-97A8A12A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4097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667500"/>
                <a:gridCol w="4572000"/>
              </a:tblGrid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需要确定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建议方案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责任与产出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平台边界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一期含填报和统一查询；后续支持受控进化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业务负责人：范围 / 优先问题 / 专家投入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数据架构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 OceanBase，补原件/目录/索引/事件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数据负责人：表族、单位、关联与总表口径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安全与服务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 认证，业务授权贯穿读写与检索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 / 安全团队：策略、接口与审计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914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评测与扩展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benchmark；版本门禁；扩展按收益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/ Agent 团队：答案、失败分类与候选评测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3DD62-8F02-452A-AB22-56A29835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45 分钟建议：现状与总架构 7 分钟；10 模块 23 分钟；集成与决策 10 分钟；讨论 5 分钟。</a:t>
            </a:r>
          </a:p>
        </p:txBody>
      </p:sp>
    </p:spTree>
    <p:extLst>
      <p:ext uri="{BB962C8B-B14F-4D97-AF65-F5344CB8AC3E}">
        <p14:creationId xmlns:p14="http://schemas.microsoft.com/office/powerpoint/2010/main" val="2959619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60C64-7D5B-4B25-B417-2323A3BA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M01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4F9FC-DA8E-4202-B310-F16A5824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数据接入与实验填报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0ED70-1509-4710-853B-7F31162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29789-89EB-4849-B2B5-489A201C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S01 · S18</a:t>
            </a:r>
          </a:p>
        </p:txBody>
      </p:sp>
      <p:sp>
        <p:nvSpPr>
          <p:cNvPr id="5" name="选择模板与批次">
            <a:extLst xmlns:a="http://schemas.openxmlformats.org/drawingml/2006/main">
              <a:ext uri="{FF2B5EF4-FFF2-40B4-BE49-F238E27FC236}">
                <a16:creationId xmlns:a16="http://schemas.microsoft.com/office/drawing/2014/main" id="{EDB3B3C4-5761-4FC0-9353-B476EA2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选择模板与批次</a:t>
            </a:r>
          </a:p>
        </p:txBody>
      </p:sp>
      <p:sp>
        <p:nvSpPr>
          <p:cNvPr id="6" name="保存草稿或上传">
            <a:extLst xmlns:a="http://schemas.openxmlformats.org/drawingml/2006/main">
              <a:ext uri="{FF2B5EF4-FFF2-40B4-BE49-F238E27FC236}">
                <a16:creationId xmlns:a16="http://schemas.microsoft.com/office/drawing/2014/main" id="{D46DEE73-2649-40AB-A940-6B07D1B3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保存草稿或上传</a:t>
            </a:r>
          </a:p>
        </p:txBody>
      </p:sp>
      <p:sp>
        <p:nvSpPr>
          <p:cNvPr id="7" name="校验字段与权限">
            <a:extLst xmlns:a="http://schemas.openxmlformats.org/drawingml/2006/main">
              <a:ext uri="{FF2B5EF4-FFF2-40B4-BE49-F238E27FC236}">
                <a16:creationId xmlns:a16="http://schemas.microsoft.com/office/drawing/2014/main" id="{56B039AA-AF07-4A7C-A380-843BA349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校验字段与权限</a:t>
            </a:r>
          </a:p>
        </p:txBody>
      </p:sp>
      <p:sp>
        <p:nvSpPr>
          <p:cNvPr id="8" name="复核 / 确认提交">
            <a:extLst xmlns:a="http://schemas.openxmlformats.org/drawingml/2006/main">
              <a:ext uri="{FF2B5EF4-FFF2-40B4-BE49-F238E27FC236}">
                <a16:creationId xmlns:a16="http://schemas.microsoft.com/office/drawing/2014/main" id="{9CE6B32D-B621-4B85-90F1-3887892A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复核 / 确认提交</a:t>
            </a:r>
          </a:p>
        </p:txBody>
      </p:sp>
      <p:sp>
        <p:nvSpPr>
          <p:cNvPr id="9" name="事务写入与防重">
            <a:extLst xmlns:a="http://schemas.openxmlformats.org/drawingml/2006/main">
              <a:ext uri="{FF2B5EF4-FFF2-40B4-BE49-F238E27FC236}">
                <a16:creationId xmlns:a16="http://schemas.microsoft.com/office/drawing/2014/main" id="{E4A24BAB-8C8A-4CDC-8846-291981F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事务写入与防重</a:t>
            </a:r>
          </a:p>
        </p:txBody>
      </p:sp>
      <p:sp>
        <p:nvSpPr>
          <p:cNvPr id="10" name="发布记录及反馈">
            <a:extLst xmlns:a="http://schemas.openxmlformats.org/drawingml/2006/main">
              <a:ext uri="{FF2B5EF4-FFF2-40B4-BE49-F238E27FC236}">
                <a16:creationId xmlns:a16="http://schemas.microsoft.com/office/drawing/2014/main" id="{9E4C4919-1787-4279-831F-604F007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发布记录及反馈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CD740-48F7-43E3-8AFD-5DE206C7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BBEC4-86CC-4116-8220-1430B7FD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submission_id、template_version、batch_id、cell_id、experiment_id、idempotency_key、revision。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F8FF4-E44C-4ADA-A79C-6C6C9597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63B87-4134-45D9-9A0B-0A2930AB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重复提交不重复入库，并发修改能提示冲突。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F006B-24BD-41A3-9E3A-FAD49B86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错误能定位到字段/行，修订能追溯旧值。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9C38E-2F08-494E-9F4A-9CAF6DBB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同一字段从页面或脚本入库采用相同单位与标识。</a:t>
            </a:r>
          </a:p>
        </p:txBody>
      </p:sp>
    </p:spTree>
    <p:extLst>
      <p:ext uri="{BB962C8B-B14F-4D97-AF65-F5344CB8AC3E}">
        <p14:creationId xmlns:p14="http://schemas.microsoft.com/office/powerpoint/2010/main" val="2558304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D9BFF-B0F7-43CF-912D-B655A5B9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M02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071C9-3063-40AE-8CA2-501EA36D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原始文件与元数据管理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85998-FA3D-4809-8BFD-9D05D37B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A2E76-95E4-4C86-B1E7-3DF2590C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S02 · S20</a:t>
            </a:r>
          </a:p>
        </p:txBody>
      </p:sp>
      <p:sp>
        <p:nvSpPr>
          <p:cNvPr id="5" name="扫描或受控上传">
            <a:extLst xmlns:a="http://schemas.openxmlformats.org/drawingml/2006/main">
              <a:ext uri="{FF2B5EF4-FFF2-40B4-BE49-F238E27FC236}">
                <a16:creationId xmlns:a16="http://schemas.microsoft.com/office/drawing/2014/main" id="{733D824D-E96A-47EC-8A74-390ED02B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扫描或受控上传</a:t>
            </a:r>
          </a:p>
        </p:txBody>
      </p:sp>
      <p:sp>
        <p:nvSpPr>
          <p:cNvPr id="6" name="登记归属与权限">
            <a:extLst xmlns:a="http://schemas.openxmlformats.org/drawingml/2006/main">
              <a:ext uri="{FF2B5EF4-FFF2-40B4-BE49-F238E27FC236}">
                <a16:creationId xmlns:a16="http://schemas.microsoft.com/office/drawing/2014/main" id="{C2AAC9AE-BF59-4DA8-A3DF-39B42538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登记归属与权限</a:t>
            </a:r>
          </a:p>
        </p:txBody>
      </p:sp>
      <p:sp>
        <p:nvSpPr>
          <p:cNvPr id="7" name="校验值与版本判定">
            <a:extLst xmlns:a="http://schemas.openxmlformats.org/drawingml/2006/main">
              <a:ext uri="{FF2B5EF4-FFF2-40B4-BE49-F238E27FC236}">
                <a16:creationId xmlns:a16="http://schemas.microsoft.com/office/drawing/2014/main" id="{E8CFC49F-B28C-4A9D-8DF8-E557C91A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校验值与版本判定</a:t>
            </a:r>
          </a:p>
        </p:txBody>
      </p:sp>
      <p:sp>
        <p:nvSpPr>
          <p:cNvPr id="8" name="持久化原件">
            <a:extLst xmlns:a="http://schemas.openxmlformats.org/drawingml/2006/main">
              <a:ext uri="{FF2B5EF4-FFF2-40B4-BE49-F238E27FC236}">
                <a16:creationId xmlns:a16="http://schemas.microsoft.com/office/drawing/2014/main" id="{FBCAFCF2-26A1-4390-AFE4-754ECA96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持久化原件</a:t>
            </a:r>
          </a:p>
        </p:txBody>
      </p:sp>
      <p:sp>
        <p:nvSpPr>
          <p:cNvPr id="9" name="登记派生产物">
            <a:extLst xmlns:a="http://schemas.openxmlformats.org/drawingml/2006/main">
              <a:ext uri="{FF2B5EF4-FFF2-40B4-BE49-F238E27FC236}">
                <a16:creationId xmlns:a16="http://schemas.microsoft.com/office/drawing/2014/main" id="{5A2A4635-E527-46FD-AFA1-DB0D6343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登记派生产物</a:t>
            </a:r>
          </a:p>
        </p:txBody>
      </p:sp>
      <p:sp>
        <p:nvSpPr>
          <p:cNvPr id="10" name="授权预览与下载">
            <a:extLst xmlns:a="http://schemas.openxmlformats.org/drawingml/2006/main">
              <a:ext uri="{FF2B5EF4-FFF2-40B4-BE49-F238E27FC236}">
                <a16:creationId xmlns:a16="http://schemas.microsoft.com/office/drawing/2014/main" id="{7E0EFF69-7029-491E-A955-E8413AC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授权预览与下载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5969C-8EE9-4212-8EFF-36818566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C48BC-2E1D-4B9C-90E9-5E07AA01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asset_id、version_id、checksum、source_uri、storage_ref、owner、classification、status。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489D7-7FE2-4DD8-9DD1-29E8A81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93099-B492-4148-BBB9-EE9384FE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返回的证据能定位原文件版本。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15496-6E7E-4043-B304-4657832A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同内容跨项目去重不会合并权限。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261A5-349B-43DD-8A5D-A7C9DC9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撤回后搜索与下载均拒绝访问，旧证据仍按规则可审计。</a:t>
            </a:r>
          </a:p>
        </p:txBody>
      </p:sp>
    </p:spTree>
    <p:extLst>
      <p:ext uri="{BB962C8B-B14F-4D97-AF65-F5344CB8AC3E}">
        <p14:creationId xmlns:p14="http://schemas.microsoft.com/office/powerpoint/2010/main" val="15711863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1EAEB-C427-4AB6-8685-A27FBBFC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M03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F76B2-3713-4E6A-B565-EEFE8979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数据目录与业务语义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32AC6-2FA1-4380-99FE-A0A729F2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7E092-CD0C-4854-B07F-7F86F0F2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S03 · S04</a:t>
            </a:r>
          </a:p>
        </p:txBody>
      </p:sp>
      <p:sp>
        <p:nvSpPr>
          <p:cNvPr id="5" name="采集技术 Schema">
            <a:extLst xmlns:a="http://schemas.openxmlformats.org/drawingml/2006/main">
              <a:ext uri="{FF2B5EF4-FFF2-40B4-BE49-F238E27FC236}">
                <a16:creationId xmlns:a16="http://schemas.microsoft.com/office/drawing/2014/main" id="{6248AEC9-A973-4AE2-BB25-4E2F956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采集技术 Schema</a:t>
            </a:r>
          </a:p>
        </p:txBody>
      </p:sp>
      <p:sp>
        <p:nvSpPr>
          <p:cNvPr id="6" name="归类实验主题">
            <a:extLst xmlns:a="http://schemas.openxmlformats.org/drawingml/2006/main">
              <a:ext uri="{FF2B5EF4-FFF2-40B4-BE49-F238E27FC236}">
                <a16:creationId xmlns:a16="http://schemas.microsoft.com/office/drawing/2014/main" id="{F61A4F1B-1F94-4F8F-A739-7A77718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归类实验主题</a:t>
            </a:r>
          </a:p>
        </p:txBody>
      </p:sp>
      <p:sp>
        <p:nvSpPr>
          <p:cNvPr id="7" name="补充字段与口径">
            <a:extLst xmlns:a="http://schemas.openxmlformats.org/drawingml/2006/main">
              <a:ext uri="{FF2B5EF4-FFF2-40B4-BE49-F238E27FC236}">
                <a16:creationId xmlns:a16="http://schemas.microsoft.com/office/drawing/2014/main" id="{F7E6D11A-B968-4FD8-9BD8-F772232B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补充字段与口径</a:t>
            </a:r>
          </a:p>
        </p:txBody>
      </p:sp>
      <p:sp>
        <p:nvSpPr>
          <p:cNvPr id="8" name="确认关联与视图">
            <a:extLst xmlns:a="http://schemas.openxmlformats.org/drawingml/2006/main">
              <a:ext uri="{FF2B5EF4-FFF2-40B4-BE49-F238E27FC236}">
                <a16:creationId xmlns:a16="http://schemas.microsoft.com/office/drawing/2014/main" id="{906BC274-113C-40BE-B0FF-1238742C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确认关联与视图</a:t>
            </a:r>
          </a:p>
        </p:txBody>
      </p:sp>
      <p:sp>
        <p:nvSpPr>
          <p:cNvPr id="9" name="授权检索候选表">
            <a:extLst xmlns:a="http://schemas.openxmlformats.org/drawingml/2006/main">
              <a:ext uri="{FF2B5EF4-FFF2-40B4-BE49-F238E27FC236}">
                <a16:creationId xmlns:a16="http://schemas.microsoft.com/office/drawing/2014/main" id="{6FB5182D-AE53-4410-9805-90A2C71D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授权检索候选表</a:t>
            </a:r>
          </a:p>
        </p:txBody>
      </p:sp>
      <p:sp>
        <p:nvSpPr>
          <p:cNvPr id="10" name="发布并执行回归">
            <a:extLst xmlns:a="http://schemas.openxmlformats.org/drawingml/2006/main">
              <a:ext uri="{FF2B5EF4-FFF2-40B4-BE49-F238E27FC236}">
                <a16:creationId xmlns:a16="http://schemas.microsoft.com/office/drawing/2014/main" id="{023FF5AE-B2D0-40E9-A4E2-A2355BA6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发布并执行回归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EE78E-FF5D-4B8C-8FDC-3496858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B1047-6209-4D87-855B-E921AA53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table_id、domain、owner、metric_id、grain、join_rule、schema_version、approved_view。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2F50F-3622-4759-B17C-0DF94EB2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58A31-2D26-4E2A-AC4C-0070752D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代表性问题能选中正确的数据域和表。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E3C4A-ED73-49D4-A8E7-5335799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同义词、时间和单位按发布定义解释。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1058E-E1DA-43D0-B72C-6ADFF7E3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汇总与明细的统计粒度可解释，结构变化能发现。</a:t>
            </a:r>
          </a:p>
        </p:txBody>
      </p:sp>
    </p:spTree>
    <p:extLst>
      <p:ext uri="{BB962C8B-B14F-4D97-AF65-F5344CB8AC3E}">
        <p14:creationId xmlns:p14="http://schemas.microsoft.com/office/powerpoint/2010/main" val="190951789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BAE27-1593-4263-B92B-1659FDEE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M04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84A1E-F4EC-4A12-BA46-7A5FDD1E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数据处理与质量管理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25123-4F37-4944-9DA5-EF2A5DF7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9E910-8ED6-4B8A-B168-1E19C913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S05 · S06 · S17</a:t>
            </a:r>
          </a:p>
        </p:txBody>
      </p:sp>
      <p:sp>
        <p:nvSpPr>
          <p:cNvPr id="5" name="选择解析与规则">
            <a:extLst xmlns:a="http://schemas.openxmlformats.org/drawingml/2006/main">
              <a:ext uri="{FF2B5EF4-FFF2-40B4-BE49-F238E27FC236}">
                <a16:creationId xmlns:a16="http://schemas.microsoft.com/office/drawing/2014/main" id="{A521578A-9175-4E2E-B0C2-B5136CEC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选择解析与规则</a:t>
            </a:r>
          </a:p>
        </p:txBody>
      </p:sp>
      <p:sp>
        <p:nvSpPr>
          <p:cNvPr id="6" name="提取结构与位置">
            <a:extLst xmlns:a="http://schemas.openxmlformats.org/drawingml/2006/main">
              <a:ext uri="{FF2B5EF4-FFF2-40B4-BE49-F238E27FC236}">
                <a16:creationId xmlns:a16="http://schemas.microsoft.com/office/drawing/2014/main" id="{8BB5907C-79D6-49DD-9CA8-D998C374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提取结构与位置</a:t>
            </a:r>
          </a:p>
        </p:txBody>
      </p:sp>
      <p:sp>
        <p:nvSpPr>
          <p:cNvPr id="7" name="标准化字段单位">
            <a:extLst xmlns:a="http://schemas.openxmlformats.org/drawingml/2006/main">
              <a:ext uri="{FF2B5EF4-FFF2-40B4-BE49-F238E27FC236}">
                <a16:creationId xmlns:a16="http://schemas.microsoft.com/office/drawing/2014/main" id="{76B7B6D7-CCAC-4B89-AAD9-4E687929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标准化字段单位</a:t>
            </a:r>
          </a:p>
        </p:txBody>
      </p:sp>
      <p:sp>
        <p:nvSpPr>
          <p:cNvPr id="8" name="执行规则与关联">
            <a:extLst xmlns:a="http://schemas.openxmlformats.org/drawingml/2006/main">
              <a:ext uri="{FF2B5EF4-FFF2-40B4-BE49-F238E27FC236}">
                <a16:creationId xmlns:a16="http://schemas.microsoft.com/office/drawing/2014/main" id="{4F3373A1-8128-4961-868D-9C733BE5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执行规则与关联</a:t>
            </a:r>
          </a:p>
        </p:txBody>
      </p:sp>
      <p:sp>
        <p:nvSpPr>
          <p:cNvPr id="9" name="隔离异常并复核">
            <a:extLst xmlns:a="http://schemas.openxmlformats.org/drawingml/2006/main">
              <a:ext uri="{FF2B5EF4-FFF2-40B4-BE49-F238E27FC236}">
                <a16:creationId xmlns:a16="http://schemas.microsoft.com/office/drawing/2014/main" id="{CD66F4F7-7C06-4ED6-90E1-8543E081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隔离异常并复核</a:t>
            </a:r>
          </a:p>
        </p:txBody>
      </p:sp>
      <p:sp>
        <p:nvSpPr>
          <p:cNvPr id="10" name="发布可用版本">
            <a:extLst xmlns:a="http://schemas.openxmlformats.org/drawingml/2006/main">
              <a:ext uri="{FF2B5EF4-FFF2-40B4-BE49-F238E27FC236}">
                <a16:creationId xmlns:a16="http://schemas.microsoft.com/office/drawing/2014/main" id="{230C9D0B-BFF2-4BD8-A52F-121D2F3E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发布可用版本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B976F-E9D5-444D-9FE7-7295186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C0B77-8830-42A8-AFE8-79CDB8EB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parser_version、rule_version、page_no、table_ref、raw_value、normalized_value、confidence。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3617D-B670-4429-B556-37528655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58B6B-42BE-4D20-9188-35E8334D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解析结果保留正确页位置和表头条件。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A1EA88-ADD5-44A7-BFD2-89876C5F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转换过程可复现，关键抽取字段通过标注核对。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11596-C011-41C3-BC0B-995D228E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错误不被静默标成可用，修复后可重建索引。</a:t>
            </a:r>
          </a:p>
        </p:txBody>
      </p:sp>
    </p:spTree>
    <p:extLst>
      <p:ext uri="{BB962C8B-B14F-4D97-AF65-F5344CB8AC3E}">
        <p14:creationId xmlns:p14="http://schemas.microsoft.com/office/powerpoint/2010/main" val="19767356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CC2B1-4A48-4C8D-93B5-57929F3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M05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03435-4949-4407-97F9-33F337A8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自然语言统一查询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9FBAD-8191-481A-998A-18A43DB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DF08B-B4C4-4A28-9B74-5D8DE3A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S07 · S08 · S09 · S10 · S11</a:t>
            </a:r>
          </a:p>
        </p:txBody>
      </p:sp>
      <p:sp>
        <p:nvSpPr>
          <p:cNvPr id="5" name="认证与意图识别">
            <a:extLst xmlns:a="http://schemas.openxmlformats.org/drawingml/2006/main">
              <a:ext uri="{FF2B5EF4-FFF2-40B4-BE49-F238E27FC236}">
                <a16:creationId xmlns:a16="http://schemas.microsoft.com/office/drawing/2014/main" id="{2DDA2424-D3B7-4221-ABC1-65EC715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认证与意图识别</a:t>
            </a:r>
          </a:p>
        </p:txBody>
      </p:sp>
      <p:sp>
        <p:nvSpPr>
          <p:cNvPr id="6" name="选表 / 文档召回">
            <a:extLst xmlns:a="http://schemas.openxmlformats.org/drawingml/2006/main">
              <a:ext uri="{FF2B5EF4-FFF2-40B4-BE49-F238E27FC236}">
                <a16:creationId xmlns:a16="http://schemas.microsoft.com/office/drawing/2014/main" id="{02267C1E-E91E-4792-9E70-86C03EBB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选表 / 文档召回</a:t>
            </a:r>
          </a:p>
        </p:txBody>
      </p:sp>
      <p:sp>
        <p:nvSpPr>
          <p:cNvPr id="7" name="SQL 与权限校验">
            <a:extLst xmlns:a="http://schemas.openxmlformats.org/drawingml/2006/main">
              <a:ext uri="{FF2B5EF4-FFF2-40B4-BE49-F238E27FC236}">
                <a16:creationId xmlns:a16="http://schemas.microsoft.com/office/drawing/2014/main" id="{129F1B67-F0D8-4742-A80F-BAB8164E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SQL 与权限校验</a:t>
            </a:r>
          </a:p>
        </p:txBody>
      </p:sp>
      <p:sp>
        <p:nvSpPr>
          <p:cNvPr id="8" name="只读执行 / 重排">
            <a:extLst xmlns:a="http://schemas.openxmlformats.org/drawingml/2006/main">
              <a:ext uri="{FF2B5EF4-FFF2-40B4-BE49-F238E27FC236}">
                <a16:creationId xmlns:a16="http://schemas.microsoft.com/office/drawing/2014/main" id="{A9252FE8-61B4-4588-9162-6290F648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只读执行 / 重排</a:t>
            </a:r>
          </a:p>
        </p:txBody>
      </p:sp>
      <p:sp>
        <p:nvSpPr>
          <p:cNvPr id="9" name="结果对齐与摘要">
            <a:extLst xmlns:a="http://schemas.openxmlformats.org/drawingml/2006/main">
              <a:ext uri="{FF2B5EF4-FFF2-40B4-BE49-F238E27FC236}">
                <a16:creationId xmlns:a16="http://schemas.microsoft.com/office/drawing/2014/main" id="{E78B5B46-353E-40C0-8368-BAA9A56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结果对齐与摘要</a:t>
            </a:r>
          </a:p>
        </p:txBody>
      </p:sp>
      <p:sp>
        <p:nvSpPr>
          <p:cNvPr id="10" name="引用展示与反馈">
            <a:extLst xmlns:a="http://schemas.openxmlformats.org/drawingml/2006/main">
              <a:ext uri="{FF2B5EF4-FFF2-40B4-BE49-F238E27FC236}">
                <a16:creationId xmlns:a16="http://schemas.microsoft.com/office/drawing/2014/main" id="{0F4C3C9C-8602-4D3B-8619-577C79D3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引用展示与反馈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6FC88-D046-447C-8411-25B171F5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76A91-CE58-401F-9C9B-8660A0A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query_id、intent、schema_refs、sql_hash、evidence_refs、model_version、policy_version。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C1037-C616-4734-AD53-89E070F2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D1BD4D-D9EB-4527-B0B8-82D4C5B9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SQL 正确性用结果核对，不以执行成功替代。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E2ADB-A8B6-48FB-8910-11F60EBE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专业名、时间、批次和汇总口径正确。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DAF3D-7B7D-4396-9C85-BFF7FA38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越权/无证据/冲突/空结果均有明确行为。</a:t>
            </a:r>
          </a:p>
        </p:txBody>
      </p:sp>
    </p:spTree>
    <p:extLst>
      <p:ext uri="{BB962C8B-B14F-4D97-AF65-F5344CB8AC3E}">
        <p14:creationId xmlns:p14="http://schemas.microsoft.com/office/powerpoint/2010/main" val="51790290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AA906-1ECA-432E-90C3-6ED98F3C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M06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2EB0F-F398-42BE-ADC8-9A035773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专家经验与知识管理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9DB0C-61FF-43AD-9DC7-0CD8A824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95371-FA77-4DBD-ACB1-0D61D67F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S12 · S01</a:t>
            </a:r>
          </a:p>
        </p:txBody>
      </p:sp>
      <p:sp>
        <p:nvSpPr>
          <p:cNvPr id="5" name="访谈或反馈采集">
            <a:extLst xmlns:a="http://schemas.openxmlformats.org/drawingml/2006/main">
              <a:ext uri="{FF2B5EF4-FFF2-40B4-BE49-F238E27FC236}">
                <a16:creationId xmlns:a16="http://schemas.microsoft.com/office/drawing/2014/main" id="{9FA1EEAC-D998-4F0C-AAEB-90714A69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访谈或反馈采集</a:t>
            </a:r>
          </a:p>
        </p:txBody>
      </p:sp>
      <p:sp>
        <p:nvSpPr>
          <p:cNvPr id="6" name="生成经验候选">
            <a:extLst xmlns:a="http://schemas.openxmlformats.org/drawingml/2006/main">
              <a:ext uri="{FF2B5EF4-FFF2-40B4-BE49-F238E27FC236}">
                <a16:creationId xmlns:a16="http://schemas.microsoft.com/office/drawing/2014/main" id="{AE0E3692-3A68-4B18-99CE-EBB1DF9D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生成经验候选</a:t>
            </a:r>
          </a:p>
        </p:txBody>
      </p:sp>
      <p:sp>
        <p:nvSpPr>
          <p:cNvPr id="7" name="关联证据与反例">
            <a:extLst xmlns:a="http://schemas.openxmlformats.org/drawingml/2006/main">
              <a:ext uri="{FF2B5EF4-FFF2-40B4-BE49-F238E27FC236}">
                <a16:creationId xmlns:a16="http://schemas.microsoft.com/office/drawing/2014/main" id="{ED743F53-412F-4285-9A96-D8020606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关联证据与反例</a:t>
            </a:r>
          </a:p>
        </p:txBody>
      </p:sp>
      <p:sp>
        <p:nvSpPr>
          <p:cNvPr id="8" name="专家复核与修订">
            <a:extLst xmlns:a="http://schemas.openxmlformats.org/drawingml/2006/main">
              <a:ext uri="{FF2B5EF4-FFF2-40B4-BE49-F238E27FC236}">
                <a16:creationId xmlns:a16="http://schemas.microsoft.com/office/drawing/2014/main" id="{752B6D66-0601-4992-B3C2-1E53ADA0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专家复核与修订</a:t>
            </a:r>
          </a:p>
        </p:txBody>
      </p:sp>
      <p:sp>
        <p:nvSpPr>
          <p:cNvPr id="9" name="发布授权经验">
            <a:extLst xmlns:a="http://schemas.openxmlformats.org/drawingml/2006/main">
              <a:ext uri="{FF2B5EF4-FFF2-40B4-BE49-F238E27FC236}">
                <a16:creationId xmlns:a16="http://schemas.microsoft.com/office/drawing/2014/main" id="{A783D33A-1CCF-4DFC-ACDB-02D82EB8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发布授权经验</a:t>
            </a:r>
          </a:p>
        </p:txBody>
      </p:sp>
      <p:sp>
        <p:nvSpPr>
          <p:cNvPr id="10" name="使用反馈和再复核">
            <a:extLst xmlns:a="http://schemas.openxmlformats.org/drawingml/2006/main">
              <a:ext uri="{FF2B5EF4-FFF2-40B4-BE49-F238E27FC236}">
                <a16:creationId xmlns:a16="http://schemas.microsoft.com/office/drawing/2014/main" id="{775210C2-CCCD-4AA5-ABC9-513A4939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使用反馈和再复核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4D1AB-615C-4784-9065-332A25AD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CF209-B9E5-429C-9EB5-AFC4CB06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experience_id、applies_when、evidence_type、source_refs、reviewer、status、supersedes。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19F20-55E5-4D4F-A11D-B10F026A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6BA8-F007-4C9E-B080-D622CB94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每条批准经验有来源和适用条件。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328A3A-3D2E-48C0-9C19-3285661B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冲突意见能找到各自证据，不被静默覆盖。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5930C-2CFB-4543-86BD-EA2E2461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过期经验能撤回，历史引用仍能定位版本。</a:t>
            </a:r>
          </a:p>
        </p:txBody>
      </p:sp>
    </p:spTree>
    <p:extLst>
      <p:ext uri="{BB962C8B-B14F-4D97-AF65-F5344CB8AC3E}">
        <p14:creationId xmlns:p14="http://schemas.microsoft.com/office/powerpoint/2010/main" val="168482486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F2ACC-2355-45C2-A843-F2836335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M07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45527-8571-4BFD-9FDF-8EADD657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Benchmark 与反馈评测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CCA7F-EB80-4F98-9036-998128E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21ADD-921E-4EE2-9276-D8A0E430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S13 · S14</a:t>
            </a:r>
          </a:p>
        </p:txBody>
      </p:sp>
      <p:sp>
        <p:nvSpPr>
          <p:cNvPr id="5" name="真实任务采样">
            <a:extLst xmlns:a="http://schemas.openxmlformats.org/drawingml/2006/main">
              <a:ext uri="{FF2B5EF4-FFF2-40B4-BE49-F238E27FC236}">
                <a16:creationId xmlns:a16="http://schemas.microsoft.com/office/drawing/2014/main" id="{86F2CF5B-CF90-4413-ACC6-5C78BA80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真实任务采样</a:t>
            </a:r>
          </a:p>
        </p:txBody>
      </p:sp>
      <p:sp>
        <p:nvSpPr>
          <p:cNvPr id="6" name="专家标注与校准">
            <a:extLst xmlns:a="http://schemas.openxmlformats.org/drawingml/2006/main">
              <a:ext uri="{FF2B5EF4-FFF2-40B4-BE49-F238E27FC236}">
                <a16:creationId xmlns:a16="http://schemas.microsoft.com/office/drawing/2014/main" id="{63DCB872-ED26-42B5-8D4C-ABB6C1C4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专家标注与校准</a:t>
            </a:r>
          </a:p>
        </p:txBody>
      </p:sp>
      <p:sp>
        <p:nvSpPr>
          <p:cNvPr id="7" name="冻结集合和快照">
            <a:extLst xmlns:a="http://schemas.openxmlformats.org/drawingml/2006/main">
              <a:ext uri="{FF2B5EF4-FFF2-40B4-BE49-F238E27FC236}">
                <a16:creationId xmlns:a16="http://schemas.microsoft.com/office/drawing/2014/main" id="{E4A5F375-B4A7-43CA-AAC2-23070A0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冻结集合和快照</a:t>
            </a:r>
          </a:p>
        </p:txBody>
      </p:sp>
      <p:sp>
        <p:nvSpPr>
          <p:cNvPr id="8" name="运行候选与基线">
            <a:extLst xmlns:a="http://schemas.openxmlformats.org/drawingml/2006/main">
              <a:ext uri="{FF2B5EF4-FFF2-40B4-BE49-F238E27FC236}">
                <a16:creationId xmlns:a16="http://schemas.microsoft.com/office/drawing/2014/main" id="{2FFB90F9-55C2-49E2-8765-719C0D82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运行候选与基线</a:t>
            </a:r>
          </a:p>
        </p:txBody>
      </p:sp>
      <p:sp>
        <p:nvSpPr>
          <p:cNvPr id="9" name="逐题评分和归因">
            <a:extLst xmlns:a="http://schemas.openxmlformats.org/drawingml/2006/main">
              <a:ext uri="{FF2B5EF4-FFF2-40B4-BE49-F238E27FC236}">
                <a16:creationId xmlns:a16="http://schemas.microsoft.com/office/drawing/2014/main" id="{468FED53-6D3D-435A-A866-D66B2E8F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逐题评分和归因</a:t>
            </a:r>
          </a:p>
        </p:txBody>
      </p:sp>
      <p:sp>
        <p:nvSpPr>
          <p:cNvPr id="10" name="批准发布或修订">
            <a:extLst xmlns:a="http://schemas.openxmlformats.org/drawingml/2006/main">
              <a:ext uri="{FF2B5EF4-FFF2-40B4-BE49-F238E27FC236}">
                <a16:creationId xmlns:a16="http://schemas.microsoft.com/office/drawing/2014/main" id="{BF521F2D-0BFB-49E6-B2EE-027DE02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批准发布或修订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EA345-7480-4A9E-AB43-4DADA54E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36040-2AEE-4DCE-B61F-C43F89A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case_id、dataset_snapshot、expected_result、rubric_version、run_id、score_dimensions。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2E35B-E60F-4EEF-8987-79CED49F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94CB4-E272-4FD7-88DC-8BBB7A17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测试答案不能通过在线检索获得。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CE393-9BB0-4AFD-99CD-AD9FD9D3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逐题结果能回放到当时版本，失败有分型。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27F67-1FB8-4D58-B338-ECC4C4B9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新版本比较覆盖旧能力，评分不只保留总分。</a:t>
            </a:r>
          </a:p>
        </p:txBody>
      </p:sp>
    </p:spTree>
    <p:extLst>
      <p:ext uri="{BB962C8B-B14F-4D97-AF65-F5344CB8AC3E}">
        <p14:creationId xmlns:p14="http://schemas.microsoft.com/office/powerpoint/2010/main" val="20896645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ABFB0-060A-4D77-8A9F-DE1C293F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M08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0E989-5193-4B35-84BD-264ACA86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身份权限与审计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E60CA-4BDE-4BB5-AB63-D1D0CE83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4993A-32F8-48CA-B893-5B4FD4C8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S15 · S09 · S16</a:t>
            </a:r>
          </a:p>
        </p:txBody>
      </p:sp>
      <p:sp>
        <p:nvSpPr>
          <p:cNvPr id="5" name="认证用户 / 服务">
            <a:extLst xmlns:a="http://schemas.openxmlformats.org/drawingml/2006/main">
              <a:ext uri="{FF2B5EF4-FFF2-40B4-BE49-F238E27FC236}">
                <a16:creationId xmlns:a16="http://schemas.microsoft.com/office/drawing/2014/main" id="{65BEE078-16AB-4CC4-B813-BFBDD04C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认证用户 / 服务</a:t>
            </a:r>
          </a:p>
        </p:txBody>
      </p:sp>
      <p:sp>
        <p:nvSpPr>
          <p:cNvPr id="6" name="加载角色与项目">
            <a:extLst xmlns:a="http://schemas.openxmlformats.org/drawingml/2006/main">
              <a:ext uri="{FF2B5EF4-FFF2-40B4-BE49-F238E27FC236}">
                <a16:creationId xmlns:a16="http://schemas.microsoft.com/office/drawing/2014/main" id="{486CDB74-C509-46DE-BBBE-1124E5D1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加载角色与项目</a:t>
            </a:r>
          </a:p>
        </p:txBody>
      </p:sp>
      <p:sp>
        <p:nvSpPr>
          <p:cNvPr id="7" name="判定资源及动作">
            <a:extLst xmlns:a="http://schemas.openxmlformats.org/drawingml/2006/main">
              <a:ext uri="{FF2B5EF4-FFF2-40B4-BE49-F238E27FC236}">
                <a16:creationId xmlns:a16="http://schemas.microsoft.com/office/drawing/2014/main" id="{213144A6-A68E-4C32-A37A-6D460EC6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判定资源及动作</a:t>
            </a:r>
          </a:p>
        </p:txBody>
      </p:sp>
      <p:sp>
        <p:nvSpPr>
          <p:cNvPr id="8" name="执行受限操作">
            <a:extLst xmlns:a="http://schemas.openxmlformats.org/drawingml/2006/main">
              <a:ext uri="{FF2B5EF4-FFF2-40B4-BE49-F238E27FC236}">
                <a16:creationId xmlns:a16="http://schemas.microsoft.com/office/drawing/2014/main" id="{24E15944-5946-4A45-BBBB-2A2EC27F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执行受限操作</a:t>
            </a:r>
          </a:p>
        </p:txBody>
      </p:sp>
      <p:sp>
        <p:nvSpPr>
          <p:cNvPr id="9" name="返回前再检查">
            <a:extLst xmlns:a="http://schemas.openxmlformats.org/drawingml/2006/main">
              <a:ext uri="{FF2B5EF4-FFF2-40B4-BE49-F238E27FC236}">
                <a16:creationId xmlns:a16="http://schemas.microsoft.com/office/drawing/2014/main" id="{4ECBEDFC-FD30-4D2E-BEA8-2554B647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返回前再检查</a:t>
            </a:r>
          </a:p>
        </p:txBody>
      </p:sp>
      <p:sp>
        <p:nvSpPr>
          <p:cNvPr id="10" name="审计与撤回同步">
            <a:extLst xmlns:a="http://schemas.openxmlformats.org/drawingml/2006/main">
              <a:ext uri="{FF2B5EF4-FFF2-40B4-BE49-F238E27FC236}">
                <a16:creationId xmlns:a16="http://schemas.microsoft.com/office/drawing/2014/main" id="{7D2D959F-C627-461D-A22B-61D7CB06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审计与撤回同步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E6C17-5B63-4B10-8CC9-8053D816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08878-9076-42B9-8142-7BA24F22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principal_id、role、project_scope、asset_scope、action、policy_version、decision_id。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D8712-A646-4339-9D74-B561E691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979C6-F63E-45F0-A8F8-2032F338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越权查询、原件下载、写入和缓存读取均拒绝。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6140D-108A-49CE-8A09-6AC3B553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停用/撤回后在约定时限内生效。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EC9DAD-F63E-48E4-8CC3-039606C6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每次关键操作能追查身份、资产与策略依据。</a:t>
            </a:r>
          </a:p>
        </p:txBody>
      </p:sp>
    </p:spTree>
    <p:extLst>
      <p:ext uri="{BB962C8B-B14F-4D97-AF65-F5344CB8AC3E}">
        <p14:creationId xmlns:p14="http://schemas.microsoft.com/office/powerpoint/2010/main" val="8178379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05D5B-0AD8-4705-A96A-15B003AC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M09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A0E58-EA72-4642-98D5-509ABF93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数据服务与 Agent 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FC582-0A49-48B2-85E2-7B7D4E24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F6403-24AB-4F13-88E1-F97B409C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S16 · S07</a:t>
            </a:r>
          </a:p>
        </p:txBody>
      </p:sp>
      <p:sp>
        <p:nvSpPr>
          <p:cNvPr id="5" name="业务请求进入网关">
            <a:extLst xmlns:a="http://schemas.openxmlformats.org/drawingml/2006/main">
              <a:ext uri="{FF2B5EF4-FFF2-40B4-BE49-F238E27FC236}">
                <a16:creationId xmlns:a16="http://schemas.microsoft.com/office/drawing/2014/main" id="{8CA932A6-E76A-4773-A517-E9D00992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业务请求进入网关</a:t>
            </a:r>
          </a:p>
        </p:txBody>
      </p:sp>
      <p:sp>
        <p:nvSpPr>
          <p:cNvPr id="6" name="身份与契约校验">
            <a:extLst xmlns:a="http://schemas.openxmlformats.org/drawingml/2006/main">
              <a:ext uri="{FF2B5EF4-FFF2-40B4-BE49-F238E27FC236}">
                <a16:creationId xmlns:a16="http://schemas.microsoft.com/office/drawing/2014/main" id="{C2A39D82-AC0A-486A-97E2-2D01DF51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身份与契约校验</a:t>
            </a:r>
          </a:p>
        </p:txBody>
      </p:sp>
      <p:sp>
        <p:nvSpPr>
          <p:cNvPr id="7" name="调用读 / 写服务">
            <a:extLst xmlns:a="http://schemas.openxmlformats.org/drawingml/2006/main">
              <a:ext uri="{FF2B5EF4-FFF2-40B4-BE49-F238E27FC236}">
                <a16:creationId xmlns:a16="http://schemas.microsoft.com/office/drawing/2014/main" id="{138328C8-5DE2-4C2F-9985-73FE1CE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调用读 / 写服务</a:t>
            </a:r>
          </a:p>
        </p:txBody>
      </p:sp>
      <p:sp>
        <p:nvSpPr>
          <p:cNvPr id="8" name="适配存储和模型">
            <a:extLst xmlns:a="http://schemas.openxmlformats.org/drawingml/2006/main">
              <a:ext uri="{FF2B5EF4-FFF2-40B4-BE49-F238E27FC236}">
                <a16:creationId xmlns:a16="http://schemas.microsoft.com/office/drawing/2014/main" id="{B8C307E0-8C9D-4A63-98F7-25754FB8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适配存储和模型</a:t>
            </a:r>
          </a:p>
        </p:txBody>
      </p:sp>
      <p:sp>
        <p:nvSpPr>
          <p:cNvPr id="9" name="返回标准结果状态">
            <a:extLst xmlns:a="http://schemas.openxmlformats.org/drawingml/2006/main">
              <a:ext uri="{FF2B5EF4-FFF2-40B4-BE49-F238E27FC236}">
                <a16:creationId xmlns:a16="http://schemas.microsoft.com/office/drawing/2014/main" id="{4DB177F8-9A41-4018-A8BB-95E29FAB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返回标准结果状态</a:t>
            </a:r>
          </a:p>
        </p:txBody>
      </p:sp>
      <p:sp>
        <p:nvSpPr>
          <p:cNvPr id="10" name="关联 Trace 与反馈">
            <a:extLst xmlns:a="http://schemas.openxmlformats.org/drawingml/2006/main">
              <a:ext uri="{FF2B5EF4-FFF2-40B4-BE49-F238E27FC236}">
                <a16:creationId xmlns:a16="http://schemas.microsoft.com/office/drawing/2014/main" id="{D3A37B2F-22DC-44A3-842F-1A6AF297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关联 Trace 与反馈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14D70-BA30-4959-BBE3-923F798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66C3A-104B-49CB-A2C5-50848596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request_id、principal、project、tool_version、input_schema、job_id、error_code、trace_id。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FC343-2C7F-43AC-83EF-457027C1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B1BE3-7CF5-432A-968A-2969F565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页面和 Agent 对同一业务规则得到一致结果。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3A876-0843-4DDD-9CF9-B18D8E13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读工具无法通过注入转成写操作。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4890E-EF12-46A5-94DC-7247E335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失败可定位、重试不重复、接口变更有兼容验证。</a:t>
            </a:r>
          </a:p>
        </p:txBody>
      </p:sp>
    </p:spTree>
    <p:extLst>
      <p:ext uri="{BB962C8B-B14F-4D97-AF65-F5344CB8AC3E}">
        <p14:creationId xmlns:p14="http://schemas.microsoft.com/office/powerpoint/2010/main" val="13772839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FC9EB-4AED-4DE8-882F-FBA5DFA5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M10 附录｜数据流与验收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A11CE-AC85-4DBD-AC4C-DD6AD7B9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平台运维与资产版本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ADC25-8FDD-4480-8E37-8522B102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27B02-D17F-4A6D-8915-0ECB913A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S17 · S18 · S14 · S13 · S22</a:t>
            </a:r>
          </a:p>
        </p:txBody>
      </p:sp>
      <p:sp>
        <p:nvSpPr>
          <p:cNvPr id="5" name="任务排队与执行">
            <a:extLst xmlns:a="http://schemas.openxmlformats.org/drawingml/2006/main">
              <a:ext uri="{FF2B5EF4-FFF2-40B4-BE49-F238E27FC236}">
                <a16:creationId xmlns:a16="http://schemas.microsoft.com/office/drawing/2014/main" id="{9ADDDBCF-B5EF-451C-AFAD-EB023FE6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任务排队与执行</a:t>
            </a:r>
          </a:p>
        </p:txBody>
      </p:sp>
      <p:sp>
        <p:nvSpPr>
          <p:cNvPr id="6" name="关联输入输出版本">
            <a:extLst xmlns:a="http://schemas.openxmlformats.org/drawingml/2006/main">
              <a:ext uri="{FF2B5EF4-FFF2-40B4-BE49-F238E27FC236}">
                <a16:creationId xmlns:a16="http://schemas.microsoft.com/office/drawing/2014/main" id="{1C21D5E5-63DF-44EA-8709-9BF7E72A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关联输入输出版本</a:t>
            </a:r>
          </a:p>
        </p:txBody>
      </p:sp>
      <p:sp>
        <p:nvSpPr>
          <p:cNvPr id="7" name="采集指标与错误">
            <a:extLst xmlns:a="http://schemas.openxmlformats.org/drawingml/2006/main">
              <a:ext uri="{FF2B5EF4-FFF2-40B4-BE49-F238E27FC236}">
                <a16:creationId xmlns:a16="http://schemas.microsoft.com/office/drawing/2014/main" id="{C4CFF36D-497B-4889-AF41-35AD8A84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采集指标与错误</a:t>
            </a:r>
          </a:p>
        </p:txBody>
      </p:sp>
      <p:sp>
        <p:nvSpPr>
          <p:cNvPr id="8" name="评测与发布确认">
            <a:extLst xmlns:a="http://schemas.openxmlformats.org/drawingml/2006/main">
              <a:ext uri="{FF2B5EF4-FFF2-40B4-BE49-F238E27FC236}">
                <a16:creationId xmlns:a16="http://schemas.microsoft.com/office/drawing/2014/main" id="{752A557B-0604-44E2-A877-D61A9C01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评测与发布确认</a:t>
            </a:r>
          </a:p>
        </p:txBody>
      </p:sp>
      <p:sp>
        <p:nvSpPr>
          <p:cNvPr id="9" name="备份 / 失败恢复">
            <a:extLst xmlns:a="http://schemas.openxmlformats.org/drawingml/2006/main">
              <a:ext uri="{FF2B5EF4-FFF2-40B4-BE49-F238E27FC236}">
                <a16:creationId xmlns:a16="http://schemas.microsoft.com/office/drawing/2014/main" id="{F2FFFC3F-4712-4E1C-BAC3-734EF4F0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备份 / 失败恢复</a:t>
            </a:r>
          </a:p>
        </p:txBody>
      </p:sp>
      <p:sp>
        <p:nvSpPr>
          <p:cNvPr id="10" name="反馈和容量分析">
            <a:extLst xmlns:a="http://schemas.openxmlformats.org/drawingml/2006/main">
              <a:ext uri="{FF2B5EF4-FFF2-40B4-BE49-F238E27FC236}">
                <a16:creationId xmlns:a16="http://schemas.microsoft.com/office/drawing/2014/main" id="{E81F9601-FBAF-4F78-A75F-35496FE3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095500"/>
            <a:ext cx="21907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31E"/>
          </a:solidFill>
          <a:ln xmlns:a="http://schemas.openxmlformats.org/drawingml/2006/main" w="14288">
            <a:solidFill>
              <a:srgbClr val="75F09A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反馈和容量分析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90600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2287250" y="26289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F09A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1EEC5-D726-47DF-BD93-7FFBA96A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关键记录字段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D002B-0813-4FAC-B2CD-C0EE4AB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409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job_id、run_id、version_manifest、input_asset_refs、output_refs、release_id、rollback_ref。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26DFB7-0EB2-4E80-85E1-F1696932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5F09A"/>
                </a:solidFill>
                <a:latin typeface="Microsoft YaHei"/>
                <a:ea typeface="Microsoft YaHei"/>
                <a:cs typeface="Microsoft YaHei"/>
              </a:rPr>
              <a:t>验收场景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12C2F-8CFA-4A49-8509-9940A5CC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1. 失败重跑可恢复且不重复产出有效资产。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42D59-3521-4F94-B388-CAA4DECC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437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2. 查询能还原当时的数据与配置版本。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15123-9C8D-48D7-9B17-33CF8C2B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3. 备份恢复、权限恢复和索引重建都经过演练。</a:t>
            </a:r>
          </a:p>
        </p:txBody>
      </p:sp>
    </p:spTree>
    <p:extLst>
      <p:ext uri="{BB962C8B-B14F-4D97-AF65-F5344CB8AC3E}">
        <p14:creationId xmlns:p14="http://schemas.microsoft.com/office/powerpoint/2010/main" val="170643244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B2B9C-6DBE-476C-B928-F395DC71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附录｜官方资料与适用范围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D945A-0640-45FE-9868-8010A605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访问日期 2026-10-03；完整链接及引用范围见备注和配套报告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69DAA-84C9-40E6-B8BA-90C6428A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22EFA-F35F-4444-9A04-CFC5AEFF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来源见本页表格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9001125"/>
              </a:tblGrid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编号与来源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支持的能力 / 使用边界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S01 NOMAD ELN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科学数据 Schema、ELN 与外部 ELN 对接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S02 S3 Versioning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对象多版本与删除标记，作为接口能力参考，不推荐云端部署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S03 OpenMetadata Data Contracts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Schema、质量和语义契约，产品集成需核查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S04 dbt Semantic Layer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统一指标和关联语义的参考，非直接兼容承诺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S05 DoclingDocument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统一文档表示与来源位置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S06 Great Expectations Checkpoints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数据验证和结果驱动动作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S07 SQLGlot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 解析和 AST 分析，需自行实现授权与语义检查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S08 OpenSearch Hybrid Search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全文与语义检索融合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S09 OpenSearch DLS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文档读权限，写操作仍需要独立授权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S10 Qdrant Hybrid Queries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向量/稀疏检索融合与查询组合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S11 pgvector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PostgreSQL 向量扩展，非 MySQL/OceanBase 插件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27879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9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36A18-CC0E-4CB2-8E33-C2ADB64F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409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ECF6EF"/>
                </a:solidFill>
                <a:latin typeface="Microsoft YaHei"/>
                <a:ea typeface="Microsoft YaHei"/>
                <a:cs typeface="Microsoft YaHei"/>
              </a:rPr>
              <a:t>附录｜官方资料与适用范围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94DEF-0E80-46F4-816C-C0D96A1A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访问日期 2026-10-03；完整链接及引用范围见备注和配套报告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E1FB3-40BE-49FF-9620-1C1B0DA1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RSI 数据平台  /  架构决策材料  /  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A2003-36D2-4A0A-AA52-CA978A67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72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2C8BC"/>
                </a:solidFill>
                <a:latin typeface="Microsoft YaHei"/>
                <a:ea typeface="Microsoft YaHei"/>
                <a:cs typeface="Microsoft YaHei"/>
              </a:rPr>
              <a:t>来源见本页表格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57375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9001125"/>
              </a:tblGrid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编号与来源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75F09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支持的能力 / 使用边界</a:t>
                      </a:r>
                    </a:p>
                  </a:txBody>
                  <a:tcPr marL="142875" marR="142875" marT="114300" marB="114300" anchor="ctr">
                    <a:solidFill>
                      <a:srgbClr val="1D4731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S12 Reflexion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反馈与情景记忆研究，未证明材料研发收益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S13 MLflow Evaluation Datasets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评测数据集与运行记录关联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S14 Langfuse Self-hosting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本轮官方页面显示 v4，自托管涉及 Postgres、ClickHouse、Redis/Valkey、对象存储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S15 Keycloak AD / LDAP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身份联邦候选，现有 SSO 可用时无需新增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S16 MCP Tools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工具发现和调用契约，不代替业务授权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S17 OpenLineage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Job、Run、Dataset 与输入输出关系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S18 Airflow Architecture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DAG 调度与任务执行分工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S19 DGM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代码候选、档案与编码 benchmark 的实证验证研究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S20 AiiDA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科学计算自动化及数据来源追踪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S21 AIMD-L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事件数据关联样品生命周期</a:t>
                      </a:r>
                    </a:p>
                  </a:txBody>
                  <a:tcPr marL="142875" marR="142875" marT="114300" marB="114300" anchor="ctr">
                    <a:solidFill>
                      <a:srgbClr val="091412"/>
                    </a:solidFill>
                  </a:tcPr>
                </a:tc>
              </a:tr>
              <a:tr h="492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S22 OpenTelemetry Semantic Conventions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ECF6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统一遥测属性，GenAI 字段需锁定实际采用版本</a:t>
                      </a:r>
                    </a:p>
                  </a:txBody>
                  <a:tcPr marL="142875" marR="142875" marT="114300" marB="114300" anchor="ctr">
                    <a:solidFill>
                      <a:srgbClr val="10231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403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2026-10-03T09:23:55.5220000Z</dcterms:created>
  <dcterms:modified xsi:type="dcterms:W3CDTF">2026-10-03T09:23:55.5220000Z</dcterms:modified>
</coreProperties>
</file>